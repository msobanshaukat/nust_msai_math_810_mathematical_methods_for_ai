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4" r:id="rId3"/>
    <p:sldId id="263" r:id="rId4"/>
    <p:sldId id="298" r:id="rId5"/>
    <p:sldId id="299" r:id="rId6"/>
    <p:sldId id="362" r:id="rId7"/>
    <p:sldId id="300" r:id="rId8"/>
    <p:sldId id="363" r:id="rId9"/>
    <p:sldId id="365" r:id="rId10"/>
    <p:sldId id="366" r:id="rId11"/>
    <p:sldId id="367" r:id="rId12"/>
    <p:sldId id="368" r:id="rId13"/>
    <p:sldId id="369" r:id="rId14"/>
    <p:sldId id="370" r:id="rId15"/>
    <p:sldId id="371" r:id="rId16"/>
    <p:sldId id="372" r:id="rId17"/>
    <p:sldId id="373" r:id="rId18"/>
    <p:sldId id="301" r:id="rId19"/>
    <p:sldId id="374" r:id="rId20"/>
    <p:sldId id="302" r:id="rId21"/>
    <p:sldId id="375" r:id="rId22"/>
    <p:sldId id="303" r:id="rId23"/>
    <p:sldId id="304" r:id="rId24"/>
    <p:sldId id="305" r:id="rId25"/>
    <p:sldId id="306" r:id="rId26"/>
    <p:sldId id="307" r:id="rId27"/>
    <p:sldId id="379" r:id="rId28"/>
    <p:sldId id="381" r:id="rId29"/>
    <p:sldId id="380" r:id="rId30"/>
    <p:sldId id="382" r:id="rId31"/>
    <p:sldId id="383" r:id="rId32"/>
    <p:sldId id="384" r:id="rId33"/>
    <p:sldId id="385" r:id="rId34"/>
    <p:sldId id="386" r:id="rId35"/>
    <p:sldId id="308" r:id="rId36"/>
    <p:sldId id="376" r:id="rId37"/>
    <p:sldId id="312" r:id="rId38"/>
    <p:sldId id="309" r:id="rId39"/>
    <p:sldId id="378" r:id="rId40"/>
    <p:sldId id="311" r:id="rId41"/>
    <p:sldId id="37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Game Playing state of the art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>
        <a:solidFill>
          <a:schemeClr val="accent1"/>
        </a:solidFill>
      </dgm:spPr>
      <dgm:t>
        <a:bodyPr/>
        <a:lstStyle/>
        <a:p>
          <a:r>
            <a:rPr lang="en-MY" dirty="0"/>
            <a:t>Agents Getting along with Other Agents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0BCD7933-B759-4BB3-8FB0-6E6358EC1160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8B4BBB23-3B8A-474A-9915-486FAC5CD8EF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3490550-8ADD-4F10-91A3-96A2D3FC19C1}" type="presOf" srcId="{E4486CAB-E34A-4187-8DDB-1BB931FFE076}" destId="{8B4BBB23-3B8A-474A-9915-486FAC5CD8EF}" srcOrd="0" destOrd="0" presId="urn:microsoft.com/office/officeart/2005/8/layout/vList2"/>
    <dgm:cxn modelId="{9F4801C3-DD59-4250-98F3-168B32A27C1E}" type="presOf" srcId="{031E71C0-3436-4535-A25F-77F17F1B27A2}" destId="{0BCD7933-B759-4BB3-8FB0-6E6358EC1160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7901100C-43EA-4939-94E1-1AED5EC91221}" type="presParOf" srcId="{0BCD7933-B759-4BB3-8FB0-6E6358EC1160}" destId="{8B4BBB23-3B8A-474A-9915-486FAC5CD8E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Agents Getting Along with Humans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54A99D5-06E2-4F2B-8E38-45297B84B08C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DBBB0BDC-E532-471F-B513-EA09981AE4AE}" type="presOf" srcId="{031E71C0-3436-4535-A25F-77F17F1B27A2}" destId="{1F13C5FA-C02D-4336-8E25-93ADF6DA17C4}" srcOrd="0" destOrd="0" presId="urn:microsoft.com/office/officeart/2005/8/layout/vList2"/>
    <dgm:cxn modelId="{6CC81BD7-0A3A-4985-AD42-E5F12F08418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Adversarial Games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Types of Games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Deterministic Games with Terminal Utilities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Types of Games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Adversarial Search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News: Cost -&gt; Utility!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Single Agent Trees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Value of a State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Adversarial Game Trees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Min Max Values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Tic-Tac-Toe Game Tree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Adversarial Search (Minmax)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Minimax Implementation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X="-1812" custLinFactNeighborY="-7856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Minimax Implementation (Dispatch)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 err="1"/>
            <a:t>MiniMax</a:t>
          </a:r>
          <a:r>
            <a:rPr lang="en-MY" dirty="0"/>
            <a:t> Example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Minimax Properties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 custLinFactNeighborY="242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 err="1"/>
            <a:t>MiniMax</a:t>
          </a:r>
          <a:r>
            <a:rPr lang="en-MY" dirty="0"/>
            <a:t> Efficiency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Resource limits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Game Tress Pruning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13E2B847-5CCB-4B5C-B9EC-F5844D2178C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20D98A61-7B4D-4FDE-A071-F7796924F403}" type="pres">
      <dgm:prSet presAssocID="{13E2B847-5CCB-4B5C-B9EC-F5844D2178C1}" presName="Name0" presStyleCnt="0">
        <dgm:presLayoutVars>
          <dgm:dir/>
          <dgm:resizeHandles val="exact"/>
        </dgm:presLayoutVars>
      </dgm:prSet>
      <dgm:spPr/>
    </dgm:pt>
  </dgm:ptLst>
  <dgm:cxnLst>
    <dgm:cxn modelId="{9A9EC38E-B703-490B-83DB-6A5292B44EB5}" type="presOf" srcId="{13E2B847-5CCB-4B5C-B9EC-F5844D2178C1}" destId="{20D98A61-7B4D-4FDE-A071-F7796924F403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E4486CAB-E34A-4187-8DDB-1BB931FFE076}">
      <dgm:prSet/>
      <dgm:spPr/>
      <dgm:t>
        <a:bodyPr/>
        <a:lstStyle/>
        <a:p>
          <a:r>
            <a:rPr lang="en-MY" dirty="0"/>
            <a:t>Minimax Example</a:t>
          </a:r>
        </a:p>
      </dgm:t>
    </dgm:pt>
    <dgm:pt modelId="{ADE20ACD-48BA-43D7-B528-4BAC8184AAC2}" type="parTrans" cxnId="{8A8E2AD6-9CDA-41C6-AEF5-6526E3A4ABC8}">
      <dgm:prSet/>
      <dgm:spPr/>
      <dgm:t>
        <a:bodyPr/>
        <a:lstStyle/>
        <a:p>
          <a:endParaRPr lang="en-MY"/>
        </a:p>
      </dgm:t>
    </dgm:pt>
    <dgm:pt modelId="{2A29F850-A0F0-41AF-B9C2-72261BDA2364}" type="sibTrans" cxnId="{8A8E2AD6-9CDA-41C6-AEF5-6526E3A4ABC8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41FF8F78-6DD4-4ED1-97D8-F4C55EBE295C}" type="pres">
      <dgm:prSet presAssocID="{E4486CAB-E34A-4187-8DDB-1BB931FFE07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FD87EF51-0114-420C-95F0-FAEFC514EB22}" type="presOf" srcId="{E4486CAB-E34A-4187-8DDB-1BB931FFE076}" destId="{41FF8F78-6DD4-4ED1-97D8-F4C55EBE295C}" srcOrd="0" destOrd="0" presId="urn:microsoft.com/office/officeart/2005/8/layout/vList2"/>
    <dgm:cxn modelId="{8A8E2AD6-9CDA-41C6-AEF5-6526E3A4ABC8}" srcId="{031E71C0-3436-4535-A25F-77F17F1B27A2}" destId="{E4486CAB-E34A-4187-8DDB-1BB931FFE076}" srcOrd="0" destOrd="0" parTransId="{ADE20ACD-48BA-43D7-B528-4BAC8184AAC2}" sibTransId="{2A29F850-A0F0-41AF-B9C2-72261BDA2364}"/>
    <dgm:cxn modelId="{956D9602-C261-4D28-8250-A97EFFB35975}" type="presParOf" srcId="{1F13C5FA-C02D-4336-8E25-93ADF6DA17C4}" destId="{41FF8F78-6DD4-4ED1-97D8-F4C55EBE295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1C69F164-24BA-4D80-9313-46C300140887}">
      <dgm:prSet/>
      <dgm:spPr/>
      <dgm:t>
        <a:bodyPr/>
        <a:lstStyle/>
        <a:p>
          <a:r>
            <a:rPr lang="en-MY" b="0" i="0" dirty="0"/>
            <a:t>Alpha-Beta Pruning</a:t>
          </a:r>
        </a:p>
      </dgm:t>
    </dgm:pt>
    <dgm:pt modelId="{B5257C01-4833-4B06-9E79-29529FAD03BA}" type="parTrans" cxnId="{C26F967C-C538-49B0-A504-E693A87011F6}">
      <dgm:prSet/>
      <dgm:spPr/>
      <dgm:t>
        <a:bodyPr/>
        <a:lstStyle/>
        <a:p>
          <a:endParaRPr lang="en-MY"/>
        </a:p>
      </dgm:t>
    </dgm:pt>
    <dgm:pt modelId="{50E8882A-827D-4D00-BD90-A29FF9A6E25E}" type="sibTrans" cxnId="{C26F967C-C538-49B0-A504-E693A87011F6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3F83843E-5834-4AC8-9F69-9812491DA70E}" type="pres">
      <dgm:prSet presAssocID="{1C69F164-24BA-4D80-9313-46C30014088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C26F967C-C538-49B0-A504-E693A87011F6}" srcId="{031E71C0-3436-4535-A25F-77F17F1B27A2}" destId="{1C69F164-24BA-4D80-9313-46C300140887}" srcOrd="0" destOrd="0" parTransId="{B5257C01-4833-4B06-9E79-29529FAD03BA}" sibTransId="{50E8882A-827D-4D00-BD90-A29FF9A6E25E}"/>
    <dgm:cxn modelId="{8F1AF0C2-CF54-483C-8133-257E1BBDA195}" type="presOf" srcId="{1C69F164-24BA-4D80-9313-46C300140887}" destId="{3F83843E-5834-4AC8-9F69-9812491DA70E}" srcOrd="0" destOrd="0" presId="urn:microsoft.com/office/officeart/2005/8/layout/vList2"/>
    <dgm:cxn modelId="{D5E3E15E-781D-4151-9D3E-C79F4AFAC7E4}" type="presParOf" srcId="{1F13C5FA-C02D-4336-8E25-93ADF6DA17C4}" destId="{3F83843E-5834-4AC8-9F69-9812491DA70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dirty="0"/>
            <a:t>Alpha-Beta example 1  </a:t>
          </a:r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 custLinFactNeighborY="-242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Resource Limits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A076FC0A-1F9D-466A-A45A-3DB34E2F5886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MY"/>
        </a:p>
      </dgm:t>
    </dgm:pt>
    <dgm:pt modelId="{2B25795A-3780-4ACE-A1CC-FF5981871A03}" type="pres">
      <dgm:prSet presAssocID="{A076FC0A-1F9D-466A-A45A-3DB34E2F5886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</dgm:ptLst>
  <dgm:cxnLst>
    <dgm:cxn modelId="{C93F8229-87DE-42F1-BEE7-C7E0FCC585A0}" type="presOf" srcId="{A076FC0A-1F9D-466A-A45A-3DB34E2F5886}" destId="{2B25795A-3780-4ACE-A1CC-FF5981871A03}" srcOrd="0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Resource Limits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dirty="0"/>
            <a:t>Why</a:t>
          </a:r>
          <a:r>
            <a:rPr lang="en-MY" baseline="0" dirty="0"/>
            <a:t> Pacman Starves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5784A4B-5780-49CF-B371-558035318B21}" type="presOf" srcId="{031E71C0-3436-4535-A25F-77F17F1B27A2}" destId="{1F13C5FA-C02D-4336-8E25-93ADF6DA17C4}" srcOrd="0" destOrd="0" presId="urn:microsoft.com/office/officeart/2005/8/layout/vList2"/>
    <dgm:cxn modelId="{E12597B6-4E70-4F6F-8CEB-E957BF13F8E9}" type="presOf" srcId="{9506064B-B76B-4BBB-8B0C-3D5B7BA4C3BC}" destId="{74493649-37F6-464D-BBA9-F95D79A1A373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FB77EC78-6515-45B6-BEDC-DDECBF9E4B64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Evaluation Functions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Evaluation Functions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Evaluation For Pacman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031E71C0-3436-4535-A25F-77F17F1B27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MY"/>
        </a:p>
      </dgm:t>
    </dgm:pt>
    <dgm:pt modelId="{9506064B-B76B-4BBB-8B0C-3D5B7BA4C3BC}">
      <dgm:prSet/>
      <dgm:spPr/>
      <dgm:t>
        <a:bodyPr/>
        <a:lstStyle/>
        <a:p>
          <a:r>
            <a:rPr lang="en-MY" b="1" i="0" dirty="0"/>
            <a:t>Depth Matters</a:t>
          </a:r>
          <a:endParaRPr lang="en-MY" dirty="0"/>
        </a:p>
      </dgm:t>
    </dgm:pt>
    <dgm:pt modelId="{8F9561C5-1636-449E-938D-D07C1F72331E}" type="parTrans" cxnId="{08D8EDCC-4463-429F-9752-0E462A5E824E}">
      <dgm:prSet/>
      <dgm:spPr/>
      <dgm:t>
        <a:bodyPr/>
        <a:lstStyle/>
        <a:p>
          <a:endParaRPr lang="en-MY"/>
        </a:p>
      </dgm:t>
    </dgm:pt>
    <dgm:pt modelId="{AA8DEB92-9856-46ED-8C3D-00BC8E1D8E30}" type="sibTrans" cxnId="{08D8EDCC-4463-429F-9752-0E462A5E824E}">
      <dgm:prSet/>
      <dgm:spPr/>
      <dgm:t>
        <a:bodyPr/>
        <a:lstStyle/>
        <a:p>
          <a:endParaRPr lang="en-MY"/>
        </a:p>
      </dgm:t>
    </dgm:pt>
    <dgm:pt modelId="{1F13C5FA-C02D-4336-8E25-93ADF6DA17C4}" type="pres">
      <dgm:prSet presAssocID="{031E71C0-3436-4535-A25F-77F17F1B27A2}" presName="linear" presStyleCnt="0">
        <dgm:presLayoutVars>
          <dgm:animLvl val="lvl"/>
          <dgm:resizeHandles val="exact"/>
        </dgm:presLayoutVars>
      </dgm:prSet>
      <dgm:spPr/>
    </dgm:pt>
    <dgm:pt modelId="{74493649-37F6-464D-BBA9-F95D79A1A373}" type="pres">
      <dgm:prSet presAssocID="{9506064B-B76B-4BBB-8B0C-3D5B7BA4C3B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4609D26-79E9-41B5-B3AE-B9EB3EFFD32E}" type="presOf" srcId="{031E71C0-3436-4535-A25F-77F17F1B27A2}" destId="{1F13C5FA-C02D-4336-8E25-93ADF6DA17C4}" srcOrd="0" destOrd="0" presId="urn:microsoft.com/office/officeart/2005/8/layout/vList2"/>
    <dgm:cxn modelId="{08D8EDCC-4463-429F-9752-0E462A5E824E}" srcId="{031E71C0-3436-4535-A25F-77F17F1B27A2}" destId="{9506064B-B76B-4BBB-8B0C-3D5B7BA4C3BC}" srcOrd="0" destOrd="0" parTransId="{8F9561C5-1636-449E-938D-D07C1F72331E}" sibTransId="{AA8DEB92-9856-46ED-8C3D-00BC8E1D8E30}"/>
    <dgm:cxn modelId="{C0A84ED0-B7B3-42A4-AC1B-788951B90BD7}" type="presOf" srcId="{9506064B-B76B-4BBB-8B0C-3D5B7BA4C3BC}" destId="{74493649-37F6-464D-BBA9-F95D79A1A373}" srcOrd="0" destOrd="0" presId="urn:microsoft.com/office/officeart/2005/8/layout/vList2"/>
    <dgm:cxn modelId="{17B509B5-D113-4991-94EC-1776C5B7D523}" type="presParOf" srcId="{1F13C5FA-C02D-4336-8E25-93ADF6DA17C4}" destId="{74493649-37F6-464D-BBA9-F95D79A1A37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Game Playing state of the art</a:t>
          </a:r>
        </a:p>
      </dsp:txBody>
      <dsp:txXfrm>
        <a:off x="64397" y="64397"/>
        <a:ext cx="10386806" cy="11903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4BBB23-3B8A-474A-9915-486FAC5CD8EF}">
      <dsp:nvSpPr>
        <dsp:cNvPr id="0" name=""/>
        <dsp:cNvSpPr/>
      </dsp:nvSpPr>
      <dsp:spPr>
        <a:xfrm>
          <a:off x="0" y="296515"/>
          <a:ext cx="3346964" cy="2854800"/>
        </a:xfrm>
        <a:prstGeom prst="roundRect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000" kern="1200" dirty="0"/>
            <a:t>Agents Getting along with Other Agents</a:t>
          </a:r>
        </a:p>
      </dsp:txBody>
      <dsp:txXfrm>
        <a:off x="139360" y="435875"/>
        <a:ext cx="3068244" cy="25760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15186"/>
          <a:ext cx="10515600" cy="1295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400" kern="1200" dirty="0"/>
            <a:t>Agents Getting Along with Humans</a:t>
          </a:r>
        </a:p>
      </dsp:txBody>
      <dsp:txXfrm>
        <a:off x="63226" y="78412"/>
        <a:ext cx="10389148" cy="116873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Adversarial Games</a:t>
          </a:r>
        </a:p>
      </dsp:txBody>
      <dsp:txXfrm>
        <a:off x="64397" y="67590"/>
        <a:ext cx="10386806" cy="11903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Types of Games</a:t>
          </a:r>
        </a:p>
      </dsp:txBody>
      <dsp:txXfrm>
        <a:off x="64397" y="64397"/>
        <a:ext cx="10386806" cy="11903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52203"/>
          <a:ext cx="10515600" cy="1055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4400" kern="1200" dirty="0"/>
            <a:t>Deterministic Games with Terminal Utilities</a:t>
          </a:r>
        </a:p>
      </dsp:txBody>
      <dsp:txXfrm>
        <a:off x="51517" y="103720"/>
        <a:ext cx="10412566" cy="9523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Types of Games</a:t>
          </a:r>
        </a:p>
      </dsp:txBody>
      <dsp:txXfrm>
        <a:off x="64397" y="64397"/>
        <a:ext cx="10386806" cy="119038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Adversarial Search</a:t>
          </a:r>
        </a:p>
      </dsp:txBody>
      <dsp:txXfrm>
        <a:off x="64397" y="64397"/>
        <a:ext cx="10386806" cy="119038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News: Cost -&gt; Utility!</a:t>
          </a:r>
        </a:p>
      </dsp:txBody>
      <dsp:txXfrm>
        <a:off x="64397" y="64397"/>
        <a:ext cx="10386806" cy="119038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Single Agent Trees</a:t>
          </a:r>
        </a:p>
      </dsp:txBody>
      <dsp:txXfrm>
        <a:off x="64397" y="64397"/>
        <a:ext cx="10386806" cy="119038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Value of a State</a:t>
          </a:r>
        </a:p>
      </dsp:txBody>
      <dsp:txXfrm>
        <a:off x="64397" y="64397"/>
        <a:ext cx="10386806" cy="119038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Adversarial Game Trees</a:t>
          </a:r>
        </a:p>
      </dsp:txBody>
      <dsp:txXfrm>
        <a:off x="64397" y="64397"/>
        <a:ext cx="10386806" cy="119038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Min Max Values</a:t>
          </a:r>
        </a:p>
      </dsp:txBody>
      <dsp:txXfrm>
        <a:off x="64397" y="64397"/>
        <a:ext cx="10386806" cy="119038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Tic-Tac-Toe Game Tree</a:t>
          </a:r>
        </a:p>
      </dsp:txBody>
      <dsp:txXfrm>
        <a:off x="64397" y="64397"/>
        <a:ext cx="10386806" cy="119038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Adversarial Search (Minmax)</a:t>
          </a:r>
        </a:p>
      </dsp:txBody>
      <dsp:txXfrm>
        <a:off x="64397" y="64397"/>
        <a:ext cx="10386806" cy="119038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0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Minimax Implementation</a:t>
          </a:r>
        </a:p>
      </dsp:txBody>
      <dsp:txXfrm>
        <a:off x="64397" y="64397"/>
        <a:ext cx="10386806" cy="119038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27178"/>
          <a:ext cx="10515600" cy="12712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1930" tIns="201930" rIns="201930" bIns="201930" numCol="1" spcCol="1270" anchor="ctr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300" kern="1200" dirty="0"/>
            <a:t>Minimax Implementation (Dispatch)</a:t>
          </a:r>
        </a:p>
      </dsp:txBody>
      <dsp:txXfrm>
        <a:off x="62055" y="89233"/>
        <a:ext cx="10391490" cy="1147095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 err="1"/>
            <a:t>MiniMax</a:t>
          </a:r>
          <a:r>
            <a:rPr lang="en-MY" sz="5500" kern="1200" dirty="0"/>
            <a:t> Example</a:t>
          </a:r>
        </a:p>
      </dsp:txBody>
      <dsp:txXfrm>
        <a:off x="64397" y="67590"/>
        <a:ext cx="10386806" cy="1190381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6386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Minimax Properties</a:t>
          </a:r>
        </a:p>
      </dsp:txBody>
      <dsp:txXfrm>
        <a:off x="64397" y="70783"/>
        <a:ext cx="10386806" cy="1190381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 err="1"/>
            <a:t>MiniMax</a:t>
          </a:r>
          <a:r>
            <a:rPr lang="en-MY" sz="5500" kern="1200" dirty="0"/>
            <a:t> Efficiency</a:t>
          </a:r>
        </a:p>
      </dsp:txBody>
      <dsp:txXfrm>
        <a:off x="64397" y="67590"/>
        <a:ext cx="10386806" cy="1190381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Resource limits</a:t>
          </a:r>
        </a:p>
      </dsp:txBody>
      <dsp:txXfrm>
        <a:off x="64397" y="67590"/>
        <a:ext cx="10386806" cy="1190381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Game Tress Pruning</a:t>
          </a:r>
        </a:p>
      </dsp:txBody>
      <dsp:txXfrm>
        <a:off x="64397" y="67590"/>
        <a:ext cx="10386806" cy="1190381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FF8F78-6DD4-4ED1-97D8-F4C55EBE295C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Minimax Example</a:t>
          </a:r>
        </a:p>
      </dsp:txBody>
      <dsp:txXfrm>
        <a:off x="64397" y="67590"/>
        <a:ext cx="10386806" cy="1190381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3843E-5834-4AC8-9F69-9812491DA70E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0" i="0" kern="1200" dirty="0"/>
            <a:t>Alpha-Beta Pruning</a:t>
          </a:r>
        </a:p>
      </dsp:txBody>
      <dsp:txXfrm>
        <a:off x="64397" y="67590"/>
        <a:ext cx="10386806" cy="1190381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1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Alpha-Beta example 1  </a:t>
          </a:r>
        </a:p>
      </dsp:txBody>
      <dsp:txXfrm>
        <a:off x="64397" y="64398"/>
        <a:ext cx="10386806" cy="1190381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Resource Limits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Resource Limits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kern="1200" dirty="0"/>
            <a:t>Why</a:t>
          </a:r>
          <a:r>
            <a:rPr lang="en-MY" sz="5500" kern="1200" baseline="0" dirty="0"/>
            <a:t> Pacman Starves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Evaluation Functions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Evaluation Functions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Evaluation For Pacman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93649-37F6-464D-BBA9-F95D79A1A373}">
      <dsp:nvSpPr>
        <dsp:cNvPr id="0" name=""/>
        <dsp:cNvSpPr/>
      </dsp:nvSpPr>
      <dsp:spPr>
        <a:xfrm>
          <a:off x="0" y="3193"/>
          <a:ext cx="10515600" cy="13191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5500" b="1" i="0" kern="1200" dirty="0"/>
            <a:t>Depth Matters</a:t>
          </a:r>
          <a:endParaRPr lang="en-MY" sz="5500" kern="1200" dirty="0"/>
        </a:p>
      </dsp:txBody>
      <dsp:txXfrm>
        <a:off x="64397" y="67590"/>
        <a:ext cx="10386806" cy="11903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AEF5-DAFD-E817-6744-30CAD4245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0093E-2F01-505E-8E46-5BA3255EC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C9FBF-318B-7C59-C9F7-F21FC134F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F590C-35AC-6361-DDE8-B42241F6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AC52-44E8-B744-2CE2-63AE0C58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93012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A30F9-6EE4-59E8-4743-63D3B5E0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B4AA0-55AF-32D5-3C7E-30236C2C13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22439-5012-44F1-EC9E-0C9EE84E2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36DCE-A5BA-E722-8287-D54D3C33C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AEEB2-8CE9-E252-8FAC-8E22F23E6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508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F978-8A19-18F2-0011-BE8C4983C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1EDC1-FCC2-1D50-4C34-F02DB63CC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D25C3-822E-8838-FA11-35CAE7FD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BF102-FBA7-D0A0-C8FE-F0E0D72F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063E5-55E6-27D0-D97B-2F750A83B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483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A248B-4335-D8C3-435C-493AC12D2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626D-199C-502D-4D8C-7A770631D7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08346-F3B9-7451-8987-EFF60B8C8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0EFAB7-2EC7-C3AB-03FD-8DFCECAF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0C5CD-81C7-82B8-0E77-0CFF178C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F45D7-7A78-1C93-E614-8DFC0B5A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18972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B79A5-F021-A9E0-1756-6B101D9EB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59B86-FCBE-58B9-553C-63D8732D9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068398-A547-605A-BCEA-C262BC481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345B5-ADDF-3962-F91F-537601E0D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39A2A-68C9-6FC5-EE68-102FB45E0C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495CD3-79EC-C699-C09A-FA5B201A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4E1312-C6CD-ECC8-23E9-ABA9285C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B3C641-4117-948B-6614-F52225CEC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20393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812B-84A5-78BA-C3C8-8C955A9E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B5B7E-E28E-7462-94CC-50D6F022E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AFE06A-55D3-E28C-3E1B-9A3B197EE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E495F-E5DE-929C-2FA4-2CC18A0FF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993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A1C8A5-9086-DD5D-32C7-24EF3E17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19797C-E5CC-7F12-01F3-5A2C466E6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5463A-B9B1-51B5-94D7-77BE5307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55719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F72BE-FF6C-B348-EC85-9B53359D8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F8AB0-6AD5-A12E-209D-B13C4BB94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69EA3-68D8-7B40-44BF-924DE49B6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87896-5C6D-9AF6-3EE5-81AB81B2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C14C0-BFAD-BB2F-1C7E-D52B91156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9D44D9-36C8-5F8F-3B6B-1BB6AC12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91141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C8AD-72A5-AE29-7276-5A9D3489F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95B2A6-90D0-BE34-BAFC-DB60A7CF7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3BBC54-0F64-7FBD-EC3D-848C0C086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DE2D13-895D-E9F9-0426-52B488F67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B57E9E-CE21-96F7-3549-DD709D5E2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E0692-B5A4-46ED-4EB1-3893ACF34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00022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A17B-8D5A-A87E-2121-28C98A670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43DEA-1658-90CB-F0AB-97D6F351F5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F2C614-F832-AC51-9760-3077CE01B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BB879-9E5B-6760-BFCD-04CF4D24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C790C-E7A8-5555-A6A7-BDA47530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4277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3C396-FEB9-287C-E437-EC938E5061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995A1-BBAE-4498-B5F6-B62D4ADD7B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316FA-84FA-6638-344C-3D4A50B3B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0F7C1-9E20-2E87-9B93-4F9880DC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4B1BF-E6FD-1FB0-E191-226B1B0E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712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43F18-D1C4-BBF0-C7E0-1136D84F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8A946-25C7-B2C3-2946-CD63242E9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8DBBB-04C6-391D-47D8-592B6C187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6B62F-CF77-46A6-A3C5-5135EBEFE6FB}" type="datetimeFigureOut">
              <a:rPr lang="en-MY" smtClean="0"/>
              <a:t>8/10/2025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9AB2D-8459-BFE6-D73E-CD1523E92F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8830F-8326-9178-1B16-CBF6485A4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675FB-FD3A-4935-9AFE-01305D006690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55205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12" Type="http://schemas.openxmlformats.org/officeDocument/2006/relationships/image" Target="../media/image6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12" Type="http://schemas.openxmlformats.org/officeDocument/2006/relationships/image" Target="../media/image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8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9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0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1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2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3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14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15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16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diagramLayout" Target="../diagrams/layout20.xml"/><Relationship Id="rId7" Type="http://schemas.openxmlformats.org/officeDocument/2006/relationships/diagramData" Target="../diagrams/data21.xml"/><Relationship Id="rId12" Type="http://schemas.openxmlformats.org/officeDocument/2006/relationships/image" Target="../media/image17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11" Type="http://schemas.microsoft.com/office/2007/relationships/diagramDrawing" Target="../diagrams/drawing21.xml"/><Relationship Id="rId5" Type="http://schemas.openxmlformats.org/officeDocument/2006/relationships/diagramColors" Target="../diagrams/colors20.xml"/><Relationship Id="rId10" Type="http://schemas.openxmlformats.org/officeDocument/2006/relationships/diagramColors" Target="../diagrams/colors21.xml"/><Relationship Id="rId4" Type="http://schemas.openxmlformats.org/officeDocument/2006/relationships/diagramQuickStyle" Target="../diagrams/quickStyle20.xml"/><Relationship Id="rId9" Type="http://schemas.openxmlformats.org/officeDocument/2006/relationships/diagramQuickStyle" Target="../diagrams/quickStyle2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3.xml"/><Relationship Id="rId3" Type="http://schemas.openxmlformats.org/officeDocument/2006/relationships/diagramLayout" Target="../diagrams/layout22.xml"/><Relationship Id="rId7" Type="http://schemas.openxmlformats.org/officeDocument/2006/relationships/diagramData" Target="../diagrams/data23.xml"/><Relationship Id="rId12" Type="http://schemas.openxmlformats.org/officeDocument/2006/relationships/image" Target="../media/image18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11" Type="http://schemas.microsoft.com/office/2007/relationships/diagramDrawing" Target="../diagrams/drawing23.xml"/><Relationship Id="rId5" Type="http://schemas.openxmlformats.org/officeDocument/2006/relationships/diagramColors" Target="../diagrams/colors22.xml"/><Relationship Id="rId10" Type="http://schemas.openxmlformats.org/officeDocument/2006/relationships/diagramColors" Target="../diagrams/colors23.xml"/><Relationship Id="rId4" Type="http://schemas.openxmlformats.org/officeDocument/2006/relationships/diagramQuickStyle" Target="../diagrams/quickStyle22.xml"/><Relationship Id="rId9" Type="http://schemas.openxmlformats.org/officeDocument/2006/relationships/diagramQuickStyle" Target="../diagrams/quickStyle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5.xml"/><Relationship Id="rId3" Type="http://schemas.openxmlformats.org/officeDocument/2006/relationships/diagramLayout" Target="../diagrams/layout24.xml"/><Relationship Id="rId7" Type="http://schemas.openxmlformats.org/officeDocument/2006/relationships/diagramData" Target="../diagrams/data25.xml"/><Relationship Id="rId12" Type="http://schemas.openxmlformats.org/officeDocument/2006/relationships/image" Target="../media/image19.pn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11" Type="http://schemas.microsoft.com/office/2007/relationships/diagramDrawing" Target="../diagrams/drawing25.xml"/><Relationship Id="rId5" Type="http://schemas.openxmlformats.org/officeDocument/2006/relationships/diagramColors" Target="../diagrams/colors24.xml"/><Relationship Id="rId10" Type="http://schemas.openxmlformats.org/officeDocument/2006/relationships/diagramColors" Target="../diagrams/colors25.xml"/><Relationship Id="rId4" Type="http://schemas.openxmlformats.org/officeDocument/2006/relationships/diagramQuickStyle" Target="../diagrams/quickStyle24.xml"/><Relationship Id="rId9" Type="http://schemas.openxmlformats.org/officeDocument/2006/relationships/diagramQuickStyle" Target="../diagrams/quickStyle2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12" Type="http://schemas.openxmlformats.org/officeDocument/2006/relationships/image" Target="../media/image20.png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7" Type="http://schemas.openxmlformats.org/officeDocument/2006/relationships/image" Target="../media/image21.png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0.xml"/><Relationship Id="rId3" Type="http://schemas.openxmlformats.org/officeDocument/2006/relationships/diagramLayout" Target="../diagrams/layout29.xml"/><Relationship Id="rId7" Type="http://schemas.openxmlformats.org/officeDocument/2006/relationships/diagramData" Target="../diagrams/data30.xml"/><Relationship Id="rId12" Type="http://schemas.openxmlformats.org/officeDocument/2006/relationships/image" Target="../media/image22.png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11" Type="http://schemas.microsoft.com/office/2007/relationships/diagramDrawing" Target="../diagrams/drawing30.xml"/><Relationship Id="rId5" Type="http://schemas.openxmlformats.org/officeDocument/2006/relationships/diagramColors" Target="../diagrams/colors29.xml"/><Relationship Id="rId10" Type="http://schemas.openxmlformats.org/officeDocument/2006/relationships/diagramColors" Target="../diagrams/colors30.xml"/><Relationship Id="rId4" Type="http://schemas.openxmlformats.org/officeDocument/2006/relationships/diagramQuickStyle" Target="../diagrams/quickStyle29.xml"/><Relationship Id="rId9" Type="http://schemas.openxmlformats.org/officeDocument/2006/relationships/diagramQuickStyle" Target="../diagrams/quickStyle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7" Type="http://schemas.openxmlformats.org/officeDocument/2006/relationships/image" Target="../media/image23.png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7" Type="http://schemas.openxmlformats.org/officeDocument/2006/relationships/image" Target="../media/image24.png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7" Type="http://schemas.openxmlformats.org/officeDocument/2006/relationships/image" Target="../media/image25.png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5.xml"/><Relationship Id="rId3" Type="http://schemas.openxmlformats.org/officeDocument/2006/relationships/diagramLayout" Target="../diagrams/layout34.xml"/><Relationship Id="rId7" Type="http://schemas.openxmlformats.org/officeDocument/2006/relationships/diagramData" Target="../diagrams/data35.xml"/><Relationship Id="rId12" Type="http://schemas.openxmlformats.org/officeDocument/2006/relationships/image" Target="../media/image21.png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11" Type="http://schemas.microsoft.com/office/2007/relationships/diagramDrawing" Target="../diagrams/drawing35.xml"/><Relationship Id="rId5" Type="http://schemas.openxmlformats.org/officeDocument/2006/relationships/diagramColors" Target="../diagrams/colors34.xml"/><Relationship Id="rId10" Type="http://schemas.openxmlformats.org/officeDocument/2006/relationships/diagramColors" Target="../diagrams/colors35.xml"/><Relationship Id="rId4" Type="http://schemas.openxmlformats.org/officeDocument/2006/relationships/diagramQuickStyle" Target="../diagrams/quickStyle34.xml"/><Relationship Id="rId9" Type="http://schemas.openxmlformats.org/officeDocument/2006/relationships/diagramQuickStyle" Target="../diagrams/quickStyle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33.pn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7" Type="http://schemas.openxmlformats.org/officeDocument/2006/relationships/image" Target="../media/image34.png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8.xml"/><Relationship Id="rId7" Type="http://schemas.openxmlformats.org/officeDocument/2006/relationships/image" Target="../media/image35.png"/><Relationship Id="rId2" Type="http://schemas.openxmlformats.org/officeDocument/2006/relationships/diagramData" Target="../diagrams/data3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8.xml"/><Relationship Id="rId5" Type="http://schemas.openxmlformats.org/officeDocument/2006/relationships/diagramColors" Target="../diagrams/colors38.xml"/><Relationship Id="rId4" Type="http://schemas.openxmlformats.org/officeDocument/2006/relationships/diagramQuickStyle" Target="../diagrams/quickStyle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7" Type="http://schemas.openxmlformats.org/officeDocument/2006/relationships/image" Target="../media/image36.png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7" Type="http://schemas.openxmlformats.org/officeDocument/2006/relationships/image" Target="../media/image37.png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7" Type="http://schemas.openxmlformats.org/officeDocument/2006/relationships/image" Target="../media/image38.png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DF8E8-A406-1A70-7182-9470BADB38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MY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Math-810: MMAI</a:t>
            </a:r>
            <a:br>
              <a:rPr lang="en-MY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MY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n-US" sz="1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Adversarial Search and Game Trees</a:t>
            </a:r>
            <a:endParaRPr lang="en-MY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06DEFD-CE48-D99C-B3E1-EB096BB1D1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06838"/>
            <a:ext cx="9144000" cy="1255712"/>
          </a:xfrm>
        </p:spPr>
        <p:txBody>
          <a:bodyPr>
            <a:normAutofit/>
          </a:bodyPr>
          <a:lstStyle/>
          <a:p>
            <a:r>
              <a:rPr lang="en-MY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MY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Soyiba Jawed</a:t>
            </a:r>
          </a:p>
          <a:p>
            <a:pPr algn="l"/>
            <a:endParaRPr lang="en-MY" sz="20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34930"/>
            <a:r>
              <a:rPr lang="en-US" sz="20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 [These slides adapted from Dan Klein and Pieter </a:t>
            </a:r>
            <a:r>
              <a:rPr lang="en-US" sz="2000" b="0" i="0" u="none" strike="noStrike" baseline="0" dirty="0" err="1">
                <a:solidFill>
                  <a:srgbClr val="000000"/>
                </a:solidFill>
                <a:latin typeface="Calibri" panose="020F0502020204030204" pitchFamily="34" charset="0"/>
              </a:rPr>
              <a:t>Abbeel</a:t>
            </a:r>
            <a:r>
              <a:rPr lang="en-US" sz="20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</a:rPr>
              <a:t>]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34930" algn="ctr"/>
            <a:endParaRPr lang="en-MY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945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7151530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4F48353-B0EE-DEF4-1103-850EF180C5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226" y="1879164"/>
            <a:ext cx="9979742" cy="435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1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black and white image of a car&#10;&#10;Description automatically generated">
            <a:extLst>
              <a:ext uri="{FF2B5EF4-FFF2-40B4-BE49-F238E27FC236}">
                <a16:creationId xmlns:a16="http://schemas.microsoft.com/office/drawing/2014/main" id="{94004789-D75D-9CC8-D1CC-0A88A5A856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251" r="15352" b="-1"/>
          <a:stretch/>
        </p:blipFill>
        <p:spPr>
          <a:xfrm>
            <a:off x="5089243" y="877413"/>
            <a:ext cx="6222628" cy="504309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61681BF-7B94-84D8-92B7-47C3D990AC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8369205"/>
              </p:ext>
            </p:extLst>
          </p:nvPr>
        </p:nvGraphicFramePr>
        <p:xfrm>
          <a:off x="876693" y="2533476"/>
          <a:ext cx="3346964" cy="3447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2126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508D6-9A45-A833-9AD8-594ECA0E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92B877F-BBE7-1C7F-2EF7-BA8F66D95E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569648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diagram of a triangle with numbers and arrows&#10;&#10;Description automatically generated">
            <a:extLst>
              <a:ext uri="{FF2B5EF4-FFF2-40B4-BE49-F238E27FC236}">
                <a16:creationId xmlns:a16="http://schemas.microsoft.com/office/drawing/2014/main" id="{060D4BD6-A585-1D9B-47ED-68719A7AB3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2864" y="4599763"/>
            <a:ext cx="2230783" cy="1893112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B65BB4-F4CF-44A6-66C0-E11803A88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2454016" y="1825625"/>
            <a:ext cx="7283967" cy="4351338"/>
          </a:xfrm>
        </p:spPr>
      </p:pic>
    </p:spTree>
    <p:extLst>
      <p:ext uri="{BB962C8B-B14F-4D97-AF65-F5344CB8AC3E}">
        <p14:creationId xmlns:p14="http://schemas.microsoft.com/office/powerpoint/2010/main" val="3323685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83D96-B8A4-C1E5-5ED3-6A927081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A51C605-220B-CE32-71CE-2EF2ECE07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696448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C9C4CDA-8CF6-D23B-8F18-84E3858117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521874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C0E5FF3-4537-1931-0154-7EDC3A996F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75866" y="1825625"/>
            <a:ext cx="8155251" cy="455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73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41238B0-FF97-55AB-273B-C126375B53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5BA84B5-0347-8311-8F66-ED5DE2010E55}"/>
              </a:ext>
            </a:extLst>
          </p:cNvPr>
          <p:cNvSpPr txBox="1"/>
          <p:nvPr/>
        </p:nvSpPr>
        <p:spPr>
          <a:xfrm>
            <a:off x="1154766" y="1825625"/>
            <a:ext cx="100852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2060"/>
                </a:solidFill>
                <a:effectLst/>
              </a:rPr>
              <a:t>Many different kinds of games !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Axes: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</a:rPr>
              <a:t>Deterministic or stochastic?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One, two, or more players?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333333"/>
                </a:solidFill>
                <a:effectLst/>
              </a:rPr>
              <a:t>Zero Sum?</a:t>
            </a:r>
            <a:endParaRPr lang="en-US" sz="2400" dirty="0">
              <a:solidFill>
                <a:srgbClr val="333333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</a:rPr>
              <a:t>Perfect information(can you see the state)?</a:t>
            </a:r>
          </a:p>
          <a:p>
            <a:pPr marL="85725" lvl="1" indent="371475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Want algorithms for calculating a </a:t>
            </a:r>
            <a:r>
              <a:rPr lang="en-US" sz="2400" dirty="0">
                <a:solidFill>
                  <a:srgbClr val="FF0000"/>
                </a:solidFill>
              </a:rPr>
              <a:t>strategy (policy) </a:t>
            </a:r>
            <a:r>
              <a:rPr lang="en-US" sz="2400" dirty="0">
                <a:solidFill>
                  <a:srgbClr val="002060"/>
                </a:solidFill>
              </a:rPr>
              <a:t>which recommends a move from each state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24211B-1755-21E0-5873-CC54E103B0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2558" y="1690688"/>
            <a:ext cx="3624676" cy="19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6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273318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41238B0-FF97-55AB-273B-C126375B531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59EC25E-F395-AE45-60AA-3FD788302A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4875" y="1625812"/>
            <a:ext cx="11210975" cy="455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684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25C97E69-FA87-F194-D2C7-02A818243A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2491" y="1812712"/>
            <a:ext cx="9517626" cy="452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321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648224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6962A6D-CDD3-1598-3E2C-E5BA7B5AF1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726" y="1976754"/>
            <a:ext cx="6899081" cy="431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20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228008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7353256-6AE0-8660-643B-5BA3DF9DDC2B}"/>
              </a:ext>
            </a:extLst>
          </p:cNvPr>
          <p:cNvSpPr txBox="1"/>
          <p:nvPr/>
        </p:nvSpPr>
        <p:spPr>
          <a:xfrm>
            <a:off x="934064" y="2015613"/>
            <a:ext cx="82984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800" dirty="0">
                <a:solidFill>
                  <a:srgbClr val="002060"/>
                </a:solidFill>
              </a:rPr>
              <a:t>No longer minimizing cost!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sz="2800" dirty="0">
                <a:solidFill>
                  <a:srgbClr val="002060"/>
                </a:solidFill>
              </a:rPr>
              <a:t>Agent now wants to maximize its score/utility</a:t>
            </a:r>
            <a:r>
              <a:rPr lang="en-MY" dirty="0">
                <a:solidFill>
                  <a:srgbClr val="00206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053851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114954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550F4F0-7858-21F5-3C96-64BF1867FC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0993" y="2149579"/>
            <a:ext cx="8103549" cy="4115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47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509334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F2F4663-AF01-834A-A6BE-1CB7E34B9F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2993" y="1956531"/>
            <a:ext cx="9026013" cy="423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97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205479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8660D36-A497-94C4-5146-DAE3B83435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6136" y="1884073"/>
            <a:ext cx="8886896" cy="4608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34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726612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09D181F-3D5D-820F-2B76-DB61D1BE82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1407" y="1927124"/>
            <a:ext cx="9573574" cy="456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03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906258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FA2E10D-7707-C2D4-FC3F-65CECE6B40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8473" y="1823924"/>
            <a:ext cx="8988585" cy="488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68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6564469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E5528A3-F12B-318A-F360-A2A3CE70C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1097" y="1729146"/>
            <a:ext cx="9205101" cy="476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20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5D60E-3AB8-ADFE-1A7D-A2A6337ED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7B5151D-6CE1-FE5E-45D2-967DFAC57F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41420158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FF47F77-8B02-E7AA-436A-84ADBBDFA5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380" y="1936453"/>
            <a:ext cx="10009239" cy="369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15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EDCA3-4536-2EA3-239A-8C3796DF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F7A2EF0-DA00-A25B-44DE-E36CA0D3FC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8836097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5D1F19-5887-89E7-F840-D2FA042FA9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A71BF1D-F66F-7AFA-002A-DE5D614701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77413" y="2094132"/>
            <a:ext cx="10176387" cy="457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297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EDCA3-4536-2EA3-239A-8C3796DF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F7A2EF0-DA00-A25B-44DE-E36CA0D3FC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90127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5D1F19-5887-89E7-F840-D2FA042FA9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A21649B-2736-1AE6-6150-371CB2FD77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0115" y="2207374"/>
            <a:ext cx="9922517" cy="410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44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9048-C8FF-3D99-FF78-D638E3E7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87CE75A-3423-362A-4D1C-BD8708694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731076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0555A5-3F24-A20A-D6B6-D5EC2D16A5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53A7013-D849-8AD8-3A99-88214C6B64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2125" y="2173117"/>
            <a:ext cx="9048750" cy="393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788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EDCA3-4536-2EA3-239A-8C3796DFA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F7A2EF0-DA00-A25B-44DE-E36CA0D3FC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3106069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5D1F19-5887-89E7-F840-D2FA042FA98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22E419A-918E-7E98-B190-689CBA1F44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94503" y="1909821"/>
            <a:ext cx="9610172" cy="440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898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EC400-8E10-31DE-BE84-807C4FBC9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2A11FA-D35C-1BEA-454D-349AF76922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31946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B99C36F0-E3B3-52F8-439E-91AFCC7915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2828" y="2031093"/>
            <a:ext cx="9197211" cy="43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07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D16AC-E703-135B-5368-D03E48BB8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8BB5E57-1917-AD71-B889-79922C7995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4790233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B281125-1B29-E6A4-3651-D8EEB138D6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4B620843-D518-BE52-77E3-685C0987540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45531" y="1998488"/>
            <a:ext cx="7300937" cy="417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5341-C308-0FBB-48CC-8A3F779FA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E15D8FC-A4F9-BAAD-CF43-3A9624360E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0688618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6C3D92F-017E-B1FF-EDD6-2F8C7FDBA9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274" y="1939244"/>
            <a:ext cx="10729452" cy="469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94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5E940-3BB1-5347-13F4-82D9C94F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285EEF3-217F-0BAA-BC30-BBC0E0843C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1116251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21D21A7-A101-65CA-048B-0C53B1FED1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487" y="1690688"/>
            <a:ext cx="10194823" cy="482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47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93657-ACC3-208E-419E-93758227B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E3B8D05-394E-973E-D159-D8189EEE8A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5818674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019B0E1B-CB54-9771-7FAF-38B06243CC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17155" y="1863154"/>
            <a:ext cx="8354075" cy="46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696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lpha Beta Pruning">
            <a:extLst>
              <a:ext uri="{FF2B5EF4-FFF2-40B4-BE49-F238E27FC236}">
                <a16:creationId xmlns:a16="http://schemas.microsoft.com/office/drawing/2014/main" id="{2040366C-2373-A04B-7337-381C6054E9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300" y="2558256"/>
            <a:ext cx="6629400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3985ED0-5142-15AF-62DD-AE4326BB97F9}"/>
              </a:ext>
            </a:extLst>
          </p:cNvPr>
          <p:cNvGrpSpPr/>
          <p:nvPr/>
        </p:nvGrpSpPr>
        <p:grpSpPr>
          <a:xfrm>
            <a:off x="390525" y="94494"/>
            <a:ext cx="10515600" cy="1319175"/>
            <a:chOff x="0" y="1"/>
            <a:chExt cx="10515600" cy="131917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4208BBD-F78B-A590-64EE-B4BFD894B042}"/>
                </a:ext>
              </a:extLst>
            </p:cNvPr>
            <p:cNvSpPr/>
            <p:nvPr/>
          </p:nvSpPr>
          <p:spPr>
            <a:xfrm>
              <a:off x="0" y="1"/>
              <a:ext cx="10515600" cy="1319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1F617FB3-4B3C-D80F-A741-696219C9B368}"/>
                </a:ext>
              </a:extLst>
            </p:cNvPr>
            <p:cNvSpPr txBox="1"/>
            <p:nvPr/>
          </p:nvSpPr>
          <p:spPr>
            <a:xfrm>
              <a:off x="64397" y="64398"/>
              <a:ext cx="10386806" cy="11903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marL="0" lvl="0" indent="0" algn="l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5500" kern="1200" dirty="0"/>
                <a:t>Alpha-Beta example 2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61148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lpha Beta Pruning 2">
            <a:extLst>
              <a:ext uri="{FF2B5EF4-FFF2-40B4-BE49-F238E27FC236}">
                <a16:creationId xmlns:a16="http://schemas.microsoft.com/office/drawing/2014/main" id="{F4FBE956-D62F-FC1C-BAC5-B184021538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8912" y="2558256"/>
            <a:ext cx="6734175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A68D2F2-EDE7-D3DF-5429-4DA7C1AF97A4}"/>
              </a:ext>
            </a:extLst>
          </p:cNvPr>
          <p:cNvGrpSpPr/>
          <p:nvPr/>
        </p:nvGrpSpPr>
        <p:grpSpPr>
          <a:xfrm>
            <a:off x="428625" y="94494"/>
            <a:ext cx="10515600" cy="1319175"/>
            <a:chOff x="0" y="1"/>
            <a:chExt cx="10515600" cy="131917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E1AEDB9-6B88-1BFA-CDC4-5736DCD831D3}"/>
                </a:ext>
              </a:extLst>
            </p:cNvPr>
            <p:cNvSpPr/>
            <p:nvPr/>
          </p:nvSpPr>
          <p:spPr>
            <a:xfrm>
              <a:off x="0" y="1"/>
              <a:ext cx="10515600" cy="1319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588C0FC0-2950-0883-0124-0E0663244742}"/>
                </a:ext>
              </a:extLst>
            </p:cNvPr>
            <p:cNvSpPr txBox="1"/>
            <p:nvPr/>
          </p:nvSpPr>
          <p:spPr>
            <a:xfrm>
              <a:off x="64397" y="64398"/>
              <a:ext cx="10386806" cy="11903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marL="0" lvl="0" indent="0" algn="l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5500" kern="1200" dirty="0"/>
                <a:t>Alpha-Beta example 2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4702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lpha Beta Pruning 3">
            <a:extLst>
              <a:ext uri="{FF2B5EF4-FFF2-40B4-BE49-F238E27FC236}">
                <a16:creationId xmlns:a16="http://schemas.microsoft.com/office/drawing/2014/main" id="{2CABFFE5-F675-24E2-8300-6AE0689F4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166938"/>
            <a:ext cx="6762750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5396A3D4-8F35-91FC-734E-7C7728B6391E}"/>
              </a:ext>
            </a:extLst>
          </p:cNvPr>
          <p:cNvGrpSpPr/>
          <p:nvPr/>
        </p:nvGrpSpPr>
        <p:grpSpPr>
          <a:xfrm>
            <a:off x="619125" y="154800"/>
            <a:ext cx="10515600" cy="1319175"/>
            <a:chOff x="0" y="1"/>
            <a:chExt cx="10515600" cy="131917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8A5E138-05A3-D683-0043-9DA7326CA112}"/>
                </a:ext>
              </a:extLst>
            </p:cNvPr>
            <p:cNvSpPr/>
            <p:nvPr/>
          </p:nvSpPr>
          <p:spPr>
            <a:xfrm>
              <a:off x="0" y="1"/>
              <a:ext cx="10515600" cy="1319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B7686C7B-6FE9-DC55-6289-77B3C56D30F0}"/>
                </a:ext>
              </a:extLst>
            </p:cNvPr>
            <p:cNvSpPr txBox="1"/>
            <p:nvPr/>
          </p:nvSpPr>
          <p:spPr>
            <a:xfrm>
              <a:off x="64397" y="64398"/>
              <a:ext cx="10386806" cy="11903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marL="0" lvl="0" indent="0" algn="l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5500" kern="1200" dirty="0"/>
                <a:t>Alpha-Beta example 2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7358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inimax-3">
            <a:extLst>
              <a:ext uri="{FF2B5EF4-FFF2-40B4-BE49-F238E27FC236}">
                <a16:creationId xmlns:a16="http://schemas.microsoft.com/office/drawing/2014/main" id="{E0EF6227-9694-B5C6-F906-C5FFA88F43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900" y="1825625"/>
            <a:ext cx="525220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D515B7D-C900-0959-454B-DFE0CED93920}"/>
              </a:ext>
            </a:extLst>
          </p:cNvPr>
          <p:cNvGrpSpPr/>
          <p:nvPr/>
        </p:nvGrpSpPr>
        <p:grpSpPr>
          <a:xfrm>
            <a:off x="428625" y="94494"/>
            <a:ext cx="10515600" cy="1326124"/>
            <a:chOff x="0" y="1"/>
            <a:chExt cx="10515600" cy="132612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C63B769-F983-815E-CD11-E7C0F4AF9BB4}"/>
                </a:ext>
              </a:extLst>
            </p:cNvPr>
            <p:cNvSpPr/>
            <p:nvPr/>
          </p:nvSpPr>
          <p:spPr>
            <a:xfrm>
              <a:off x="0" y="1"/>
              <a:ext cx="10515600" cy="1319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9" name="Rectangle: Rounded Corners 4">
              <a:extLst>
                <a:ext uri="{FF2B5EF4-FFF2-40B4-BE49-F238E27FC236}">
                  <a16:creationId xmlns:a16="http://schemas.microsoft.com/office/drawing/2014/main" id="{4E3B7AE0-E728-4512-977F-765A6D162301}"/>
                </a:ext>
              </a:extLst>
            </p:cNvPr>
            <p:cNvSpPr txBox="1"/>
            <p:nvPr/>
          </p:nvSpPr>
          <p:spPr>
            <a:xfrm>
              <a:off x="64397" y="135744"/>
              <a:ext cx="10386806" cy="11903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marL="0" lvl="0" indent="0" algn="l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5500" kern="1200" dirty="0"/>
                <a:t>Alpha-Beta example </a:t>
              </a:r>
              <a:r>
                <a:rPr lang="en-MY" sz="5500" dirty="0"/>
                <a:t>3</a:t>
              </a:r>
              <a:r>
                <a:rPr lang="en-MY" sz="5500" kern="1200" dirty="0"/>
                <a:t>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7358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lpha-beta-pruning-1">
            <a:extLst>
              <a:ext uri="{FF2B5EF4-FFF2-40B4-BE49-F238E27FC236}">
                <a16:creationId xmlns:a16="http://schemas.microsoft.com/office/drawing/2014/main" id="{AC93C568-7AE5-10B5-BD50-A9FFFDD938C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967" y="1825625"/>
            <a:ext cx="61360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1D21156-E81C-601F-BE6F-C38DABA05A3B}"/>
              </a:ext>
            </a:extLst>
          </p:cNvPr>
          <p:cNvGrpSpPr/>
          <p:nvPr/>
        </p:nvGrpSpPr>
        <p:grpSpPr>
          <a:xfrm>
            <a:off x="428625" y="94494"/>
            <a:ext cx="10515600" cy="1319175"/>
            <a:chOff x="0" y="1"/>
            <a:chExt cx="10515600" cy="131917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961D306-3EEB-4337-7AA2-EFA556AB010A}"/>
                </a:ext>
              </a:extLst>
            </p:cNvPr>
            <p:cNvSpPr/>
            <p:nvPr/>
          </p:nvSpPr>
          <p:spPr>
            <a:xfrm>
              <a:off x="0" y="1"/>
              <a:ext cx="10515600" cy="1319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8EA667C2-331F-5EFD-EB24-F31B4B1C4AC2}"/>
                </a:ext>
              </a:extLst>
            </p:cNvPr>
            <p:cNvSpPr txBox="1"/>
            <p:nvPr/>
          </p:nvSpPr>
          <p:spPr>
            <a:xfrm>
              <a:off x="64397" y="64398"/>
              <a:ext cx="10386806" cy="11903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marL="0" lvl="0" indent="0" algn="l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5500" kern="1200" dirty="0"/>
                <a:t>Alpha-Beta example </a:t>
              </a:r>
              <a:r>
                <a:rPr lang="en-MY" sz="5500" dirty="0"/>
                <a:t>3</a:t>
              </a:r>
              <a:r>
                <a:rPr lang="en-MY" sz="5500" kern="1200" dirty="0"/>
                <a:t>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4757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alpha-beta-pruning-1">
            <a:extLst>
              <a:ext uri="{FF2B5EF4-FFF2-40B4-BE49-F238E27FC236}">
                <a16:creationId xmlns:a16="http://schemas.microsoft.com/office/drawing/2014/main" id="{F71496ED-5A6C-481D-72DB-CF056C483F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967" y="1825625"/>
            <a:ext cx="61360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7C67F405-49DA-BC1C-EF59-BDF85C955A8C}"/>
              </a:ext>
            </a:extLst>
          </p:cNvPr>
          <p:cNvGrpSpPr/>
          <p:nvPr/>
        </p:nvGrpSpPr>
        <p:grpSpPr>
          <a:xfrm>
            <a:off x="428625" y="94494"/>
            <a:ext cx="10515600" cy="1319175"/>
            <a:chOff x="0" y="1"/>
            <a:chExt cx="10515600" cy="131917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D69D48D-2CBA-7FA2-F4B1-2D72340BC2E3}"/>
                </a:ext>
              </a:extLst>
            </p:cNvPr>
            <p:cNvSpPr/>
            <p:nvPr/>
          </p:nvSpPr>
          <p:spPr>
            <a:xfrm>
              <a:off x="0" y="1"/>
              <a:ext cx="10515600" cy="1319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1315CFF0-7927-5FC1-0C23-595C074D524D}"/>
                </a:ext>
              </a:extLst>
            </p:cNvPr>
            <p:cNvSpPr txBox="1"/>
            <p:nvPr/>
          </p:nvSpPr>
          <p:spPr>
            <a:xfrm>
              <a:off x="64397" y="64398"/>
              <a:ext cx="10386806" cy="11903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marL="0" lvl="0" indent="0" algn="l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5500" kern="1200" dirty="0"/>
                <a:t>Alpha-Beta example </a:t>
              </a:r>
              <a:r>
                <a:rPr lang="en-MY" sz="5500" dirty="0"/>
                <a:t>3</a:t>
              </a:r>
              <a:r>
                <a:rPr lang="en-MY" sz="5500" kern="1200" dirty="0"/>
                <a:t>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70018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alpha-beta-pruning-3">
            <a:extLst>
              <a:ext uri="{FF2B5EF4-FFF2-40B4-BE49-F238E27FC236}">
                <a16:creationId xmlns:a16="http://schemas.microsoft.com/office/drawing/2014/main" id="{4B8458EB-571B-D8DD-9D00-E76A6D5841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967" y="1825625"/>
            <a:ext cx="61360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06B0883-3815-D790-CE3F-26D572AF088A}"/>
              </a:ext>
            </a:extLst>
          </p:cNvPr>
          <p:cNvGrpSpPr/>
          <p:nvPr/>
        </p:nvGrpSpPr>
        <p:grpSpPr>
          <a:xfrm>
            <a:off x="428625" y="94494"/>
            <a:ext cx="10515600" cy="1319175"/>
            <a:chOff x="0" y="1"/>
            <a:chExt cx="10515600" cy="131917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50C0307-EE0E-56F9-FEAA-D8D9F30AF81B}"/>
                </a:ext>
              </a:extLst>
            </p:cNvPr>
            <p:cNvSpPr/>
            <p:nvPr/>
          </p:nvSpPr>
          <p:spPr>
            <a:xfrm>
              <a:off x="0" y="1"/>
              <a:ext cx="10515600" cy="1319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D0C1FF44-52B1-232D-8835-8A9C5D3C4EC1}"/>
                </a:ext>
              </a:extLst>
            </p:cNvPr>
            <p:cNvSpPr txBox="1"/>
            <p:nvPr/>
          </p:nvSpPr>
          <p:spPr>
            <a:xfrm>
              <a:off x="64397" y="64398"/>
              <a:ext cx="10386806" cy="11903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marL="0" lvl="0" indent="0" algn="l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5500" kern="1200" dirty="0"/>
                <a:t>Alpha-Beta example 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63403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lpha-beta-pruning-4">
            <a:extLst>
              <a:ext uri="{FF2B5EF4-FFF2-40B4-BE49-F238E27FC236}">
                <a16:creationId xmlns:a16="http://schemas.microsoft.com/office/drawing/2014/main" id="{ED8BAB26-D89A-6E62-513B-91E01CBFE8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967" y="1825625"/>
            <a:ext cx="61360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CC8835C5-4D82-F334-AEDF-495542EDB8EA}"/>
              </a:ext>
            </a:extLst>
          </p:cNvPr>
          <p:cNvGrpSpPr/>
          <p:nvPr/>
        </p:nvGrpSpPr>
        <p:grpSpPr>
          <a:xfrm>
            <a:off x="428625" y="94494"/>
            <a:ext cx="10515600" cy="1319175"/>
            <a:chOff x="0" y="1"/>
            <a:chExt cx="10515600" cy="1319175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D3A2AAB-40F6-FA3E-9F52-171ECA63F12C}"/>
                </a:ext>
              </a:extLst>
            </p:cNvPr>
            <p:cNvSpPr/>
            <p:nvPr/>
          </p:nvSpPr>
          <p:spPr>
            <a:xfrm>
              <a:off x="0" y="1"/>
              <a:ext cx="10515600" cy="131917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MY"/>
            </a:p>
          </p:txBody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7BDB5BEF-0284-98AE-D592-7214BF4926AB}"/>
                </a:ext>
              </a:extLst>
            </p:cNvPr>
            <p:cNvSpPr txBox="1"/>
            <p:nvPr/>
          </p:nvSpPr>
          <p:spPr>
            <a:xfrm>
              <a:off x="64397" y="64398"/>
              <a:ext cx="10386806" cy="119038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09550" tIns="209550" rIns="209550" bIns="209550" numCol="1" spcCol="1270" anchor="ctr" anchorCtr="0">
              <a:noAutofit/>
            </a:bodyPr>
            <a:lstStyle/>
            <a:p>
              <a:pPr marL="0" lvl="0" indent="0" algn="l" defTabSz="2444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MY" sz="5500" kern="1200" dirty="0"/>
                <a:t>Alpha-Beta example </a:t>
              </a:r>
              <a:r>
                <a:rPr lang="en-MY" sz="5500" dirty="0"/>
                <a:t>3</a:t>
              </a:r>
              <a:endParaRPr lang="en-MY" sz="55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190301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E5D4-65D8-7680-C0E5-A413360D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ECCEDA-AD9E-1267-FE15-1DE00759AD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4427270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87B968C-B1FD-B0F3-3035-796875BA33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783365"/>
              </p:ext>
            </p:extLst>
          </p:nvPr>
        </p:nvGraphicFramePr>
        <p:xfrm>
          <a:off x="1183340" y="1859340"/>
          <a:ext cx="10515599" cy="2282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8249CCF-A853-5BFD-BC99-CF0FCE276C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4506" y="1951882"/>
            <a:ext cx="9197211" cy="4379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467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E5D4-65D8-7680-C0E5-A413360D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ECCEDA-AD9E-1267-FE15-1DE00759AD72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8A83401-FEC4-3D96-4CC1-68846226DE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8697" y="2043775"/>
            <a:ext cx="10019071" cy="444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464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AB405-38D0-824B-80D0-509CB994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4B2D516-1E6E-8B65-C29B-108BFCFCC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1854595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AA2C067-F3E4-1DFA-0E85-C657C75D4C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6787" y="2061497"/>
            <a:ext cx="8898194" cy="421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42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93452-A9EB-4156-C52F-8D8222F5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31D454A-836E-E2D6-153C-1BAF2941F3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9072892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11A14D2-454C-3477-00D0-0FB7C60A38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524" y="1933895"/>
            <a:ext cx="8904683" cy="469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0784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93452-A9EB-4156-C52F-8D8222F5B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31D454A-836E-E2D6-153C-1BAF2941F38E}"/>
              </a:ext>
            </a:extLst>
          </p:cNvPr>
          <p:cNvGraphicFramePr/>
          <p:nvPr/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3C9C489-69E0-14B9-D632-98CB5FE194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8548" y="1963087"/>
            <a:ext cx="8221361" cy="443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905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72E7-E034-B51B-ACD7-0F53E509E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71E95B1-04A1-C76D-D5FF-98B9875663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5071276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1D8B8C45-E9C5-4D88-E2D9-56F7E86907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1811" y="1776182"/>
            <a:ext cx="6468378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877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8E5D4-65D8-7680-C0E5-A413360D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ECCEDA-AD9E-1267-FE15-1DE00759AD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1236050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F88C777-1C8B-E019-1CE7-8FB42EEA0F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038" y="1964629"/>
            <a:ext cx="9468465" cy="441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702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6957</TotalTime>
  <Words>214</Words>
  <Application>Microsoft Office PowerPoint</Application>
  <PresentationFormat>Widescreen</PresentationFormat>
  <Paragraphs>53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Times New Roman</vt:lpstr>
      <vt:lpstr>Office Theme</vt:lpstr>
      <vt:lpstr>Math-810: MMAI   Adversarial Search and Game Trees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Soyiba</dc:creator>
  <cp:lastModifiedBy>Dr Soyiba</cp:lastModifiedBy>
  <cp:revision>134</cp:revision>
  <dcterms:created xsi:type="dcterms:W3CDTF">2024-02-19T04:51:54Z</dcterms:created>
  <dcterms:modified xsi:type="dcterms:W3CDTF">2025-10-08T12:32:26Z</dcterms:modified>
</cp:coreProperties>
</file>