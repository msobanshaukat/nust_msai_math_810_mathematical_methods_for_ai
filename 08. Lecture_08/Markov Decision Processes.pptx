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06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25189" y="162306"/>
            <a:ext cx="4341621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" y="1031354"/>
            <a:ext cx="12191631" cy="6097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0" y="1031366"/>
            <a:ext cx="12192000" cy="60960"/>
          </a:xfrm>
          <a:custGeom>
            <a:avLst/>
            <a:gdLst/>
            <a:ahLst/>
            <a:cxnLst/>
            <a:rect l="l" t="t" r="r" b="b"/>
            <a:pathLst>
              <a:path w="12192000" h="60959">
                <a:moveTo>
                  <a:pt x="0" y="0"/>
                </a:moveTo>
                <a:lnTo>
                  <a:pt x="12192000" y="0"/>
                </a:lnTo>
                <a:lnTo>
                  <a:pt x="12192000" y="60960"/>
                </a:lnTo>
                <a:lnTo>
                  <a:pt x="0" y="60960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3458" y="162306"/>
            <a:ext cx="9555003" cy="7615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0536" y="3276852"/>
            <a:ext cx="6329680" cy="156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8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36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0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40.png"/><Relationship Id="rId5" Type="http://schemas.openxmlformats.org/officeDocument/2006/relationships/image" Target="../media/image45.png"/><Relationship Id="rId10" Type="http://schemas.openxmlformats.org/officeDocument/2006/relationships/image" Target="../media/image41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105.png"/><Relationship Id="rId18" Type="http://schemas.openxmlformats.org/officeDocument/2006/relationships/image" Target="../media/image10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107.png"/><Relationship Id="rId2" Type="http://schemas.openxmlformats.org/officeDocument/2006/relationships/image" Target="../media/image67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11" Type="http://schemas.openxmlformats.org/officeDocument/2006/relationships/image" Target="../media/image104.png"/><Relationship Id="rId5" Type="http://schemas.openxmlformats.org/officeDocument/2006/relationships/image" Target="../media/image70.png"/><Relationship Id="rId15" Type="http://schemas.openxmlformats.org/officeDocument/2006/relationships/image" Target="../media/image106.png"/><Relationship Id="rId10" Type="http://schemas.openxmlformats.org/officeDocument/2006/relationships/image" Target="../media/image75.png"/><Relationship Id="rId19" Type="http://schemas.openxmlformats.org/officeDocument/2006/relationships/image" Target="../media/image109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jp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jp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jp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jp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1938866"/>
            <a:ext cx="7510271" cy="36174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15233" y="1128011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Markov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Decision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Processes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697" rIns="0" bIns="0" rtlCol="0">
            <a:spAutoFit/>
          </a:bodyPr>
          <a:lstStyle/>
          <a:p>
            <a:pPr marL="691515" algn="ctr">
              <a:lnSpc>
                <a:spcPct val="100000"/>
              </a:lnSpc>
              <a:spcBef>
                <a:spcPts val="95"/>
              </a:spcBef>
            </a:pPr>
            <a:r>
              <a:rPr lang="en-MY" spc="-30" dirty="0">
                <a:solidFill>
                  <a:srgbClr val="333399"/>
                </a:solidFill>
              </a:rPr>
              <a:t>Math-810</a:t>
            </a:r>
            <a:r>
              <a:rPr dirty="0">
                <a:solidFill>
                  <a:srgbClr val="333399"/>
                </a:solidFill>
              </a:rPr>
              <a:t>:</a:t>
            </a:r>
            <a:r>
              <a:rPr spc="-120" dirty="0">
                <a:solidFill>
                  <a:srgbClr val="333399"/>
                </a:solidFill>
              </a:rPr>
              <a:t> </a:t>
            </a:r>
            <a:r>
              <a:rPr lang="en-MY" spc="-120" dirty="0">
                <a:solidFill>
                  <a:srgbClr val="333399"/>
                </a:solidFill>
              </a:rPr>
              <a:t>MMAI</a:t>
            </a:r>
            <a:endParaRPr spc="-10" dirty="0">
              <a:solidFill>
                <a:srgbClr val="333399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4200" y="5595155"/>
            <a:ext cx="6858000" cy="11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7343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Instructor: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Dr.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lang="en-MY" sz="1800" dirty="0">
                <a:latin typeface="Arial MT"/>
                <a:cs typeface="Arial MT"/>
              </a:rPr>
              <a:t>Soyiba Jawed</a:t>
            </a:r>
          </a:p>
          <a:p>
            <a:pPr marL="12700" marR="5080" indent="77343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National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University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Sciences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Technology</a:t>
            </a:r>
            <a:endParaRPr sz="1800" dirty="0">
              <a:latin typeface="Arial MT"/>
              <a:cs typeface="Arial MT"/>
            </a:endParaRPr>
          </a:p>
          <a:p>
            <a:pPr marL="233045">
              <a:lnSpc>
                <a:spcPct val="100000"/>
              </a:lnSpc>
              <a:spcBef>
                <a:spcPts val="675"/>
              </a:spcBef>
            </a:pPr>
            <a:r>
              <a:rPr sz="1100" dirty="0">
                <a:latin typeface="Arial MT"/>
                <a:cs typeface="Arial MT"/>
              </a:rPr>
              <a:t>(slides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adapted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Klein,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Pieter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Abbeel,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Anca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Dragan,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al.)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6878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Non-</a:t>
            </a:r>
            <a:r>
              <a:rPr dirty="0"/>
              <a:t>Deterministic</a:t>
            </a:r>
            <a:r>
              <a:rPr spc="-215" dirty="0"/>
              <a:t> </a:t>
            </a:r>
            <a:r>
              <a:rPr spc="-10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458" y="1278481"/>
            <a:ext cx="6105643" cy="52686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694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05" dirty="0"/>
              <a:t> </a:t>
            </a:r>
            <a:r>
              <a:rPr dirty="0"/>
              <a:t>Grid</a:t>
            </a:r>
            <a:r>
              <a:rPr spc="-100" dirty="0"/>
              <a:t> </a:t>
            </a:r>
            <a:r>
              <a:rPr spc="-10" dirty="0"/>
              <a:t>World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39336" y="1373124"/>
            <a:ext cx="4543425" cy="3392170"/>
            <a:chOff x="7039336" y="1373124"/>
            <a:chExt cx="4543425" cy="33921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9336" y="1432519"/>
              <a:ext cx="4387343" cy="333230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2987" y="1373124"/>
              <a:ext cx="4439411" cy="31973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10800" y="3896868"/>
              <a:ext cx="457199" cy="2446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67800" y="3886200"/>
              <a:ext cx="509777" cy="2186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77400" y="2895600"/>
              <a:ext cx="433577" cy="7810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71659" y="3581400"/>
              <a:ext cx="815339" cy="7619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07340" y="1447926"/>
            <a:ext cx="6023610" cy="46723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maze-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like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 problem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450"/>
              </a:spcBef>
              <a:buFont typeface="Wingdings"/>
              <a:buChar char=""/>
              <a:tabLst>
                <a:tab pos="8121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lives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grid</a:t>
            </a:r>
            <a:endParaRPr sz="18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812165" algn="l"/>
              </a:tabLst>
            </a:pPr>
            <a:r>
              <a:rPr sz="1800" dirty="0">
                <a:latin typeface="Calibri"/>
                <a:cs typeface="Calibri"/>
              </a:rPr>
              <a:t>Walls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block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agent’s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path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3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Noisy</a:t>
            </a:r>
            <a:r>
              <a:rPr sz="20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movement: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actions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do</a:t>
            </a:r>
            <a:r>
              <a:rPr sz="20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not</a:t>
            </a:r>
            <a:r>
              <a:rPr sz="20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always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go</a:t>
            </a:r>
            <a:r>
              <a:rPr sz="20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as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planned</a:t>
            </a:r>
            <a:endParaRPr sz="2000">
              <a:latin typeface="Calibri"/>
              <a:cs typeface="Calibri"/>
            </a:endParaRPr>
          </a:p>
          <a:p>
            <a:pPr marL="812800" marR="5080" lvl="1" indent="-342900">
              <a:lnSpc>
                <a:spcPct val="100000"/>
              </a:lnSpc>
              <a:spcBef>
                <a:spcPts val="445"/>
              </a:spcBef>
              <a:buClr>
                <a:srgbClr val="333399"/>
              </a:buClr>
              <a:buFont typeface="Wingdings"/>
              <a:buChar char=""/>
              <a:tabLst>
                <a:tab pos="812800" algn="l"/>
              </a:tabLst>
            </a:pPr>
            <a:r>
              <a:rPr sz="1800" dirty="0">
                <a:latin typeface="Calibri"/>
                <a:cs typeface="Calibri"/>
              </a:rPr>
              <a:t>80%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North </a:t>
            </a:r>
            <a:r>
              <a:rPr sz="1800" dirty="0">
                <a:latin typeface="Calibri"/>
                <a:cs typeface="Calibri"/>
              </a:rPr>
              <a:t>(if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there)</a:t>
            </a:r>
            <a:endParaRPr sz="18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434"/>
              </a:spcBef>
              <a:buClr>
                <a:srgbClr val="333399"/>
              </a:buClr>
              <a:buFont typeface="Wingdings"/>
              <a:buChar char=""/>
              <a:tabLst>
                <a:tab pos="812165" algn="l"/>
              </a:tabLst>
            </a:pPr>
            <a:r>
              <a:rPr sz="1800" dirty="0">
                <a:latin typeface="Calibri"/>
                <a:cs typeface="Calibri"/>
              </a:rPr>
              <a:t>10%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West;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10%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East</a:t>
            </a:r>
            <a:endParaRPr sz="1800">
              <a:latin typeface="Calibri"/>
              <a:cs typeface="Calibri"/>
            </a:endParaRPr>
          </a:p>
          <a:p>
            <a:pPr marL="812800" marR="203200" lvl="1" indent="-342900">
              <a:lnSpc>
                <a:spcPct val="100000"/>
              </a:lnSpc>
              <a:spcBef>
                <a:spcPts val="430"/>
              </a:spcBef>
              <a:buClr>
                <a:srgbClr val="333399"/>
              </a:buClr>
              <a:buFont typeface="Wingdings"/>
              <a:buChar char=""/>
              <a:tabLst>
                <a:tab pos="81280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direction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20" dirty="0">
                <a:latin typeface="Calibri"/>
                <a:cs typeface="Calibri"/>
              </a:rPr>
              <a:t> have </a:t>
            </a:r>
            <a:r>
              <a:rPr sz="1800" dirty="0">
                <a:latin typeface="Calibri"/>
                <a:cs typeface="Calibri"/>
              </a:rPr>
              <a:t>been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taken,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stays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put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3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agent</a:t>
            </a:r>
            <a:r>
              <a:rPr sz="20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receives</a:t>
            </a:r>
            <a:r>
              <a:rPr sz="20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rewards</a:t>
            </a:r>
            <a:r>
              <a:rPr sz="20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0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time</a:t>
            </a:r>
            <a:r>
              <a:rPr sz="20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33399"/>
                </a:solidFill>
                <a:latin typeface="Calibri"/>
                <a:cs typeface="Calibri"/>
              </a:rPr>
              <a:t>step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445"/>
              </a:spcBef>
              <a:buFont typeface="Wingdings"/>
              <a:buChar char=""/>
              <a:tabLst>
                <a:tab pos="812165" algn="l"/>
              </a:tabLst>
            </a:pPr>
            <a:r>
              <a:rPr sz="1800" dirty="0">
                <a:latin typeface="Calibri"/>
                <a:cs typeface="Calibri"/>
              </a:rPr>
              <a:t>Small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“living”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(can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negative)</a:t>
            </a:r>
            <a:endParaRPr sz="18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812165" algn="l"/>
              </a:tabLst>
            </a:pPr>
            <a:r>
              <a:rPr sz="1800" dirty="0">
                <a:latin typeface="Calibri"/>
                <a:cs typeface="Calibri"/>
              </a:rPr>
              <a:t>Big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(good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bad)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3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Goal: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maximize</a:t>
            </a:r>
            <a:r>
              <a:rPr sz="20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sum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rewards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Grid</a:t>
            </a:r>
            <a:r>
              <a:rPr spc="-75" dirty="0"/>
              <a:t> </a:t>
            </a:r>
            <a:r>
              <a:rPr dirty="0"/>
              <a:t>World</a:t>
            </a:r>
            <a:r>
              <a:rPr spc="-80" dirty="0"/>
              <a:t> </a:t>
            </a:r>
            <a:r>
              <a:rPr spc="-10" dirty="0"/>
              <a:t>Actions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71600" y="1728977"/>
            <a:ext cx="2132330" cy="4591050"/>
            <a:chOff x="1371600" y="1728977"/>
            <a:chExt cx="2132330" cy="4591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0" y="1728977"/>
              <a:ext cx="2067305" cy="31135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4877561"/>
              <a:ext cx="2057399" cy="144246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1297" y="1805178"/>
            <a:ext cx="6607301" cy="45186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2919" y="1227942"/>
            <a:ext cx="8840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58230" algn="l"/>
              </a:tabLst>
            </a:pPr>
            <a:r>
              <a:rPr sz="2400" spc="-10" dirty="0">
                <a:latin typeface="Calibri"/>
                <a:cs typeface="Calibri"/>
              </a:rPr>
              <a:t>Deterministic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Grid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World</a:t>
            </a:r>
            <a:r>
              <a:rPr sz="2400" dirty="0">
                <a:latin typeface="Calibri"/>
                <a:cs typeface="Calibri"/>
              </a:rPr>
              <a:t>	Stochastic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Grid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World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24780" y="1371980"/>
            <a:ext cx="76200" cy="5181600"/>
          </a:xfrm>
          <a:custGeom>
            <a:avLst/>
            <a:gdLst/>
            <a:ahLst/>
            <a:cxnLst/>
            <a:rect l="l" t="t" r="r" b="b"/>
            <a:pathLst>
              <a:path w="76200" h="5181600">
                <a:moveTo>
                  <a:pt x="0" y="0"/>
                </a:moveTo>
                <a:lnTo>
                  <a:pt x="76200" y="5181600"/>
                </a:lnTo>
              </a:path>
            </a:pathLst>
          </a:custGeom>
          <a:ln w="51053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7490">
              <a:lnSpc>
                <a:spcPct val="100000"/>
              </a:lnSpc>
              <a:spcBef>
                <a:spcPts val="95"/>
              </a:spcBef>
            </a:pPr>
            <a:r>
              <a:rPr dirty="0"/>
              <a:t>Markov</a:t>
            </a:r>
            <a:r>
              <a:rPr spc="-140" dirty="0"/>
              <a:t> </a:t>
            </a:r>
            <a:r>
              <a:rPr dirty="0"/>
              <a:t>Decision</a:t>
            </a:r>
            <a:r>
              <a:rPr spc="-135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36" y="1441512"/>
            <a:ext cx="5963920" cy="450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MDP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defined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set</a:t>
            </a:r>
            <a:r>
              <a:rPr sz="2000" spc="-1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states</a:t>
            </a:r>
            <a:r>
              <a:rPr sz="2000" spc="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s</a:t>
            </a:r>
            <a:r>
              <a:rPr sz="2000" spc="-2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Symbol"/>
                <a:cs typeface="Symbol"/>
              </a:rPr>
              <a:t></a:t>
            </a:r>
            <a:r>
              <a:rPr sz="2000" spc="-7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CC0000"/>
                </a:solidFill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set</a:t>
            </a:r>
            <a:r>
              <a:rPr sz="2000" spc="-1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actions</a:t>
            </a:r>
            <a:r>
              <a:rPr sz="2000" spc="-1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Symbol"/>
                <a:cs typeface="Symbol"/>
              </a:rPr>
              <a:t></a:t>
            </a:r>
            <a:r>
              <a:rPr sz="2000" spc="-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CC0000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transition</a:t>
            </a:r>
            <a:r>
              <a:rPr sz="2000" spc="-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function</a:t>
            </a:r>
            <a:r>
              <a:rPr sz="2000" spc="-3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T(s,</a:t>
            </a:r>
            <a:r>
              <a:rPr sz="2000" spc="-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a,</a:t>
            </a:r>
            <a:r>
              <a:rPr sz="2000" spc="-4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CC0000"/>
                </a:solidFill>
                <a:latin typeface="Calibri"/>
                <a:cs typeface="Calibri"/>
              </a:rPr>
              <a:t>s’)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Wingdings"/>
              <a:buChar char="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Probability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leads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s’,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i.e.,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P(s’|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a)</a:t>
            </a:r>
            <a:endParaRPr sz="1800">
              <a:latin typeface="Calibri"/>
              <a:cs typeface="Calibri"/>
            </a:endParaRPr>
          </a:p>
          <a:p>
            <a:pPr marL="1155065" lvl="2" indent="-227965">
              <a:lnSpc>
                <a:spcPts val="2155"/>
              </a:lnSpc>
              <a:buClr>
                <a:srgbClr val="333399"/>
              </a:buClr>
              <a:buFont typeface="Wingdings"/>
              <a:buChar char="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Also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dynamics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395"/>
              </a:lnSpc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reward</a:t>
            </a:r>
            <a:r>
              <a:rPr sz="2000" spc="-3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function</a:t>
            </a:r>
            <a:r>
              <a:rPr sz="2000" spc="-4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R(s,</a:t>
            </a:r>
            <a:r>
              <a:rPr sz="2000" spc="-2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a,</a:t>
            </a:r>
            <a:r>
              <a:rPr sz="2000" spc="-4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CC0000"/>
                </a:solidFill>
                <a:latin typeface="Calibri"/>
                <a:cs typeface="Calibri"/>
              </a:rPr>
              <a:t>s’)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ts val="2155"/>
              </a:lnSpc>
              <a:spcBef>
                <a:spcPts val="10"/>
              </a:spcBef>
              <a:buClr>
                <a:srgbClr val="333399"/>
              </a:buClr>
              <a:buFont typeface="Wingdings"/>
              <a:buChar char="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Sometimes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just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R(s)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R(s’)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395"/>
              </a:lnSpc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start</a:t>
            </a:r>
            <a:r>
              <a:rPr sz="2000" spc="-1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Maybe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C0000"/>
                </a:solidFill>
                <a:latin typeface="Calibri"/>
                <a:cs typeface="Calibri"/>
              </a:rPr>
              <a:t>terminal</a:t>
            </a:r>
            <a:r>
              <a:rPr sz="2000" spc="-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80"/>
              </a:spcBef>
              <a:buFont typeface="Wingdings"/>
              <a:buChar char="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MDPs</a:t>
            </a:r>
            <a:r>
              <a:rPr sz="24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non-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deterministic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One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expectimax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search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We’ll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tool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soon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39336" y="1373124"/>
            <a:ext cx="4543425" cy="3392170"/>
            <a:chOff x="7039336" y="1373124"/>
            <a:chExt cx="4543425" cy="33921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9336" y="1432519"/>
              <a:ext cx="4387343" cy="3332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2987" y="1373124"/>
              <a:ext cx="4439411" cy="31973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10800" y="3896868"/>
              <a:ext cx="457199" cy="2446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67800" y="3886200"/>
              <a:ext cx="509777" cy="2186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77400" y="2895600"/>
              <a:ext cx="433577" cy="7810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71659" y="3581400"/>
              <a:ext cx="815339" cy="7619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370061" y="6506654"/>
            <a:ext cx="37420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[Demo</a:t>
            </a:r>
            <a:r>
              <a:rPr sz="1800" spc="-5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–</a:t>
            </a:r>
            <a:r>
              <a:rPr sz="1800" spc="-4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gridworld</a:t>
            </a:r>
            <a:r>
              <a:rPr sz="1800" spc="-5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manual</a:t>
            </a:r>
            <a:r>
              <a:rPr sz="1800" spc="-5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intro</a:t>
            </a:r>
            <a:r>
              <a:rPr sz="1800" spc="-5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libri"/>
                <a:cs typeface="Calibri"/>
              </a:rPr>
              <a:t>(L8D1)]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634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75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dirty="0"/>
              <a:t>Markov</a:t>
            </a:r>
            <a:r>
              <a:rPr spc="-75" dirty="0"/>
              <a:t> </a:t>
            </a:r>
            <a:r>
              <a:rPr dirty="0"/>
              <a:t>about</a:t>
            </a:r>
            <a:r>
              <a:rPr spc="-65" dirty="0"/>
              <a:t> </a:t>
            </a:r>
            <a:r>
              <a:rPr spc="-10" dirty="0"/>
              <a:t>MDPs?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6" y="1461006"/>
            <a:ext cx="772985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“Markov”</a:t>
            </a:r>
            <a:r>
              <a:rPr sz="24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generally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means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that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given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present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state,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future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past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independent</a:t>
            </a:r>
            <a:endParaRPr sz="2400">
              <a:latin typeface="Calibri"/>
              <a:cs typeface="Calibri"/>
            </a:endParaRPr>
          </a:p>
          <a:p>
            <a:pPr marL="355600" marR="494665" indent="-342900">
              <a:lnSpc>
                <a:spcPct val="100000"/>
              </a:lnSpc>
              <a:spcBef>
                <a:spcPts val="288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Markov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decision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processes,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“Markov”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means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action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outcomes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depend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only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current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1447800"/>
            <a:ext cx="2133979" cy="27912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6855" y="4194291"/>
            <a:ext cx="181968" cy="641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9926" y="3588062"/>
            <a:ext cx="7162823" cy="2781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9925" y="4654862"/>
            <a:ext cx="3491822" cy="2781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5936" y="4353011"/>
            <a:ext cx="10664825" cy="1742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73235" marR="5080" indent="-14414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Andrey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Markov (1856-</a:t>
            </a:r>
            <a:r>
              <a:rPr sz="1800" spc="-20" dirty="0">
                <a:latin typeface="Calibri"/>
                <a:cs typeface="Calibri"/>
              </a:rPr>
              <a:t>1922)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800">
              <a:latin typeface="Calibri"/>
              <a:cs typeface="Calibri"/>
            </a:endParaRPr>
          </a:p>
          <a:p>
            <a:pPr marL="355600" marR="2517140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This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just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like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search,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where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successor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function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could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only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depend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current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(not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history)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3189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Policies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53200" y="1295400"/>
            <a:ext cx="5410200" cy="3163570"/>
            <a:chOff x="6553200" y="1295400"/>
            <a:chExt cx="5410200" cy="31635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7707" y="1634194"/>
              <a:ext cx="3599102" cy="27273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3200" y="1295400"/>
              <a:ext cx="5410198" cy="316306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852031" y="4737607"/>
            <a:ext cx="46602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0" marR="5080" indent="-96583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Optimal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policy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R(s,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s’)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-0.03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non-</a:t>
            </a:r>
            <a:r>
              <a:rPr sz="2400" dirty="0">
                <a:latin typeface="Calibri"/>
                <a:cs typeface="Calibri"/>
              </a:rPr>
              <a:t>terminals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36" y="1461006"/>
            <a:ext cx="6229350" cy="200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9225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deterministic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single-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agent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problems,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wanted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optimal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/>
                <a:cs typeface="Calibri"/>
              </a:rPr>
              <a:t>plan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,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or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sequence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actions,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from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start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Clr>
                <a:srgbClr val="333399"/>
              </a:buClr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MDPs,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want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optimal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/>
                <a:cs typeface="Calibri"/>
              </a:rPr>
              <a:t>policy</a:t>
            </a:r>
            <a:r>
              <a:rPr sz="2400" spc="-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C0000"/>
                </a:solidFill>
                <a:latin typeface="Symbol"/>
                <a:cs typeface="Symbol"/>
              </a:rPr>
              <a:t></a:t>
            </a:r>
            <a:r>
              <a:rPr sz="2400" dirty="0">
                <a:solidFill>
                  <a:srgbClr val="CC0000"/>
                </a:solidFill>
                <a:latin typeface="Calibri"/>
                <a:cs typeface="Calibri"/>
              </a:rPr>
              <a:t>*:</a:t>
            </a:r>
            <a:r>
              <a:rPr sz="2400" spc="-3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/>
                <a:cs typeface="Calibri"/>
              </a:rPr>
              <a:t>S</a:t>
            </a:r>
            <a:r>
              <a:rPr sz="2400" spc="-2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/>
                <a:cs typeface="Calibri"/>
              </a:rPr>
              <a:t>→</a:t>
            </a:r>
            <a:r>
              <a:rPr sz="2400" spc="-2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CC0000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36" y="3444188"/>
            <a:ext cx="5565140" cy="259334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755015" indent="-285115">
              <a:lnSpc>
                <a:spcPct val="100000"/>
              </a:lnSpc>
              <a:spcBef>
                <a:spcPts val="56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policy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gives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marL="755650" marR="718185" indent="-285750">
              <a:lnSpc>
                <a:spcPct val="100000"/>
              </a:lnSpc>
              <a:spcBef>
                <a:spcPts val="464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policy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maximizes </a:t>
            </a:r>
            <a:r>
              <a:rPr sz="2000" dirty="0">
                <a:latin typeface="Calibri"/>
                <a:cs typeface="Calibri"/>
              </a:rPr>
              <a:t>expected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utility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followed</a:t>
            </a:r>
            <a:endParaRPr sz="2000">
              <a:latin typeface="Calibri"/>
              <a:cs typeface="Calibri"/>
            </a:endParaRPr>
          </a:p>
          <a:p>
            <a:pPr marL="755015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explicit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policy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reflex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agent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Expectimax</a:t>
            </a:r>
            <a:r>
              <a:rPr sz="24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didn’t</a:t>
            </a:r>
            <a:r>
              <a:rPr sz="24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compute</a:t>
            </a:r>
            <a:r>
              <a:rPr sz="24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entire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policies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state</a:t>
            </a:r>
            <a:r>
              <a:rPr sz="2000" spc="-20" dirty="0">
                <a:latin typeface="Calibri"/>
                <a:cs typeface="Calibri"/>
              </a:rPr>
              <a:t> only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57170">
              <a:lnSpc>
                <a:spcPct val="100000"/>
              </a:lnSpc>
              <a:spcBef>
                <a:spcPts val="95"/>
              </a:spcBef>
            </a:pPr>
            <a:r>
              <a:rPr dirty="0"/>
              <a:t>Optimal</a:t>
            </a:r>
            <a:r>
              <a:rPr spc="-145" dirty="0"/>
              <a:t> </a:t>
            </a:r>
            <a:r>
              <a:rPr spc="-10" dirty="0"/>
              <a:t>Policies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6568" y="1387691"/>
            <a:ext cx="2720099" cy="20549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7393" y="1387686"/>
            <a:ext cx="2731776" cy="20545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1847" y="4184201"/>
            <a:ext cx="2736136" cy="20534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90244" y="4193366"/>
            <a:ext cx="2725482" cy="20542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03553" y="6332029"/>
            <a:ext cx="956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R(s)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25" dirty="0">
                <a:latin typeface="Calibri"/>
                <a:cs typeface="Calibri"/>
              </a:rPr>
              <a:t>2.0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6931" y="6317856"/>
            <a:ext cx="956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R(s)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25" dirty="0">
                <a:latin typeface="Calibri"/>
                <a:cs typeface="Calibri"/>
              </a:rPr>
              <a:t>0.4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6233" y="3512705"/>
            <a:ext cx="1073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R(s)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20" dirty="0">
                <a:latin typeface="Calibri"/>
                <a:cs typeface="Calibri"/>
              </a:rPr>
              <a:t>0.03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27033" y="3512705"/>
            <a:ext cx="1073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R(s)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20" dirty="0">
                <a:latin typeface="Calibri"/>
                <a:cs typeface="Calibri"/>
              </a:rPr>
              <a:t>0.01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367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25" dirty="0"/>
              <a:t> </a:t>
            </a:r>
            <a:r>
              <a:rPr spc="-10" dirty="0"/>
              <a:t>Racing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839" y="2562804"/>
            <a:ext cx="9418319" cy="38284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367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25" dirty="0"/>
              <a:t> </a:t>
            </a:r>
            <a:r>
              <a:rPr spc="-10" dirty="0"/>
              <a:t>Racing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36" y="1251150"/>
            <a:ext cx="4337050" cy="14884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robot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travel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far,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quickly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states: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F0"/>
                </a:solidFill>
                <a:latin typeface="Calibri"/>
                <a:cs typeface="Calibri"/>
              </a:rPr>
              <a:t>Cool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7F2727"/>
                </a:solidFill>
                <a:latin typeface="Calibri"/>
                <a:cs typeface="Calibri"/>
              </a:rPr>
              <a:t>Warm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Overheated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Two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actions: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33399"/>
                </a:solidFill>
                <a:latin typeface="Calibri"/>
                <a:cs typeface="Calibri"/>
              </a:rPr>
              <a:t>Slow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spc="-20" dirty="0">
                <a:solidFill>
                  <a:srgbClr val="C00000"/>
                </a:solidFill>
                <a:latin typeface="Calibri"/>
                <a:cs typeface="Calibri"/>
              </a:rPr>
              <a:t>Fast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Going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faster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double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reward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83485" y="2731770"/>
            <a:ext cx="9899650" cy="2895600"/>
            <a:chOff x="1983485" y="2731770"/>
            <a:chExt cx="9899650" cy="28956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3485" y="3950969"/>
              <a:ext cx="2433827" cy="1600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6647" y="2731770"/>
              <a:ext cx="2660903" cy="1676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00971" y="3798569"/>
              <a:ext cx="2581655" cy="18287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956686" y="5358460"/>
            <a:ext cx="487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solidFill>
                  <a:srgbClr val="00B0F0"/>
                </a:solidFill>
                <a:latin typeface="Calibri"/>
                <a:cs typeface="Calibri"/>
              </a:rPr>
              <a:t>Cool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59071" y="4177272"/>
            <a:ext cx="6553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solidFill>
                  <a:srgbClr val="7F2727"/>
                </a:solidFill>
                <a:latin typeface="Calibri"/>
                <a:cs typeface="Calibri"/>
              </a:rPr>
              <a:t>Warm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8485" y="5472645"/>
            <a:ext cx="12420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libri"/>
                <a:cs typeface="Calibri"/>
              </a:rPr>
              <a:t>Overheated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56555" y="4526683"/>
            <a:ext cx="3930650" cy="1784350"/>
            <a:chOff x="3156555" y="4526683"/>
            <a:chExt cx="3930650" cy="1784350"/>
          </a:xfrm>
        </p:grpSpPr>
        <p:sp>
          <p:nvSpPr>
            <p:cNvPr id="12" name="object 12"/>
            <p:cNvSpPr/>
            <p:nvPr/>
          </p:nvSpPr>
          <p:spPr>
            <a:xfrm>
              <a:off x="3255213" y="4751069"/>
              <a:ext cx="1393190" cy="1522095"/>
            </a:xfrm>
            <a:custGeom>
              <a:avLst/>
              <a:gdLst/>
              <a:ahLst/>
              <a:cxnLst/>
              <a:rect l="l" t="t" r="r" b="b"/>
              <a:pathLst>
                <a:path w="1393189" h="1522095">
                  <a:moveTo>
                    <a:pt x="1164386" y="0"/>
                  </a:moveTo>
                  <a:lnTo>
                    <a:pt x="1202330" y="13565"/>
                  </a:lnTo>
                  <a:lnTo>
                    <a:pt x="1239332" y="52176"/>
                  </a:lnTo>
                  <a:lnTo>
                    <a:pt x="1274453" y="112700"/>
                  </a:lnTo>
                  <a:lnTo>
                    <a:pt x="1291014" y="150202"/>
                  </a:lnTo>
                  <a:lnTo>
                    <a:pt x="1306752" y="192008"/>
                  </a:lnTo>
                  <a:lnTo>
                    <a:pt x="1321549" y="237728"/>
                  </a:lnTo>
                  <a:lnTo>
                    <a:pt x="1335288" y="286969"/>
                  </a:lnTo>
                  <a:lnTo>
                    <a:pt x="1347850" y="339341"/>
                  </a:lnTo>
                  <a:lnTo>
                    <a:pt x="1359120" y="394452"/>
                  </a:lnTo>
                  <a:lnTo>
                    <a:pt x="1368978" y="451911"/>
                  </a:lnTo>
                  <a:lnTo>
                    <a:pt x="1377307" y="511327"/>
                  </a:lnTo>
                  <a:lnTo>
                    <a:pt x="1383990" y="572308"/>
                  </a:lnTo>
                  <a:lnTo>
                    <a:pt x="1388910" y="634463"/>
                  </a:lnTo>
                  <a:lnTo>
                    <a:pt x="1391948" y="697401"/>
                  </a:lnTo>
                  <a:lnTo>
                    <a:pt x="1392986" y="760729"/>
                  </a:lnTo>
                  <a:lnTo>
                    <a:pt x="1391272" y="806349"/>
                  </a:lnTo>
                  <a:lnTo>
                    <a:pt x="1386222" y="851823"/>
                  </a:lnTo>
                  <a:lnTo>
                    <a:pt x="1377976" y="897004"/>
                  </a:lnTo>
                  <a:lnTo>
                    <a:pt x="1366671" y="941748"/>
                  </a:lnTo>
                  <a:lnTo>
                    <a:pt x="1352448" y="985907"/>
                  </a:lnTo>
                  <a:lnTo>
                    <a:pt x="1335445" y="1029336"/>
                  </a:lnTo>
                  <a:lnTo>
                    <a:pt x="1315801" y="1071889"/>
                  </a:lnTo>
                  <a:lnTo>
                    <a:pt x="1293656" y="1113419"/>
                  </a:lnTo>
                  <a:lnTo>
                    <a:pt x="1269147" y="1153781"/>
                  </a:lnTo>
                  <a:lnTo>
                    <a:pt x="1242415" y="1192829"/>
                  </a:lnTo>
                  <a:lnTo>
                    <a:pt x="1213598" y="1230416"/>
                  </a:lnTo>
                  <a:lnTo>
                    <a:pt x="1182835" y="1266396"/>
                  </a:lnTo>
                  <a:lnTo>
                    <a:pt x="1150266" y="1300623"/>
                  </a:lnTo>
                  <a:lnTo>
                    <a:pt x="1116028" y="1332952"/>
                  </a:lnTo>
                  <a:lnTo>
                    <a:pt x="1080261" y="1363236"/>
                  </a:lnTo>
                  <a:lnTo>
                    <a:pt x="1043105" y="1391329"/>
                  </a:lnTo>
                  <a:lnTo>
                    <a:pt x="1004698" y="1417085"/>
                  </a:lnTo>
                  <a:lnTo>
                    <a:pt x="965179" y="1440358"/>
                  </a:lnTo>
                  <a:lnTo>
                    <a:pt x="924687" y="1461001"/>
                  </a:lnTo>
                  <a:lnTo>
                    <a:pt x="883361" y="1478870"/>
                  </a:lnTo>
                  <a:lnTo>
                    <a:pt x="841340" y="1493817"/>
                  </a:lnTo>
                  <a:lnTo>
                    <a:pt x="798763" y="1505697"/>
                  </a:lnTo>
                  <a:lnTo>
                    <a:pt x="755769" y="1514364"/>
                  </a:lnTo>
                  <a:lnTo>
                    <a:pt x="712497" y="1519671"/>
                  </a:lnTo>
                  <a:lnTo>
                    <a:pt x="669086" y="1521472"/>
                  </a:lnTo>
                  <a:lnTo>
                    <a:pt x="617141" y="1519677"/>
                  </a:lnTo>
                  <a:lnTo>
                    <a:pt x="565434" y="1514406"/>
                  </a:lnTo>
                  <a:lnTo>
                    <a:pt x="514203" y="1505835"/>
                  </a:lnTo>
                  <a:lnTo>
                    <a:pt x="463688" y="1494139"/>
                  </a:lnTo>
                  <a:lnTo>
                    <a:pt x="414125" y="1479493"/>
                  </a:lnTo>
                  <a:lnTo>
                    <a:pt x="365754" y="1462070"/>
                  </a:lnTo>
                  <a:lnTo>
                    <a:pt x="318813" y="1442046"/>
                  </a:lnTo>
                  <a:lnTo>
                    <a:pt x="273540" y="1419596"/>
                  </a:lnTo>
                  <a:lnTo>
                    <a:pt x="230173" y="1394894"/>
                  </a:lnTo>
                  <a:lnTo>
                    <a:pt x="188951" y="1368115"/>
                  </a:lnTo>
                  <a:lnTo>
                    <a:pt x="150112" y="1339433"/>
                  </a:lnTo>
                  <a:lnTo>
                    <a:pt x="113894" y="1309024"/>
                  </a:lnTo>
                  <a:lnTo>
                    <a:pt x="80535" y="1277062"/>
                  </a:lnTo>
                  <a:lnTo>
                    <a:pt x="50274" y="1243722"/>
                  </a:lnTo>
                  <a:lnTo>
                    <a:pt x="23350" y="1209179"/>
                  </a:lnTo>
                  <a:lnTo>
                    <a:pt x="0" y="1173606"/>
                  </a:lnTo>
                </a:path>
              </a:pathLst>
            </a:custGeom>
            <a:ln w="762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56555" y="5741784"/>
              <a:ext cx="219075" cy="252095"/>
            </a:xfrm>
            <a:custGeom>
              <a:avLst/>
              <a:gdLst/>
              <a:ahLst/>
              <a:cxnLst/>
              <a:rect l="l" t="t" r="r" b="b"/>
              <a:pathLst>
                <a:path w="219075" h="252095">
                  <a:moveTo>
                    <a:pt x="43840" y="0"/>
                  </a:moveTo>
                  <a:lnTo>
                    <a:pt x="0" y="251802"/>
                  </a:lnTo>
                  <a:lnTo>
                    <a:pt x="218973" y="186156"/>
                  </a:lnTo>
                  <a:lnTo>
                    <a:pt x="4384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9600" y="4622685"/>
              <a:ext cx="2486025" cy="128905"/>
            </a:xfrm>
            <a:custGeom>
              <a:avLst/>
              <a:gdLst/>
              <a:ahLst/>
              <a:cxnLst/>
              <a:rect l="l" t="t" r="r" b="b"/>
              <a:pathLst>
                <a:path w="2486025" h="128904">
                  <a:moveTo>
                    <a:pt x="0" y="128384"/>
                  </a:moveTo>
                  <a:lnTo>
                    <a:pt x="63594" y="128312"/>
                  </a:lnTo>
                  <a:lnTo>
                    <a:pt x="127156" y="128098"/>
                  </a:lnTo>
                  <a:lnTo>
                    <a:pt x="190654" y="127744"/>
                  </a:lnTo>
                  <a:lnTo>
                    <a:pt x="254056" y="127253"/>
                  </a:lnTo>
                  <a:lnTo>
                    <a:pt x="317329" y="126626"/>
                  </a:lnTo>
                  <a:lnTo>
                    <a:pt x="380441" y="125867"/>
                  </a:lnTo>
                  <a:lnTo>
                    <a:pt x="443361" y="124976"/>
                  </a:lnTo>
                  <a:lnTo>
                    <a:pt x="506055" y="123958"/>
                  </a:lnTo>
                  <a:lnTo>
                    <a:pt x="568493" y="122813"/>
                  </a:lnTo>
                  <a:lnTo>
                    <a:pt x="630641" y="121545"/>
                  </a:lnTo>
                  <a:lnTo>
                    <a:pt x="692467" y="120155"/>
                  </a:lnTo>
                  <a:lnTo>
                    <a:pt x="753940" y="118646"/>
                  </a:lnTo>
                  <a:lnTo>
                    <a:pt x="815027" y="117020"/>
                  </a:lnTo>
                  <a:lnTo>
                    <a:pt x="875696" y="115279"/>
                  </a:lnTo>
                  <a:lnTo>
                    <a:pt x="935915" y="113426"/>
                  </a:lnTo>
                  <a:lnTo>
                    <a:pt x="995652" y="111463"/>
                  </a:lnTo>
                  <a:lnTo>
                    <a:pt x="1054874" y="109393"/>
                  </a:lnTo>
                  <a:lnTo>
                    <a:pt x="1113550" y="107217"/>
                  </a:lnTo>
                  <a:lnTo>
                    <a:pt x="1171648" y="104937"/>
                  </a:lnTo>
                  <a:lnTo>
                    <a:pt x="1229134" y="102558"/>
                  </a:lnTo>
                  <a:lnTo>
                    <a:pt x="1285977" y="100079"/>
                  </a:lnTo>
                  <a:lnTo>
                    <a:pt x="1342146" y="97504"/>
                  </a:lnTo>
                  <a:lnTo>
                    <a:pt x="1397607" y="94836"/>
                  </a:lnTo>
                  <a:lnTo>
                    <a:pt x="1452328" y="92075"/>
                  </a:lnTo>
                  <a:lnTo>
                    <a:pt x="1506278" y="89226"/>
                  </a:lnTo>
                  <a:lnTo>
                    <a:pt x="1559425" y="86289"/>
                  </a:lnTo>
                  <a:lnTo>
                    <a:pt x="1611735" y="83268"/>
                  </a:lnTo>
                  <a:lnTo>
                    <a:pt x="1663177" y="80164"/>
                  </a:lnTo>
                  <a:lnTo>
                    <a:pt x="1713720" y="76980"/>
                  </a:lnTo>
                  <a:lnTo>
                    <a:pt x="1763329" y="73718"/>
                  </a:lnTo>
                  <a:lnTo>
                    <a:pt x="1811975" y="70380"/>
                  </a:lnTo>
                  <a:lnTo>
                    <a:pt x="1859623" y="66970"/>
                  </a:lnTo>
                  <a:lnTo>
                    <a:pt x="1906243" y="63488"/>
                  </a:lnTo>
                  <a:lnTo>
                    <a:pt x="1951802" y="59937"/>
                  </a:lnTo>
                  <a:lnTo>
                    <a:pt x="1996268" y="56321"/>
                  </a:lnTo>
                  <a:lnTo>
                    <a:pt x="2039609" y="52640"/>
                  </a:lnTo>
                  <a:lnTo>
                    <a:pt x="2081792" y="48897"/>
                  </a:lnTo>
                  <a:lnTo>
                    <a:pt x="2122786" y="45095"/>
                  </a:lnTo>
                  <a:lnTo>
                    <a:pt x="2162558" y="41235"/>
                  </a:lnTo>
                  <a:lnTo>
                    <a:pt x="2201076" y="37321"/>
                  </a:lnTo>
                  <a:lnTo>
                    <a:pt x="2274222" y="29337"/>
                  </a:lnTo>
                  <a:lnTo>
                    <a:pt x="2341967" y="21160"/>
                  </a:lnTo>
                  <a:lnTo>
                    <a:pt x="2404054" y="12810"/>
                  </a:lnTo>
                  <a:lnTo>
                    <a:pt x="2460225" y="4305"/>
                  </a:lnTo>
                  <a:lnTo>
                    <a:pt x="2486012" y="0"/>
                  </a:lnTo>
                </a:path>
              </a:pathLst>
            </a:custGeom>
            <a:ln w="762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33278" y="4526683"/>
              <a:ext cx="253365" cy="216535"/>
            </a:xfrm>
            <a:custGeom>
              <a:avLst/>
              <a:gdLst/>
              <a:ahLst/>
              <a:cxnLst/>
              <a:rect l="l" t="t" r="r" b="b"/>
              <a:pathLst>
                <a:path w="253365" h="216535">
                  <a:moveTo>
                    <a:pt x="0" y="0"/>
                  </a:moveTo>
                  <a:lnTo>
                    <a:pt x="74218" y="216217"/>
                  </a:lnTo>
                  <a:lnTo>
                    <a:pt x="253326" y="338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03140" y="4807473"/>
            <a:ext cx="408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solidFill>
                  <a:srgbClr val="C00000"/>
                </a:solidFill>
                <a:latin typeface="Calibri"/>
                <a:cs typeface="Calibri"/>
              </a:rPr>
              <a:t>Fast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239000" y="2465082"/>
            <a:ext cx="3331210" cy="1714500"/>
            <a:chOff x="7239000" y="2465082"/>
            <a:chExt cx="3331210" cy="1714500"/>
          </a:xfrm>
        </p:grpSpPr>
        <p:sp>
          <p:nvSpPr>
            <p:cNvPr id="18" name="object 18"/>
            <p:cNvSpPr/>
            <p:nvPr/>
          </p:nvSpPr>
          <p:spPr>
            <a:xfrm>
              <a:off x="7277100" y="2503182"/>
              <a:ext cx="3243580" cy="1506855"/>
            </a:xfrm>
            <a:custGeom>
              <a:avLst/>
              <a:gdLst/>
              <a:ahLst/>
              <a:cxnLst/>
              <a:rect l="l" t="t" r="r" b="b"/>
              <a:pathLst>
                <a:path w="3243579" h="1506854">
                  <a:moveTo>
                    <a:pt x="0" y="228587"/>
                  </a:moveTo>
                  <a:lnTo>
                    <a:pt x="32348" y="188432"/>
                  </a:lnTo>
                  <a:lnTo>
                    <a:pt x="71299" y="168704"/>
                  </a:lnTo>
                  <a:lnTo>
                    <a:pt x="124114" y="149395"/>
                  </a:lnTo>
                  <a:lnTo>
                    <a:pt x="189802" y="130645"/>
                  </a:lnTo>
                  <a:lnTo>
                    <a:pt x="227164" y="121522"/>
                  </a:lnTo>
                  <a:lnTo>
                    <a:pt x="267373" y="112592"/>
                  </a:lnTo>
                  <a:lnTo>
                    <a:pt x="310305" y="103871"/>
                  </a:lnTo>
                  <a:lnTo>
                    <a:pt x="355837" y="95377"/>
                  </a:lnTo>
                  <a:lnTo>
                    <a:pt x="403845" y="87127"/>
                  </a:lnTo>
                  <a:lnTo>
                    <a:pt x="454204" y="79139"/>
                  </a:lnTo>
                  <a:lnTo>
                    <a:pt x="506791" y="71431"/>
                  </a:lnTo>
                  <a:lnTo>
                    <a:pt x="561483" y="64018"/>
                  </a:lnTo>
                  <a:lnTo>
                    <a:pt x="618155" y="56920"/>
                  </a:lnTo>
                  <a:lnTo>
                    <a:pt x="676684" y="50154"/>
                  </a:lnTo>
                  <a:lnTo>
                    <a:pt x="736946" y="43736"/>
                  </a:lnTo>
                  <a:lnTo>
                    <a:pt x="798817" y="37685"/>
                  </a:lnTo>
                  <a:lnTo>
                    <a:pt x="862174" y="32017"/>
                  </a:lnTo>
                  <a:lnTo>
                    <a:pt x="926892" y="26751"/>
                  </a:lnTo>
                  <a:lnTo>
                    <a:pt x="992848" y="21904"/>
                  </a:lnTo>
                  <a:lnTo>
                    <a:pt x="1059917" y="17493"/>
                  </a:lnTo>
                  <a:lnTo>
                    <a:pt x="1127977" y="13535"/>
                  </a:lnTo>
                  <a:lnTo>
                    <a:pt x="1196904" y="10049"/>
                  </a:lnTo>
                  <a:lnTo>
                    <a:pt x="1266573" y="7051"/>
                  </a:lnTo>
                  <a:lnTo>
                    <a:pt x="1336861" y="4559"/>
                  </a:lnTo>
                  <a:lnTo>
                    <a:pt x="1407644" y="2590"/>
                  </a:lnTo>
                  <a:lnTo>
                    <a:pt x="1478799" y="1163"/>
                  </a:lnTo>
                  <a:lnTo>
                    <a:pt x="1550200" y="293"/>
                  </a:lnTo>
                  <a:lnTo>
                    <a:pt x="1621726" y="0"/>
                  </a:lnTo>
                  <a:lnTo>
                    <a:pt x="1679634" y="707"/>
                  </a:lnTo>
                  <a:lnTo>
                    <a:pt x="1737477" y="2805"/>
                  </a:lnTo>
                  <a:lnTo>
                    <a:pt x="1795188" y="6261"/>
                  </a:lnTo>
                  <a:lnTo>
                    <a:pt x="1852703" y="11041"/>
                  </a:lnTo>
                  <a:lnTo>
                    <a:pt x="1909954" y="17111"/>
                  </a:lnTo>
                  <a:lnTo>
                    <a:pt x="1966877" y="24436"/>
                  </a:lnTo>
                  <a:lnTo>
                    <a:pt x="2023407" y="32983"/>
                  </a:lnTo>
                  <a:lnTo>
                    <a:pt x="2079476" y="42718"/>
                  </a:lnTo>
                  <a:lnTo>
                    <a:pt x="2135021" y="53607"/>
                  </a:lnTo>
                  <a:lnTo>
                    <a:pt x="2189974" y="65616"/>
                  </a:lnTo>
                  <a:lnTo>
                    <a:pt x="2244270" y="78712"/>
                  </a:lnTo>
                  <a:lnTo>
                    <a:pt x="2297845" y="92859"/>
                  </a:lnTo>
                  <a:lnTo>
                    <a:pt x="2350631" y="108024"/>
                  </a:lnTo>
                  <a:lnTo>
                    <a:pt x="2402563" y="124174"/>
                  </a:lnTo>
                  <a:lnTo>
                    <a:pt x="2453577" y="141274"/>
                  </a:lnTo>
                  <a:lnTo>
                    <a:pt x="2503605" y="159290"/>
                  </a:lnTo>
                  <a:lnTo>
                    <a:pt x="2552582" y="178189"/>
                  </a:lnTo>
                  <a:lnTo>
                    <a:pt x="2600443" y="197937"/>
                  </a:lnTo>
                  <a:lnTo>
                    <a:pt x="2647122" y="218499"/>
                  </a:lnTo>
                  <a:lnTo>
                    <a:pt x="2692554" y="239841"/>
                  </a:lnTo>
                  <a:lnTo>
                    <a:pt x="2736672" y="261931"/>
                  </a:lnTo>
                  <a:lnTo>
                    <a:pt x="2779411" y="284733"/>
                  </a:lnTo>
                  <a:lnTo>
                    <a:pt x="2820705" y="308214"/>
                  </a:lnTo>
                  <a:lnTo>
                    <a:pt x="2860489" y="332339"/>
                  </a:lnTo>
                  <a:lnTo>
                    <a:pt x="2898697" y="357076"/>
                  </a:lnTo>
                  <a:lnTo>
                    <a:pt x="2935263" y="382390"/>
                  </a:lnTo>
                  <a:lnTo>
                    <a:pt x="2970122" y="408246"/>
                  </a:lnTo>
                  <a:lnTo>
                    <a:pt x="3003208" y="434612"/>
                  </a:lnTo>
                  <a:lnTo>
                    <a:pt x="3034455" y="461453"/>
                  </a:lnTo>
                  <a:lnTo>
                    <a:pt x="3063797" y="488736"/>
                  </a:lnTo>
                  <a:lnTo>
                    <a:pt x="3091170" y="516425"/>
                  </a:lnTo>
                  <a:lnTo>
                    <a:pt x="3139742" y="572891"/>
                  </a:lnTo>
                  <a:lnTo>
                    <a:pt x="3179647" y="630578"/>
                  </a:lnTo>
                  <a:lnTo>
                    <a:pt x="3210358" y="689216"/>
                  </a:lnTo>
                  <a:lnTo>
                    <a:pt x="3231349" y="748533"/>
                  </a:lnTo>
                  <a:lnTo>
                    <a:pt x="3242097" y="808257"/>
                  </a:lnTo>
                  <a:lnTo>
                    <a:pt x="3243465" y="838187"/>
                  </a:lnTo>
                  <a:lnTo>
                    <a:pt x="3242960" y="896754"/>
                  </a:lnTo>
                  <a:lnTo>
                    <a:pt x="3241477" y="955066"/>
                  </a:lnTo>
                  <a:lnTo>
                    <a:pt x="3239063" y="1012869"/>
                  </a:lnTo>
                  <a:lnTo>
                    <a:pt x="3235766" y="1069908"/>
                  </a:lnTo>
                  <a:lnTo>
                    <a:pt x="3231635" y="1125928"/>
                  </a:lnTo>
                  <a:lnTo>
                    <a:pt x="3226718" y="1180674"/>
                  </a:lnTo>
                  <a:lnTo>
                    <a:pt x="3221061" y="1233892"/>
                  </a:lnTo>
                  <a:lnTo>
                    <a:pt x="3214713" y="1285327"/>
                  </a:lnTo>
                  <a:lnTo>
                    <a:pt x="3207723" y="1334724"/>
                  </a:lnTo>
                  <a:lnTo>
                    <a:pt x="3200137" y="1381829"/>
                  </a:lnTo>
                  <a:lnTo>
                    <a:pt x="3192004" y="1426387"/>
                  </a:lnTo>
                  <a:lnTo>
                    <a:pt x="3183372" y="1468143"/>
                  </a:lnTo>
                  <a:lnTo>
                    <a:pt x="3174288" y="1506842"/>
                  </a:lnTo>
                </a:path>
              </a:pathLst>
            </a:custGeom>
            <a:ln w="762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363198" y="3924019"/>
              <a:ext cx="207010" cy="255904"/>
            </a:xfrm>
            <a:custGeom>
              <a:avLst/>
              <a:gdLst/>
              <a:ahLst/>
              <a:cxnLst/>
              <a:rect l="l" t="t" r="r" b="b"/>
              <a:pathLst>
                <a:path w="207009" h="255904">
                  <a:moveTo>
                    <a:pt x="4076" y="0"/>
                  </a:moveTo>
                  <a:lnTo>
                    <a:pt x="0" y="255549"/>
                  </a:lnTo>
                  <a:lnTo>
                    <a:pt x="206883" y="105486"/>
                  </a:lnTo>
                  <a:lnTo>
                    <a:pt x="407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222740" y="2750074"/>
            <a:ext cx="408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solidFill>
                  <a:srgbClr val="C00000"/>
                </a:solidFill>
                <a:latin typeface="Calibri"/>
                <a:cs typeface="Calibri"/>
              </a:rPr>
              <a:t>Fast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75029" y="2411398"/>
            <a:ext cx="5259705" cy="3297554"/>
            <a:chOff x="975029" y="2411398"/>
            <a:chExt cx="5259705" cy="3297554"/>
          </a:xfrm>
        </p:grpSpPr>
        <p:sp>
          <p:nvSpPr>
            <p:cNvPr id="22" name="object 22"/>
            <p:cNvSpPr/>
            <p:nvPr/>
          </p:nvSpPr>
          <p:spPr>
            <a:xfrm>
              <a:off x="1013129" y="4751070"/>
              <a:ext cx="1096645" cy="919480"/>
            </a:xfrm>
            <a:custGeom>
              <a:avLst/>
              <a:gdLst/>
              <a:ahLst/>
              <a:cxnLst/>
              <a:rect l="l" t="t" r="r" b="b"/>
              <a:pathLst>
                <a:path w="1096645" h="919479">
                  <a:moveTo>
                    <a:pt x="968070" y="0"/>
                  </a:moveTo>
                  <a:lnTo>
                    <a:pt x="910016" y="1088"/>
                  </a:lnTo>
                  <a:lnTo>
                    <a:pt x="852149" y="4295"/>
                  </a:lnTo>
                  <a:lnTo>
                    <a:pt x="794653" y="9532"/>
                  </a:lnTo>
                  <a:lnTo>
                    <a:pt x="737715" y="16710"/>
                  </a:lnTo>
                  <a:lnTo>
                    <a:pt x="681521" y="25742"/>
                  </a:lnTo>
                  <a:lnTo>
                    <a:pt x="626256" y="36539"/>
                  </a:lnTo>
                  <a:lnTo>
                    <a:pt x="572106" y="49013"/>
                  </a:lnTo>
                  <a:lnTo>
                    <a:pt x="519257" y="63076"/>
                  </a:lnTo>
                  <a:lnTo>
                    <a:pt x="467895" y="78639"/>
                  </a:lnTo>
                  <a:lnTo>
                    <a:pt x="418206" y="95615"/>
                  </a:lnTo>
                  <a:lnTo>
                    <a:pt x="370375" y="113914"/>
                  </a:lnTo>
                  <a:lnTo>
                    <a:pt x="324590" y="133449"/>
                  </a:lnTo>
                  <a:lnTo>
                    <a:pt x="281034" y="154131"/>
                  </a:lnTo>
                  <a:lnTo>
                    <a:pt x="239895" y="175873"/>
                  </a:lnTo>
                  <a:lnTo>
                    <a:pt x="201358" y="198585"/>
                  </a:lnTo>
                  <a:lnTo>
                    <a:pt x="165609" y="222180"/>
                  </a:lnTo>
                  <a:lnTo>
                    <a:pt x="132834" y="246569"/>
                  </a:lnTo>
                  <a:lnTo>
                    <a:pt x="103219" y="271665"/>
                  </a:lnTo>
                  <a:lnTo>
                    <a:pt x="54211" y="323621"/>
                  </a:lnTo>
                  <a:lnTo>
                    <a:pt x="20073" y="377342"/>
                  </a:lnTo>
                  <a:lnTo>
                    <a:pt x="2292" y="432122"/>
                  </a:lnTo>
                  <a:lnTo>
                    <a:pt x="0" y="459689"/>
                  </a:lnTo>
                  <a:lnTo>
                    <a:pt x="2850" y="500203"/>
                  </a:lnTo>
                  <a:lnTo>
                    <a:pt x="11174" y="540436"/>
                  </a:lnTo>
                  <a:lnTo>
                    <a:pt x="24630" y="580107"/>
                  </a:lnTo>
                  <a:lnTo>
                    <a:pt x="42874" y="618936"/>
                  </a:lnTo>
                  <a:lnTo>
                    <a:pt x="65566" y="656642"/>
                  </a:lnTo>
                  <a:lnTo>
                    <a:pt x="92363" y="692945"/>
                  </a:lnTo>
                  <a:lnTo>
                    <a:pt x="122923" y="727563"/>
                  </a:lnTo>
                  <a:lnTo>
                    <a:pt x="156904" y="760217"/>
                  </a:lnTo>
                  <a:lnTo>
                    <a:pt x="193964" y="790624"/>
                  </a:lnTo>
                  <a:lnTo>
                    <a:pt x="233761" y="818506"/>
                  </a:lnTo>
                  <a:lnTo>
                    <a:pt x="275952" y="843580"/>
                  </a:lnTo>
                  <a:lnTo>
                    <a:pt x="320196" y="865567"/>
                  </a:lnTo>
                  <a:lnTo>
                    <a:pt x="366151" y="884186"/>
                  </a:lnTo>
                  <a:lnTo>
                    <a:pt x="413474" y="899156"/>
                  </a:lnTo>
                  <a:lnTo>
                    <a:pt x="461824" y="910196"/>
                  </a:lnTo>
                  <a:lnTo>
                    <a:pt x="510858" y="917026"/>
                  </a:lnTo>
                  <a:lnTo>
                    <a:pt x="560235" y="919365"/>
                  </a:lnTo>
                  <a:lnTo>
                    <a:pt x="600985" y="916832"/>
                  </a:lnTo>
                  <a:lnTo>
                    <a:pt x="641543" y="909399"/>
                  </a:lnTo>
                  <a:lnTo>
                    <a:pt x="681717" y="897316"/>
                  </a:lnTo>
                  <a:lnTo>
                    <a:pt x="721315" y="880833"/>
                  </a:lnTo>
                  <a:lnTo>
                    <a:pt x="760144" y="860200"/>
                  </a:lnTo>
                  <a:lnTo>
                    <a:pt x="798012" y="835667"/>
                  </a:lnTo>
                  <a:lnTo>
                    <a:pt x="834728" y="807484"/>
                  </a:lnTo>
                  <a:lnTo>
                    <a:pt x="870099" y="775901"/>
                  </a:lnTo>
                  <a:lnTo>
                    <a:pt x="903933" y="741167"/>
                  </a:lnTo>
                  <a:lnTo>
                    <a:pt x="936039" y="703532"/>
                  </a:lnTo>
                  <a:lnTo>
                    <a:pt x="966223" y="663247"/>
                  </a:lnTo>
                  <a:lnTo>
                    <a:pt x="994295" y="620561"/>
                  </a:lnTo>
                  <a:lnTo>
                    <a:pt x="1020062" y="575725"/>
                  </a:lnTo>
                  <a:lnTo>
                    <a:pt x="1043332" y="528987"/>
                  </a:lnTo>
                  <a:lnTo>
                    <a:pt x="1063912" y="480599"/>
                  </a:lnTo>
                  <a:lnTo>
                    <a:pt x="1081612" y="430810"/>
                  </a:lnTo>
                  <a:lnTo>
                    <a:pt x="1096238" y="379869"/>
                  </a:lnTo>
                </a:path>
              </a:pathLst>
            </a:custGeom>
            <a:ln w="76200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91197" y="4941576"/>
              <a:ext cx="227329" cy="241300"/>
            </a:xfrm>
            <a:custGeom>
              <a:avLst/>
              <a:gdLst/>
              <a:ahLst/>
              <a:cxnLst/>
              <a:rect l="l" t="t" r="r" b="b"/>
              <a:pathLst>
                <a:path w="227330" h="241300">
                  <a:moveTo>
                    <a:pt x="142405" y="0"/>
                  </a:moveTo>
                  <a:lnTo>
                    <a:pt x="0" y="212229"/>
                  </a:lnTo>
                  <a:lnTo>
                    <a:pt x="226745" y="241261"/>
                  </a:lnTo>
                  <a:lnTo>
                    <a:pt x="142405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54019" y="3569969"/>
              <a:ext cx="2590165" cy="268605"/>
            </a:xfrm>
            <a:custGeom>
              <a:avLst/>
              <a:gdLst/>
              <a:ahLst/>
              <a:cxnLst/>
              <a:rect l="l" t="t" r="r" b="b"/>
              <a:pathLst>
                <a:path w="2590165" h="268604">
                  <a:moveTo>
                    <a:pt x="2589580" y="0"/>
                  </a:moveTo>
                  <a:lnTo>
                    <a:pt x="2526281" y="134"/>
                  </a:lnTo>
                  <a:lnTo>
                    <a:pt x="2463011" y="535"/>
                  </a:lnTo>
                  <a:lnTo>
                    <a:pt x="2399801" y="1198"/>
                  </a:lnTo>
                  <a:lnTo>
                    <a:pt x="2336681" y="2119"/>
                  </a:lnTo>
                  <a:lnTo>
                    <a:pt x="2273681" y="3294"/>
                  </a:lnTo>
                  <a:lnTo>
                    <a:pt x="2210831" y="4719"/>
                  </a:lnTo>
                  <a:lnTo>
                    <a:pt x="2148160" y="6390"/>
                  </a:lnTo>
                  <a:lnTo>
                    <a:pt x="2085700" y="8301"/>
                  </a:lnTo>
                  <a:lnTo>
                    <a:pt x="2023479" y="10450"/>
                  </a:lnTo>
                  <a:lnTo>
                    <a:pt x="1961527" y="12832"/>
                  </a:lnTo>
                  <a:lnTo>
                    <a:pt x="1899876" y="15443"/>
                  </a:lnTo>
                  <a:lnTo>
                    <a:pt x="1838554" y="18279"/>
                  </a:lnTo>
                  <a:lnTo>
                    <a:pt x="1777591" y="21336"/>
                  </a:lnTo>
                  <a:lnTo>
                    <a:pt x="1717018" y="24608"/>
                  </a:lnTo>
                  <a:lnTo>
                    <a:pt x="1656865" y="28093"/>
                  </a:lnTo>
                  <a:lnTo>
                    <a:pt x="1597161" y="31786"/>
                  </a:lnTo>
                  <a:lnTo>
                    <a:pt x="1537937" y="35683"/>
                  </a:lnTo>
                  <a:lnTo>
                    <a:pt x="1479222" y="39780"/>
                  </a:lnTo>
                  <a:lnTo>
                    <a:pt x="1421046" y="44073"/>
                  </a:lnTo>
                  <a:lnTo>
                    <a:pt x="1363440" y="48557"/>
                  </a:lnTo>
                  <a:lnTo>
                    <a:pt x="1306433" y="53228"/>
                  </a:lnTo>
                  <a:lnTo>
                    <a:pt x="1250056" y="58082"/>
                  </a:lnTo>
                  <a:lnTo>
                    <a:pt x="1194337" y="63115"/>
                  </a:lnTo>
                  <a:lnTo>
                    <a:pt x="1139308" y="68324"/>
                  </a:lnTo>
                  <a:lnTo>
                    <a:pt x="1084999" y="73702"/>
                  </a:lnTo>
                  <a:lnTo>
                    <a:pt x="1031438" y="79247"/>
                  </a:lnTo>
                  <a:lnTo>
                    <a:pt x="978656" y="84955"/>
                  </a:lnTo>
                  <a:lnTo>
                    <a:pt x="926684" y="90821"/>
                  </a:lnTo>
                  <a:lnTo>
                    <a:pt x="875551" y="96840"/>
                  </a:lnTo>
                  <a:lnTo>
                    <a:pt x="825287" y="103010"/>
                  </a:lnTo>
                  <a:lnTo>
                    <a:pt x="775921" y="109325"/>
                  </a:lnTo>
                  <a:lnTo>
                    <a:pt x="727485" y="115782"/>
                  </a:lnTo>
                  <a:lnTo>
                    <a:pt x="680008" y="122376"/>
                  </a:lnTo>
                  <a:lnTo>
                    <a:pt x="633519" y="129103"/>
                  </a:lnTo>
                  <a:lnTo>
                    <a:pt x="588050" y="135959"/>
                  </a:lnTo>
                  <a:lnTo>
                    <a:pt x="543629" y="142941"/>
                  </a:lnTo>
                  <a:lnTo>
                    <a:pt x="500288" y="150042"/>
                  </a:lnTo>
                  <a:lnTo>
                    <a:pt x="458055" y="157261"/>
                  </a:lnTo>
                  <a:lnTo>
                    <a:pt x="416961" y="164591"/>
                  </a:lnTo>
                  <a:lnTo>
                    <a:pt x="377035" y="172030"/>
                  </a:lnTo>
                  <a:lnTo>
                    <a:pt x="338308" y="179573"/>
                  </a:lnTo>
                  <a:lnTo>
                    <a:pt x="300810" y="187216"/>
                  </a:lnTo>
                  <a:lnTo>
                    <a:pt x="229620" y="202785"/>
                  </a:lnTo>
                  <a:lnTo>
                    <a:pt x="163704" y="218704"/>
                  </a:lnTo>
                  <a:lnTo>
                    <a:pt x="103302" y="234938"/>
                  </a:lnTo>
                  <a:lnTo>
                    <a:pt x="48654" y="251456"/>
                  </a:lnTo>
                  <a:lnTo>
                    <a:pt x="23563" y="259811"/>
                  </a:lnTo>
                  <a:lnTo>
                    <a:pt x="0" y="268224"/>
                  </a:lnTo>
                </a:path>
              </a:pathLst>
            </a:custGeom>
            <a:ln w="76200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397" y="3723546"/>
              <a:ext cx="252095" cy="227965"/>
            </a:xfrm>
            <a:custGeom>
              <a:avLst/>
              <a:gdLst/>
              <a:ahLst/>
              <a:cxnLst/>
              <a:rect l="l" t="t" r="r" b="b"/>
              <a:pathLst>
                <a:path w="252095" h="227964">
                  <a:moveTo>
                    <a:pt x="116624" y="0"/>
                  </a:moveTo>
                  <a:lnTo>
                    <a:pt x="0" y="227418"/>
                  </a:lnTo>
                  <a:lnTo>
                    <a:pt x="251917" y="184264"/>
                  </a:lnTo>
                  <a:lnTo>
                    <a:pt x="11662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14729" y="2449498"/>
              <a:ext cx="908050" cy="1120775"/>
            </a:xfrm>
            <a:custGeom>
              <a:avLst/>
              <a:gdLst/>
              <a:ahLst/>
              <a:cxnLst/>
              <a:rect l="l" t="t" r="r" b="b"/>
              <a:pathLst>
                <a:path w="908050" h="1120775">
                  <a:moveTo>
                    <a:pt x="907884" y="777506"/>
                  </a:moveTo>
                  <a:lnTo>
                    <a:pt x="899398" y="715983"/>
                  </a:lnTo>
                  <a:lnTo>
                    <a:pt x="888769" y="655419"/>
                  </a:lnTo>
                  <a:lnTo>
                    <a:pt x="876111" y="596053"/>
                  </a:lnTo>
                  <a:lnTo>
                    <a:pt x="861537" y="538120"/>
                  </a:lnTo>
                  <a:lnTo>
                    <a:pt x="845158" y="481860"/>
                  </a:lnTo>
                  <a:lnTo>
                    <a:pt x="827089" y="427508"/>
                  </a:lnTo>
                  <a:lnTo>
                    <a:pt x="807441" y="375304"/>
                  </a:lnTo>
                  <a:lnTo>
                    <a:pt x="786328" y="325483"/>
                  </a:lnTo>
                  <a:lnTo>
                    <a:pt x="763862" y="278284"/>
                  </a:lnTo>
                  <a:lnTo>
                    <a:pt x="740155" y="233943"/>
                  </a:lnTo>
                  <a:lnTo>
                    <a:pt x="715322" y="192699"/>
                  </a:lnTo>
                  <a:lnTo>
                    <a:pt x="689474" y="154788"/>
                  </a:lnTo>
                  <a:lnTo>
                    <a:pt x="662723" y="120448"/>
                  </a:lnTo>
                  <a:lnTo>
                    <a:pt x="635184" y="89917"/>
                  </a:lnTo>
                  <a:lnTo>
                    <a:pt x="606968" y="63431"/>
                  </a:lnTo>
                  <a:lnTo>
                    <a:pt x="548958" y="23547"/>
                  </a:lnTo>
                  <a:lnTo>
                    <a:pt x="489596" y="2695"/>
                  </a:lnTo>
                  <a:lnTo>
                    <a:pt x="459689" y="0"/>
                  </a:lnTo>
                  <a:lnTo>
                    <a:pt x="419175" y="2850"/>
                  </a:lnTo>
                  <a:lnTo>
                    <a:pt x="378941" y="11175"/>
                  </a:lnTo>
                  <a:lnTo>
                    <a:pt x="339269" y="24631"/>
                  </a:lnTo>
                  <a:lnTo>
                    <a:pt x="300440" y="42876"/>
                  </a:lnTo>
                  <a:lnTo>
                    <a:pt x="262733" y="65569"/>
                  </a:lnTo>
                  <a:lnTo>
                    <a:pt x="226429" y="92366"/>
                  </a:lnTo>
                  <a:lnTo>
                    <a:pt x="191810" y="122927"/>
                  </a:lnTo>
                  <a:lnTo>
                    <a:pt x="159155" y="156909"/>
                  </a:lnTo>
                  <a:lnTo>
                    <a:pt x="128746" y="193969"/>
                  </a:lnTo>
                  <a:lnTo>
                    <a:pt x="100864" y="233766"/>
                  </a:lnTo>
                  <a:lnTo>
                    <a:pt x="75788" y="275958"/>
                  </a:lnTo>
                  <a:lnTo>
                    <a:pt x="53800" y="320202"/>
                  </a:lnTo>
                  <a:lnTo>
                    <a:pt x="35180" y="366156"/>
                  </a:lnTo>
                  <a:lnTo>
                    <a:pt x="20210" y="413479"/>
                  </a:lnTo>
                  <a:lnTo>
                    <a:pt x="9169" y="461827"/>
                  </a:lnTo>
                  <a:lnTo>
                    <a:pt x="2339" y="510860"/>
                  </a:lnTo>
                  <a:lnTo>
                    <a:pt x="0" y="560235"/>
                  </a:lnTo>
                  <a:lnTo>
                    <a:pt x="2224" y="598407"/>
                  </a:lnTo>
                  <a:lnTo>
                    <a:pt x="8761" y="636421"/>
                  </a:lnTo>
                  <a:lnTo>
                    <a:pt x="19406" y="674120"/>
                  </a:lnTo>
                  <a:lnTo>
                    <a:pt x="33952" y="711345"/>
                  </a:lnTo>
                  <a:lnTo>
                    <a:pt x="52194" y="747938"/>
                  </a:lnTo>
                  <a:lnTo>
                    <a:pt x="73928" y="783742"/>
                  </a:lnTo>
                  <a:lnTo>
                    <a:pt x="98947" y="818599"/>
                  </a:lnTo>
                  <a:lnTo>
                    <a:pt x="127046" y="852351"/>
                  </a:lnTo>
                  <a:lnTo>
                    <a:pt x="158020" y="884840"/>
                  </a:lnTo>
                  <a:lnTo>
                    <a:pt x="191664" y="915909"/>
                  </a:lnTo>
                  <a:lnTo>
                    <a:pt x="227772" y="945399"/>
                  </a:lnTo>
                  <a:lnTo>
                    <a:pt x="266139" y="973152"/>
                  </a:lnTo>
                  <a:lnTo>
                    <a:pt x="306560" y="999012"/>
                  </a:lnTo>
                  <a:lnTo>
                    <a:pt x="348828" y="1022820"/>
                  </a:lnTo>
                  <a:lnTo>
                    <a:pt x="392740" y="1044417"/>
                  </a:lnTo>
                  <a:lnTo>
                    <a:pt x="438088" y="1063647"/>
                  </a:lnTo>
                  <a:lnTo>
                    <a:pt x="484669" y="1080352"/>
                  </a:lnTo>
                  <a:lnTo>
                    <a:pt x="532276" y="1094374"/>
                  </a:lnTo>
                  <a:lnTo>
                    <a:pt x="580705" y="1105554"/>
                  </a:lnTo>
                  <a:lnTo>
                    <a:pt x="629750" y="1113735"/>
                  </a:lnTo>
                  <a:lnTo>
                    <a:pt x="679205" y="1118760"/>
                  </a:lnTo>
                  <a:lnTo>
                    <a:pt x="728865" y="1120470"/>
                  </a:lnTo>
                </a:path>
              </a:pathLst>
            </a:custGeom>
            <a:ln w="76199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06269" y="3182512"/>
              <a:ext cx="228600" cy="235585"/>
            </a:xfrm>
            <a:custGeom>
              <a:avLst/>
              <a:gdLst/>
              <a:ahLst/>
              <a:cxnLst/>
              <a:rect l="l" t="t" r="r" b="b"/>
              <a:pathLst>
                <a:path w="228600" h="235585">
                  <a:moveTo>
                    <a:pt x="228180" y="0"/>
                  </a:moveTo>
                  <a:lnTo>
                    <a:pt x="0" y="13741"/>
                  </a:lnTo>
                  <a:lnTo>
                    <a:pt x="127825" y="235051"/>
                  </a:lnTo>
                  <a:lnTo>
                    <a:pt x="22818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69339" y="4350273"/>
            <a:ext cx="4610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solidFill>
                  <a:srgbClr val="2D2D8A"/>
                </a:solidFill>
                <a:latin typeface="Calibri"/>
                <a:cs typeface="Calibri"/>
              </a:rPr>
              <a:t>Slow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74463" y="3131149"/>
            <a:ext cx="4610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solidFill>
                  <a:srgbClr val="2D2D8A"/>
                </a:solidFill>
                <a:latin typeface="Calibri"/>
                <a:cs typeface="Calibri"/>
              </a:rPr>
              <a:t>Slow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50740" y="3664473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2D8A"/>
                </a:solidFill>
                <a:latin typeface="Calibri"/>
                <a:cs typeface="Calibri"/>
              </a:rPr>
              <a:t>0.5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79340" y="2304531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2D8A"/>
                </a:solidFill>
                <a:latin typeface="Calibri"/>
                <a:cs typeface="Calibri"/>
              </a:rPr>
              <a:t>0.5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03216" y="5352455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0.5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7016" y="5645749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2D8A"/>
                </a:solidFill>
                <a:latin typeface="Calibri"/>
                <a:cs typeface="Calibri"/>
              </a:rPr>
              <a:t>1.0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289616" y="2597825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1.0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83892" y="5505160"/>
            <a:ext cx="25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B050"/>
                </a:solidFill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60444" y="3306942"/>
            <a:ext cx="25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B050"/>
                </a:solidFill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22797" y="2304760"/>
            <a:ext cx="25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B050"/>
                </a:solidFill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27549" y="5897895"/>
            <a:ext cx="25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B050"/>
                </a:solidFill>
                <a:latin typeface="Calibri"/>
                <a:cs typeface="Calibri"/>
              </a:rPr>
              <a:t>+2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46216" y="4807473"/>
            <a:ext cx="865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2300" algn="l"/>
              </a:tabLst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0.5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00B050"/>
                </a:solidFill>
                <a:latin typeface="Calibri"/>
                <a:cs typeface="Calibri"/>
              </a:rPr>
              <a:t>+2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747502" y="3143036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-</a:t>
            </a:r>
            <a:r>
              <a:rPr sz="1800" spc="-25" dirty="0">
                <a:solidFill>
                  <a:srgbClr val="00B050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2050">
              <a:lnSpc>
                <a:spcPct val="100000"/>
              </a:lnSpc>
              <a:spcBef>
                <a:spcPts val="95"/>
              </a:spcBef>
            </a:pPr>
            <a:r>
              <a:rPr dirty="0"/>
              <a:t>Racing</a:t>
            </a:r>
            <a:r>
              <a:rPr spc="-105" dirty="0"/>
              <a:t> </a:t>
            </a:r>
            <a:r>
              <a:rPr dirty="0"/>
              <a:t>Search</a:t>
            </a:r>
            <a:r>
              <a:rPr spc="-114" dirty="0"/>
              <a:t> </a:t>
            </a:r>
            <a:r>
              <a:rPr spc="-20" dirty="0"/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7498" y="1353529"/>
            <a:ext cx="686722" cy="47334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554982" y="1899666"/>
            <a:ext cx="8919210" cy="1760220"/>
            <a:chOff x="1554982" y="1899666"/>
            <a:chExt cx="8919210" cy="17602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7735" y="3186471"/>
              <a:ext cx="736279" cy="4732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1269" y="22101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800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71269" y="22101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91069" y="22101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800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91069" y="22101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07888" y="1906143"/>
              <a:ext cx="2514600" cy="334010"/>
            </a:xfrm>
            <a:custGeom>
              <a:avLst/>
              <a:gdLst/>
              <a:ahLst/>
              <a:cxnLst/>
              <a:rect l="l" t="t" r="r" b="b"/>
              <a:pathLst>
                <a:path w="2514600" h="334010">
                  <a:moveTo>
                    <a:pt x="0" y="0"/>
                  </a:moveTo>
                  <a:lnTo>
                    <a:pt x="2514346" y="333717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01295" y="2175231"/>
              <a:ext cx="134620" cy="126364"/>
            </a:xfrm>
            <a:custGeom>
              <a:avLst/>
              <a:gdLst/>
              <a:ahLst/>
              <a:cxnLst/>
              <a:rect l="l" t="t" r="r" b="b"/>
              <a:pathLst>
                <a:path w="134620" h="126364">
                  <a:moveTo>
                    <a:pt x="16713" y="0"/>
                  </a:moveTo>
                  <a:lnTo>
                    <a:pt x="0" y="125895"/>
                  </a:lnTo>
                  <a:lnTo>
                    <a:pt x="134251" y="79667"/>
                  </a:lnTo>
                  <a:lnTo>
                    <a:pt x="1671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44729" y="1906143"/>
              <a:ext cx="3063240" cy="336550"/>
            </a:xfrm>
            <a:custGeom>
              <a:avLst/>
              <a:gdLst/>
              <a:ahLst/>
              <a:cxnLst/>
              <a:rect l="l" t="t" r="r" b="b"/>
              <a:pathLst>
                <a:path w="3063240" h="336550">
                  <a:moveTo>
                    <a:pt x="3062998" y="0"/>
                  </a:moveTo>
                  <a:lnTo>
                    <a:pt x="0" y="336283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31114" y="2177909"/>
              <a:ext cx="133350" cy="126364"/>
            </a:xfrm>
            <a:custGeom>
              <a:avLst/>
              <a:gdLst/>
              <a:ahLst/>
              <a:cxnLst/>
              <a:rect l="l" t="t" r="r" b="b"/>
              <a:pathLst>
                <a:path w="133350" h="126364">
                  <a:moveTo>
                    <a:pt x="119303" y="0"/>
                  </a:moveTo>
                  <a:lnTo>
                    <a:pt x="0" y="76987"/>
                  </a:lnTo>
                  <a:lnTo>
                    <a:pt x="133172" y="126238"/>
                  </a:lnTo>
                  <a:lnTo>
                    <a:pt x="119303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9782" y="3182329"/>
              <a:ext cx="687286" cy="47334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39757" y="2514981"/>
              <a:ext cx="1804035" cy="575310"/>
            </a:xfrm>
            <a:custGeom>
              <a:avLst/>
              <a:gdLst/>
              <a:ahLst/>
              <a:cxnLst/>
              <a:rect l="l" t="t" r="r" b="b"/>
              <a:pathLst>
                <a:path w="1804034" h="575310">
                  <a:moveTo>
                    <a:pt x="1803869" y="0"/>
                  </a:moveTo>
                  <a:lnTo>
                    <a:pt x="0" y="574890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0851" y="3025510"/>
              <a:ext cx="140335" cy="121285"/>
            </a:xfrm>
            <a:custGeom>
              <a:avLst/>
              <a:gdLst/>
              <a:ahLst/>
              <a:cxnLst/>
              <a:rect l="l" t="t" r="r" b="b"/>
              <a:pathLst>
                <a:path w="140335" h="121285">
                  <a:moveTo>
                    <a:pt x="101714" y="0"/>
                  </a:moveTo>
                  <a:lnTo>
                    <a:pt x="0" y="99072"/>
                  </a:lnTo>
                  <a:lnTo>
                    <a:pt x="140284" y="121005"/>
                  </a:lnTo>
                  <a:lnTo>
                    <a:pt x="10171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43469" y="2514981"/>
              <a:ext cx="2109470" cy="579755"/>
            </a:xfrm>
            <a:custGeom>
              <a:avLst/>
              <a:gdLst/>
              <a:ahLst/>
              <a:cxnLst/>
              <a:rect l="l" t="t" r="r" b="b"/>
              <a:pathLst>
                <a:path w="2109470" h="579755">
                  <a:moveTo>
                    <a:pt x="0" y="0"/>
                  </a:moveTo>
                  <a:lnTo>
                    <a:pt x="2108860" y="579323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023260" y="3029703"/>
              <a:ext cx="139700" cy="122555"/>
            </a:xfrm>
            <a:custGeom>
              <a:avLst/>
              <a:gdLst/>
              <a:ahLst/>
              <a:cxnLst/>
              <a:rect l="l" t="t" r="r" b="b"/>
              <a:pathLst>
                <a:path w="139700" h="122555">
                  <a:moveTo>
                    <a:pt x="33642" y="0"/>
                  </a:moveTo>
                  <a:lnTo>
                    <a:pt x="0" y="122466"/>
                  </a:lnTo>
                  <a:lnTo>
                    <a:pt x="139280" y="94881"/>
                  </a:lnTo>
                  <a:lnTo>
                    <a:pt x="3364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982" y="3181567"/>
              <a:ext cx="687286" cy="4733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17503" y="2514981"/>
              <a:ext cx="6350" cy="494665"/>
            </a:xfrm>
            <a:custGeom>
              <a:avLst/>
              <a:gdLst/>
              <a:ahLst/>
              <a:cxnLst/>
              <a:rect l="l" t="t" r="r" b="b"/>
              <a:pathLst>
                <a:path w="6350" h="494664">
                  <a:moveTo>
                    <a:pt x="6324" y="0"/>
                  </a:moveTo>
                  <a:lnTo>
                    <a:pt x="0" y="49462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54170" y="2996097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69">
                  <a:moveTo>
                    <a:pt x="0" y="0"/>
                  </a:moveTo>
                  <a:lnTo>
                    <a:pt x="61874" y="127800"/>
                  </a:lnTo>
                  <a:lnTo>
                    <a:pt x="126987" y="1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8232647" y="3757421"/>
            <a:ext cx="3576954" cy="1910714"/>
            <a:chOff x="8232647" y="3757421"/>
            <a:chExt cx="3576954" cy="1910714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4209" y="4941569"/>
              <a:ext cx="985265" cy="69722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4940" y="5028437"/>
              <a:ext cx="1014983" cy="63931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952356" y="411365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800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52355" y="411365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18516" y="3763898"/>
              <a:ext cx="844550" cy="351155"/>
            </a:xfrm>
            <a:custGeom>
              <a:avLst/>
              <a:gdLst/>
              <a:ahLst/>
              <a:cxnLst/>
              <a:rect l="l" t="t" r="r" b="b"/>
              <a:pathLst>
                <a:path w="844550" h="351154">
                  <a:moveTo>
                    <a:pt x="843991" y="0"/>
                  </a:moveTo>
                  <a:lnTo>
                    <a:pt x="0" y="350659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212958" y="4051047"/>
              <a:ext cx="142240" cy="117475"/>
            </a:xfrm>
            <a:custGeom>
              <a:avLst/>
              <a:gdLst/>
              <a:ahLst/>
              <a:cxnLst/>
              <a:rect l="l" t="t" r="r" b="b"/>
              <a:pathLst>
                <a:path w="142240" h="117475">
                  <a:moveTo>
                    <a:pt x="92913" y="0"/>
                  </a:moveTo>
                  <a:lnTo>
                    <a:pt x="0" y="107378"/>
                  </a:lnTo>
                  <a:lnTo>
                    <a:pt x="141643" y="117271"/>
                  </a:lnTo>
                  <a:lnTo>
                    <a:pt x="92913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32647" y="5028437"/>
              <a:ext cx="928877" cy="61036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761320" y="4418456"/>
              <a:ext cx="344170" cy="515620"/>
            </a:xfrm>
            <a:custGeom>
              <a:avLst/>
              <a:gdLst/>
              <a:ahLst/>
              <a:cxnLst/>
              <a:rect l="l" t="t" r="r" b="b"/>
              <a:pathLst>
                <a:path w="344170" h="515620">
                  <a:moveTo>
                    <a:pt x="344068" y="0"/>
                  </a:moveTo>
                  <a:lnTo>
                    <a:pt x="0" y="51522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97846" y="4887861"/>
              <a:ext cx="123825" cy="140970"/>
            </a:xfrm>
            <a:custGeom>
              <a:avLst/>
              <a:gdLst/>
              <a:ahLst/>
              <a:cxnLst/>
              <a:rect l="l" t="t" r="r" b="b"/>
              <a:pathLst>
                <a:path w="123825" h="140970">
                  <a:moveTo>
                    <a:pt x="17716" y="0"/>
                  </a:moveTo>
                  <a:lnTo>
                    <a:pt x="0" y="140881"/>
                  </a:lnTo>
                  <a:lnTo>
                    <a:pt x="123329" y="70523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104756" y="4418456"/>
              <a:ext cx="380365" cy="518159"/>
            </a:xfrm>
            <a:custGeom>
              <a:avLst/>
              <a:gdLst/>
              <a:ahLst/>
              <a:cxnLst/>
              <a:rect l="l" t="t" r="r" b="b"/>
              <a:pathLst>
                <a:path w="380365" h="518160">
                  <a:moveTo>
                    <a:pt x="0" y="0"/>
                  </a:moveTo>
                  <a:lnTo>
                    <a:pt x="380098" y="518121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426150" y="4888779"/>
              <a:ext cx="126364" cy="140335"/>
            </a:xfrm>
            <a:custGeom>
              <a:avLst/>
              <a:gdLst/>
              <a:ahLst/>
              <a:cxnLst/>
              <a:rect l="l" t="t" r="r" b="b"/>
              <a:pathLst>
                <a:path w="126365" h="140335">
                  <a:moveTo>
                    <a:pt x="102400" y="0"/>
                  </a:moveTo>
                  <a:lnTo>
                    <a:pt x="0" y="75120"/>
                  </a:lnTo>
                  <a:lnTo>
                    <a:pt x="126314" y="139966"/>
                  </a:lnTo>
                  <a:lnTo>
                    <a:pt x="10240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12024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12024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162412" y="3763898"/>
              <a:ext cx="896619" cy="353695"/>
            </a:xfrm>
            <a:custGeom>
              <a:avLst/>
              <a:gdLst/>
              <a:ahLst/>
              <a:cxnLst/>
              <a:rect l="l" t="t" r="r" b="b"/>
              <a:pathLst>
                <a:path w="896620" h="353695">
                  <a:moveTo>
                    <a:pt x="0" y="0"/>
                  </a:moveTo>
                  <a:lnTo>
                    <a:pt x="896289" y="353288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023596" y="4053451"/>
              <a:ext cx="141605" cy="118745"/>
            </a:xfrm>
            <a:custGeom>
              <a:avLst/>
              <a:gdLst/>
              <a:ahLst/>
              <a:cxnLst/>
              <a:rect l="l" t="t" r="r" b="b"/>
              <a:pathLst>
                <a:path w="141604" h="118745">
                  <a:moveTo>
                    <a:pt x="46583" y="0"/>
                  </a:moveTo>
                  <a:lnTo>
                    <a:pt x="0" y="118148"/>
                  </a:lnTo>
                  <a:lnTo>
                    <a:pt x="141439" y="105651"/>
                  </a:lnTo>
                  <a:lnTo>
                    <a:pt x="465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272646" y="4419218"/>
              <a:ext cx="6350" cy="494665"/>
            </a:xfrm>
            <a:custGeom>
              <a:avLst/>
              <a:gdLst/>
              <a:ahLst/>
              <a:cxnLst/>
              <a:rect l="l" t="t" r="r" b="b"/>
              <a:pathLst>
                <a:path w="6350" h="494664">
                  <a:moveTo>
                    <a:pt x="0" y="0"/>
                  </a:moveTo>
                  <a:lnTo>
                    <a:pt x="6324" y="494626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215316" y="4900335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64382" y="3727703"/>
            <a:ext cx="3323590" cy="1941195"/>
            <a:chOff x="564382" y="3727703"/>
            <a:chExt cx="3323590" cy="1941195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2740" y="5029199"/>
              <a:ext cx="1014983" cy="63931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64667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4667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8015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8015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16049" y="3734180"/>
              <a:ext cx="806450" cy="377190"/>
            </a:xfrm>
            <a:custGeom>
              <a:avLst/>
              <a:gdLst/>
              <a:ahLst/>
              <a:cxnLst/>
              <a:rect l="l" t="t" r="r" b="b"/>
              <a:pathLst>
                <a:path w="806450" h="377189">
                  <a:moveTo>
                    <a:pt x="0" y="0"/>
                  </a:moveTo>
                  <a:lnTo>
                    <a:pt x="805827" y="376567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683485" y="4047834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39" h="115570">
                  <a:moveTo>
                    <a:pt x="53771" y="0"/>
                  </a:moveTo>
                  <a:lnTo>
                    <a:pt x="0" y="115049"/>
                  </a:lnTo>
                  <a:lnTo>
                    <a:pt x="141935" y="111302"/>
                  </a:lnTo>
                  <a:lnTo>
                    <a:pt x="5377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28422" y="3734180"/>
              <a:ext cx="788035" cy="375920"/>
            </a:xfrm>
            <a:custGeom>
              <a:avLst/>
              <a:gdLst/>
              <a:ahLst/>
              <a:cxnLst/>
              <a:rect l="l" t="t" r="r" b="b"/>
              <a:pathLst>
                <a:path w="788035" h="375920">
                  <a:moveTo>
                    <a:pt x="787463" y="0"/>
                  </a:moveTo>
                  <a:lnTo>
                    <a:pt x="0" y="375729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25267" y="4047127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40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0447" y="5029199"/>
              <a:ext cx="928877" cy="61036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589121" y="4419218"/>
              <a:ext cx="344170" cy="515620"/>
            </a:xfrm>
            <a:custGeom>
              <a:avLst/>
              <a:gdLst/>
              <a:ahLst/>
              <a:cxnLst/>
              <a:rect l="l" t="t" r="r" b="b"/>
              <a:pathLst>
                <a:path w="344169" h="515620">
                  <a:moveTo>
                    <a:pt x="344068" y="0"/>
                  </a:moveTo>
                  <a:lnTo>
                    <a:pt x="0" y="515226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25646" y="4888623"/>
              <a:ext cx="123825" cy="140970"/>
            </a:xfrm>
            <a:custGeom>
              <a:avLst/>
              <a:gdLst/>
              <a:ahLst/>
              <a:cxnLst/>
              <a:rect l="l" t="t" r="r" b="b"/>
              <a:pathLst>
                <a:path w="123825" h="140970">
                  <a:moveTo>
                    <a:pt x="17716" y="0"/>
                  </a:moveTo>
                  <a:lnTo>
                    <a:pt x="0" y="140881"/>
                  </a:lnTo>
                  <a:lnTo>
                    <a:pt x="123329" y="70523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932556" y="4419218"/>
              <a:ext cx="380365" cy="518159"/>
            </a:xfrm>
            <a:custGeom>
              <a:avLst/>
              <a:gdLst/>
              <a:ahLst/>
              <a:cxnLst/>
              <a:rect l="l" t="t" r="r" b="b"/>
              <a:pathLst>
                <a:path w="380364" h="518160">
                  <a:moveTo>
                    <a:pt x="0" y="0"/>
                  </a:moveTo>
                  <a:lnTo>
                    <a:pt x="380098" y="51812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952" y="4889541"/>
              <a:ext cx="126364" cy="140335"/>
            </a:xfrm>
            <a:custGeom>
              <a:avLst/>
              <a:gdLst/>
              <a:ahLst/>
              <a:cxnLst/>
              <a:rect l="l" t="t" r="r" b="b"/>
              <a:pathLst>
                <a:path w="126364" h="140335">
                  <a:moveTo>
                    <a:pt x="102400" y="0"/>
                  </a:moveTo>
                  <a:lnTo>
                    <a:pt x="0" y="75120"/>
                  </a:lnTo>
                  <a:lnTo>
                    <a:pt x="126314" y="139966"/>
                  </a:lnTo>
                  <a:lnTo>
                    <a:pt x="10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382" y="5085805"/>
              <a:ext cx="687286" cy="47334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17067" y="4419218"/>
              <a:ext cx="6350" cy="494665"/>
            </a:xfrm>
            <a:custGeom>
              <a:avLst/>
              <a:gdLst/>
              <a:ahLst/>
              <a:cxnLst/>
              <a:rect l="l" t="t" r="r" b="b"/>
              <a:pathLst>
                <a:path w="6350" h="494664">
                  <a:moveTo>
                    <a:pt x="0" y="0"/>
                  </a:moveTo>
                  <a:lnTo>
                    <a:pt x="6324" y="49462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59736" y="4900335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851653" y="3727703"/>
            <a:ext cx="3150870" cy="1941195"/>
            <a:chOff x="4851653" y="3727703"/>
            <a:chExt cx="3150870" cy="1941195"/>
          </a:xfrm>
        </p:grpSpPr>
        <p:sp>
          <p:nvSpPr>
            <p:cNvPr id="59" name="object 59"/>
            <p:cNvSpPr/>
            <p:nvPr/>
          </p:nvSpPr>
          <p:spPr>
            <a:xfrm>
              <a:off x="486422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6422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27222" y="3734180"/>
              <a:ext cx="788035" cy="375920"/>
            </a:xfrm>
            <a:custGeom>
              <a:avLst/>
              <a:gdLst/>
              <a:ahLst/>
              <a:cxnLst/>
              <a:rect l="l" t="t" r="r" b="b"/>
              <a:pathLst>
                <a:path w="788035" h="375920">
                  <a:moveTo>
                    <a:pt x="787463" y="0"/>
                  </a:moveTo>
                  <a:lnTo>
                    <a:pt x="0" y="375729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24065" y="4047127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39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016626" y="4419218"/>
              <a:ext cx="6350" cy="494665"/>
            </a:xfrm>
            <a:custGeom>
              <a:avLst/>
              <a:gdLst/>
              <a:ahLst/>
              <a:cxnLst/>
              <a:rect l="l" t="t" r="r" b="b"/>
              <a:pathLst>
                <a:path w="6350" h="494664">
                  <a:moveTo>
                    <a:pt x="0" y="0"/>
                  </a:moveTo>
                  <a:lnTo>
                    <a:pt x="6324" y="49462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959296" y="4900335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87540" y="5029199"/>
              <a:ext cx="1014983" cy="63931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89495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89495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030848" y="3734942"/>
              <a:ext cx="805815" cy="376555"/>
            </a:xfrm>
            <a:custGeom>
              <a:avLst/>
              <a:gdLst/>
              <a:ahLst/>
              <a:cxnLst/>
              <a:rect l="l" t="t" r="r" b="b"/>
              <a:pathLst>
                <a:path w="805815" h="376554">
                  <a:moveTo>
                    <a:pt x="0" y="0"/>
                  </a:moveTo>
                  <a:lnTo>
                    <a:pt x="805802" y="375945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798293" y="4047964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40" h="115570">
                  <a:moveTo>
                    <a:pt x="53695" y="0"/>
                  </a:moveTo>
                  <a:lnTo>
                    <a:pt x="0" y="115087"/>
                  </a:lnTo>
                  <a:lnTo>
                    <a:pt x="141935" y="111239"/>
                  </a:lnTo>
                  <a:lnTo>
                    <a:pt x="536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5248" y="5029199"/>
              <a:ext cx="928877" cy="61036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703920" y="4419218"/>
              <a:ext cx="344170" cy="515620"/>
            </a:xfrm>
            <a:custGeom>
              <a:avLst/>
              <a:gdLst/>
              <a:ahLst/>
              <a:cxnLst/>
              <a:rect l="l" t="t" r="r" b="b"/>
              <a:pathLst>
                <a:path w="344170" h="515620">
                  <a:moveTo>
                    <a:pt x="344068" y="0"/>
                  </a:moveTo>
                  <a:lnTo>
                    <a:pt x="0" y="515226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640446" y="4888623"/>
              <a:ext cx="123825" cy="140970"/>
            </a:xfrm>
            <a:custGeom>
              <a:avLst/>
              <a:gdLst/>
              <a:ahLst/>
              <a:cxnLst/>
              <a:rect l="l" t="t" r="r" b="b"/>
              <a:pathLst>
                <a:path w="123825" h="140970">
                  <a:moveTo>
                    <a:pt x="17716" y="0"/>
                  </a:moveTo>
                  <a:lnTo>
                    <a:pt x="0" y="140881"/>
                  </a:lnTo>
                  <a:lnTo>
                    <a:pt x="123329" y="70523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047356" y="4419218"/>
              <a:ext cx="380365" cy="518159"/>
            </a:xfrm>
            <a:custGeom>
              <a:avLst/>
              <a:gdLst/>
              <a:ahLst/>
              <a:cxnLst/>
              <a:rect l="l" t="t" r="r" b="b"/>
              <a:pathLst>
                <a:path w="380365" h="518160">
                  <a:moveTo>
                    <a:pt x="0" y="0"/>
                  </a:moveTo>
                  <a:lnTo>
                    <a:pt x="380098" y="51812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368751" y="4889541"/>
              <a:ext cx="126364" cy="140335"/>
            </a:xfrm>
            <a:custGeom>
              <a:avLst/>
              <a:gdLst/>
              <a:ahLst/>
              <a:cxnLst/>
              <a:rect l="l" t="t" r="r" b="b"/>
              <a:pathLst>
                <a:path w="126365" h="140335">
                  <a:moveTo>
                    <a:pt x="102400" y="0"/>
                  </a:moveTo>
                  <a:lnTo>
                    <a:pt x="0" y="75120"/>
                  </a:lnTo>
                  <a:lnTo>
                    <a:pt x="126314" y="139966"/>
                  </a:lnTo>
                  <a:lnTo>
                    <a:pt x="10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5" name="object 7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3856" y="5085805"/>
            <a:ext cx="686722" cy="4733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13965">
              <a:lnSpc>
                <a:spcPct val="100000"/>
              </a:lnSpc>
              <a:spcBef>
                <a:spcPts val="95"/>
              </a:spcBef>
            </a:pPr>
            <a:r>
              <a:rPr dirty="0"/>
              <a:t>MDP</a:t>
            </a:r>
            <a:r>
              <a:rPr spc="-105" dirty="0"/>
              <a:t> </a:t>
            </a:r>
            <a:r>
              <a:rPr dirty="0"/>
              <a:t>Search</a:t>
            </a:r>
            <a:r>
              <a:rPr spc="-100" dirty="0"/>
              <a:t> </a:t>
            </a:r>
            <a:r>
              <a:rPr spc="-10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6" y="1278442"/>
            <a:ext cx="7229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MDP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projects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expectimax-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like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05575" y="2128901"/>
            <a:ext cx="4115435" cy="3362960"/>
            <a:chOff x="3505575" y="2128901"/>
            <a:chExt cx="4115435" cy="3362960"/>
          </a:xfrm>
        </p:grpSpPr>
        <p:sp>
          <p:nvSpPr>
            <p:cNvPr id="5" name="object 5"/>
            <p:cNvSpPr/>
            <p:nvPr/>
          </p:nvSpPr>
          <p:spPr>
            <a:xfrm>
              <a:off x="5486780" y="2133981"/>
              <a:ext cx="457200" cy="365125"/>
            </a:xfrm>
            <a:custGeom>
              <a:avLst/>
              <a:gdLst/>
              <a:ahLst/>
              <a:cxnLst/>
              <a:rect l="l" t="t" r="r" b="b"/>
              <a:pathLst>
                <a:path w="457200" h="365125">
                  <a:moveTo>
                    <a:pt x="228600" y="0"/>
                  </a:moveTo>
                  <a:lnTo>
                    <a:pt x="0" y="364998"/>
                  </a:lnTo>
                  <a:lnTo>
                    <a:pt x="457200" y="364998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8F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6780" y="2133981"/>
              <a:ext cx="457200" cy="365125"/>
            </a:xfrm>
            <a:custGeom>
              <a:avLst/>
              <a:gdLst/>
              <a:ahLst/>
              <a:cxnLst/>
              <a:rect l="l" t="t" r="r" b="b"/>
              <a:pathLst>
                <a:path w="457200" h="365125">
                  <a:moveTo>
                    <a:pt x="0" y="364998"/>
                  </a:moveTo>
                  <a:lnTo>
                    <a:pt x="228600" y="0"/>
                  </a:lnTo>
                  <a:lnTo>
                    <a:pt x="457200" y="364998"/>
                  </a:lnTo>
                  <a:lnTo>
                    <a:pt x="0" y="36499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4380" y="5121783"/>
              <a:ext cx="457200" cy="365125"/>
            </a:xfrm>
            <a:custGeom>
              <a:avLst/>
              <a:gdLst/>
              <a:ahLst/>
              <a:cxnLst/>
              <a:rect l="l" t="t" r="r" b="b"/>
              <a:pathLst>
                <a:path w="457200" h="365125">
                  <a:moveTo>
                    <a:pt x="228600" y="0"/>
                  </a:moveTo>
                  <a:lnTo>
                    <a:pt x="0" y="364998"/>
                  </a:lnTo>
                  <a:lnTo>
                    <a:pt x="457200" y="364998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8F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34380" y="5121783"/>
              <a:ext cx="457200" cy="365125"/>
            </a:xfrm>
            <a:custGeom>
              <a:avLst/>
              <a:gdLst/>
              <a:ahLst/>
              <a:cxnLst/>
              <a:rect l="l" t="t" r="r" b="b"/>
              <a:pathLst>
                <a:path w="457200" h="365125">
                  <a:moveTo>
                    <a:pt x="0" y="364998"/>
                  </a:moveTo>
                  <a:lnTo>
                    <a:pt x="228600" y="0"/>
                  </a:lnTo>
                  <a:lnTo>
                    <a:pt x="457200" y="364998"/>
                  </a:lnTo>
                  <a:lnTo>
                    <a:pt x="0" y="36499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41432" y="2514981"/>
              <a:ext cx="1774189" cy="1035050"/>
            </a:xfrm>
            <a:custGeom>
              <a:avLst/>
              <a:gdLst/>
              <a:ahLst/>
              <a:cxnLst/>
              <a:rect l="l" t="t" r="r" b="b"/>
              <a:pathLst>
                <a:path w="1774189" h="1035050">
                  <a:moveTo>
                    <a:pt x="1773948" y="0"/>
                  </a:moveTo>
                  <a:lnTo>
                    <a:pt x="0" y="1034808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86578" y="3510474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89" h="71754">
                  <a:moveTo>
                    <a:pt x="46621" y="0"/>
                  </a:moveTo>
                  <a:lnTo>
                    <a:pt x="0" y="71310"/>
                  </a:lnTo>
                  <a:lnTo>
                    <a:pt x="85013" y="65824"/>
                  </a:lnTo>
                  <a:lnTo>
                    <a:pt x="466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5380" y="2514981"/>
              <a:ext cx="1847850" cy="887094"/>
            </a:xfrm>
            <a:custGeom>
              <a:avLst/>
              <a:gdLst/>
              <a:ahLst/>
              <a:cxnLst/>
              <a:rect l="l" t="t" r="r" b="b"/>
              <a:pathLst>
                <a:path w="1847850" h="887095">
                  <a:moveTo>
                    <a:pt x="0" y="0"/>
                  </a:moveTo>
                  <a:lnTo>
                    <a:pt x="1847748" y="886917"/>
                  </a:lnTo>
                </a:path>
              </a:pathLst>
            </a:custGeom>
            <a:ln w="126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35193" y="3362057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2981" y="0"/>
                  </a:moveTo>
                  <a:lnTo>
                    <a:pt x="0" y="68694"/>
                  </a:lnTo>
                  <a:lnTo>
                    <a:pt x="85191" y="67322"/>
                  </a:lnTo>
                  <a:lnTo>
                    <a:pt x="329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68341" y="2514600"/>
              <a:ext cx="647065" cy="1006475"/>
            </a:xfrm>
            <a:custGeom>
              <a:avLst/>
              <a:gdLst/>
              <a:ahLst/>
              <a:cxnLst/>
              <a:rect l="l" t="t" r="r" b="b"/>
              <a:pathLst>
                <a:path w="647064" h="1006475">
                  <a:moveTo>
                    <a:pt x="646658" y="0"/>
                  </a:moveTo>
                  <a:lnTo>
                    <a:pt x="0" y="1005903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29194" y="3484840"/>
              <a:ext cx="83820" cy="97155"/>
            </a:xfrm>
            <a:custGeom>
              <a:avLst/>
              <a:gdLst/>
              <a:ahLst/>
              <a:cxnLst/>
              <a:rect l="l" t="t" r="r" b="b"/>
              <a:pathLst>
                <a:path w="83820" h="97154">
                  <a:moveTo>
                    <a:pt x="10439" y="0"/>
                  </a:moveTo>
                  <a:lnTo>
                    <a:pt x="0" y="96558"/>
                  </a:lnTo>
                  <a:lnTo>
                    <a:pt x="83515" y="46977"/>
                  </a:lnTo>
                  <a:lnTo>
                    <a:pt x="104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5380" y="2514981"/>
              <a:ext cx="647700" cy="863600"/>
            </a:xfrm>
            <a:custGeom>
              <a:avLst/>
              <a:gdLst/>
              <a:ahLst/>
              <a:cxnLst/>
              <a:rect l="l" t="t" r="r" b="b"/>
              <a:pathLst>
                <a:path w="647700" h="863600">
                  <a:moveTo>
                    <a:pt x="0" y="0"/>
                  </a:moveTo>
                  <a:lnTo>
                    <a:pt x="647700" y="86360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24984" y="3345559"/>
              <a:ext cx="76200" cy="83820"/>
            </a:xfrm>
            <a:custGeom>
              <a:avLst/>
              <a:gdLst/>
              <a:ahLst/>
              <a:cxnLst/>
              <a:rect l="l" t="t" r="r" b="b"/>
              <a:pathLst>
                <a:path w="76200" h="83820">
                  <a:moveTo>
                    <a:pt x="60960" y="0"/>
                  </a:moveTo>
                  <a:lnTo>
                    <a:pt x="0" y="45720"/>
                  </a:lnTo>
                  <a:lnTo>
                    <a:pt x="76200" y="83820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77180" y="358178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21" y="5031"/>
                  </a:lnTo>
                  <a:lnTo>
                    <a:pt x="106724" y="19363"/>
                  </a:lnTo>
                  <a:lnTo>
                    <a:pt x="71353" y="41851"/>
                  </a:lnTo>
                  <a:lnTo>
                    <a:pt x="41851" y="71353"/>
                  </a:lnTo>
                  <a:lnTo>
                    <a:pt x="19363" y="106724"/>
                  </a:lnTo>
                  <a:lnTo>
                    <a:pt x="5031" y="146821"/>
                  </a:lnTo>
                  <a:lnTo>
                    <a:pt x="0" y="190500"/>
                  </a:lnTo>
                  <a:lnTo>
                    <a:pt x="5031" y="234178"/>
                  </a:lnTo>
                  <a:lnTo>
                    <a:pt x="19363" y="274275"/>
                  </a:lnTo>
                  <a:lnTo>
                    <a:pt x="41851" y="309646"/>
                  </a:lnTo>
                  <a:lnTo>
                    <a:pt x="71353" y="339148"/>
                  </a:lnTo>
                  <a:lnTo>
                    <a:pt x="106724" y="361636"/>
                  </a:lnTo>
                  <a:lnTo>
                    <a:pt x="146821" y="375968"/>
                  </a:lnTo>
                  <a:lnTo>
                    <a:pt x="190500" y="381000"/>
                  </a:lnTo>
                  <a:lnTo>
                    <a:pt x="234178" y="375968"/>
                  </a:lnTo>
                  <a:lnTo>
                    <a:pt x="274275" y="361636"/>
                  </a:lnTo>
                  <a:lnTo>
                    <a:pt x="309646" y="339148"/>
                  </a:lnTo>
                  <a:lnTo>
                    <a:pt x="339148" y="309646"/>
                  </a:lnTo>
                  <a:lnTo>
                    <a:pt x="361636" y="274275"/>
                  </a:lnTo>
                  <a:lnTo>
                    <a:pt x="375968" y="234178"/>
                  </a:lnTo>
                  <a:lnTo>
                    <a:pt x="381000" y="190500"/>
                  </a:lnTo>
                  <a:lnTo>
                    <a:pt x="375968" y="146821"/>
                  </a:lnTo>
                  <a:lnTo>
                    <a:pt x="361636" y="106724"/>
                  </a:lnTo>
                  <a:lnTo>
                    <a:pt x="339148" y="71353"/>
                  </a:lnTo>
                  <a:lnTo>
                    <a:pt x="309646" y="41851"/>
                  </a:lnTo>
                  <a:lnTo>
                    <a:pt x="274275" y="19363"/>
                  </a:lnTo>
                  <a:lnTo>
                    <a:pt x="234178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77180" y="358178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31" y="146821"/>
                  </a:lnTo>
                  <a:lnTo>
                    <a:pt x="19363" y="106724"/>
                  </a:lnTo>
                  <a:lnTo>
                    <a:pt x="41851" y="71353"/>
                  </a:lnTo>
                  <a:lnTo>
                    <a:pt x="71353" y="41851"/>
                  </a:lnTo>
                  <a:lnTo>
                    <a:pt x="106724" y="19363"/>
                  </a:lnTo>
                  <a:lnTo>
                    <a:pt x="146821" y="5031"/>
                  </a:lnTo>
                  <a:lnTo>
                    <a:pt x="190500" y="0"/>
                  </a:lnTo>
                  <a:lnTo>
                    <a:pt x="234178" y="5031"/>
                  </a:lnTo>
                  <a:lnTo>
                    <a:pt x="274275" y="19363"/>
                  </a:lnTo>
                  <a:lnTo>
                    <a:pt x="309646" y="41851"/>
                  </a:lnTo>
                  <a:lnTo>
                    <a:pt x="339148" y="71353"/>
                  </a:lnTo>
                  <a:lnTo>
                    <a:pt x="361636" y="106724"/>
                  </a:lnTo>
                  <a:lnTo>
                    <a:pt x="375968" y="146821"/>
                  </a:lnTo>
                  <a:lnTo>
                    <a:pt x="381000" y="190500"/>
                  </a:lnTo>
                  <a:lnTo>
                    <a:pt x="375968" y="234178"/>
                  </a:lnTo>
                  <a:lnTo>
                    <a:pt x="361636" y="274275"/>
                  </a:lnTo>
                  <a:lnTo>
                    <a:pt x="339148" y="309646"/>
                  </a:lnTo>
                  <a:lnTo>
                    <a:pt x="309646" y="339148"/>
                  </a:lnTo>
                  <a:lnTo>
                    <a:pt x="274275" y="361636"/>
                  </a:lnTo>
                  <a:lnTo>
                    <a:pt x="234178" y="375968"/>
                  </a:lnTo>
                  <a:lnTo>
                    <a:pt x="190500" y="381000"/>
                  </a:lnTo>
                  <a:lnTo>
                    <a:pt x="146821" y="375968"/>
                  </a:lnTo>
                  <a:lnTo>
                    <a:pt x="106724" y="361636"/>
                  </a:lnTo>
                  <a:lnTo>
                    <a:pt x="71353" y="339148"/>
                  </a:lnTo>
                  <a:lnTo>
                    <a:pt x="41851" y="309646"/>
                  </a:lnTo>
                  <a:lnTo>
                    <a:pt x="19363" y="274275"/>
                  </a:lnTo>
                  <a:lnTo>
                    <a:pt x="5031" y="234178"/>
                  </a:lnTo>
                  <a:lnTo>
                    <a:pt x="0" y="1905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56457" y="3962780"/>
              <a:ext cx="1480185" cy="1105535"/>
            </a:xfrm>
            <a:custGeom>
              <a:avLst/>
              <a:gdLst/>
              <a:ahLst/>
              <a:cxnLst/>
              <a:rect l="l" t="t" r="r" b="b"/>
              <a:pathLst>
                <a:path w="1480185" h="1105535">
                  <a:moveTo>
                    <a:pt x="1479981" y="0"/>
                  </a:moveTo>
                  <a:lnTo>
                    <a:pt x="0" y="1105014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05575" y="5029661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38265" y="0"/>
                  </a:moveTo>
                  <a:lnTo>
                    <a:pt x="0" y="76123"/>
                  </a:lnTo>
                  <a:lnTo>
                    <a:pt x="83858" y="61061"/>
                  </a:lnTo>
                  <a:lnTo>
                    <a:pt x="382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36438" y="3962780"/>
              <a:ext cx="1541780" cy="1106170"/>
            </a:xfrm>
            <a:custGeom>
              <a:avLst/>
              <a:gdLst/>
              <a:ahLst/>
              <a:cxnLst/>
              <a:rect l="l" t="t" r="r" b="b"/>
              <a:pathLst>
                <a:path w="1541779" h="1106170">
                  <a:moveTo>
                    <a:pt x="0" y="0"/>
                  </a:moveTo>
                  <a:lnTo>
                    <a:pt x="1541741" y="1105992"/>
                  </a:lnTo>
                </a:path>
              </a:pathLst>
            </a:custGeom>
            <a:ln w="126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45651" y="5030405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4424" y="0"/>
                  </a:moveTo>
                  <a:lnTo>
                    <a:pt x="0" y="61912"/>
                  </a:lnTo>
                  <a:lnTo>
                    <a:pt x="84124" y="75374"/>
                  </a:lnTo>
                  <a:lnTo>
                    <a:pt x="44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90415" y="3962780"/>
              <a:ext cx="546100" cy="1086485"/>
            </a:xfrm>
            <a:custGeom>
              <a:avLst/>
              <a:gdLst/>
              <a:ahLst/>
              <a:cxnLst/>
              <a:rect l="l" t="t" r="r" b="b"/>
              <a:pathLst>
                <a:path w="546100" h="1086485">
                  <a:moveTo>
                    <a:pt x="546023" y="0"/>
                  </a:moveTo>
                  <a:lnTo>
                    <a:pt x="0" y="1086269"/>
                  </a:lnTo>
                </a:path>
              </a:pathLst>
            </a:custGeom>
            <a:ln w="1269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61891" y="5020586"/>
              <a:ext cx="68580" cy="85725"/>
            </a:xfrm>
            <a:custGeom>
              <a:avLst/>
              <a:gdLst/>
              <a:ahLst/>
              <a:cxnLst/>
              <a:rect l="l" t="t" r="r" b="b"/>
              <a:pathLst>
                <a:path w="68579" h="85725">
                  <a:moveTo>
                    <a:pt x="177" y="0"/>
                  </a:moveTo>
                  <a:lnTo>
                    <a:pt x="0" y="85191"/>
                  </a:lnTo>
                  <a:lnTo>
                    <a:pt x="68262" y="34213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36058" y="3962400"/>
              <a:ext cx="520700" cy="1078230"/>
            </a:xfrm>
            <a:custGeom>
              <a:avLst/>
              <a:gdLst/>
              <a:ahLst/>
              <a:cxnLst/>
              <a:rect l="l" t="t" r="r" b="b"/>
              <a:pathLst>
                <a:path w="520700" h="1078229">
                  <a:moveTo>
                    <a:pt x="0" y="0"/>
                  </a:moveTo>
                  <a:lnTo>
                    <a:pt x="520217" y="107781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10874" y="5008288"/>
              <a:ext cx="78740" cy="97155"/>
            </a:xfrm>
            <a:custGeom>
              <a:avLst/>
              <a:gdLst/>
              <a:ahLst/>
              <a:cxnLst/>
              <a:rect l="l" t="t" r="r" b="b"/>
              <a:pathLst>
                <a:path w="78739" h="97154">
                  <a:moveTo>
                    <a:pt x="78232" y="0"/>
                  </a:moveTo>
                  <a:lnTo>
                    <a:pt x="0" y="37757"/>
                  </a:lnTo>
                  <a:lnTo>
                    <a:pt x="76873" y="97116"/>
                  </a:lnTo>
                  <a:lnTo>
                    <a:pt x="78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488940" y="286061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22263" y="216041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00FF"/>
                </a:solidFill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14821" y="5134497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33399"/>
                </a:solidFill>
                <a:latin typeface="Arial MT"/>
                <a:cs typeface="Arial MT"/>
              </a:rPr>
              <a:t>s</a:t>
            </a:r>
            <a:r>
              <a:rPr sz="1800" spc="-25" dirty="0">
                <a:solidFill>
                  <a:srgbClr val="333399"/>
                </a:solidFill>
                <a:latin typeface="MS PGothic"/>
                <a:cs typeface="MS PGothic"/>
              </a:rPr>
              <a:t>’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36463" y="3608134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8000"/>
                </a:solidFill>
                <a:latin typeface="Arial MT"/>
                <a:cs typeface="Arial MT"/>
              </a:rPr>
              <a:t>s, </a:t>
            </a:r>
            <a:r>
              <a:rPr sz="1800" spc="-50" dirty="0">
                <a:solidFill>
                  <a:srgbClr val="008000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48375" y="2182125"/>
            <a:ext cx="5486400" cy="3853815"/>
            <a:chOff x="3048375" y="2182125"/>
            <a:chExt cx="5486400" cy="3853815"/>
          </a:xfrm>
        </p:grpSpPr>
        <p:sp>
          <p:nvSpPr>
            <p:cNvPr id="32" name="object 32"/>
            <p:cNvSpPr/>
            <p:nvPr/>
          </p:nvSpPr>
          <p:spPr>
            <a:xfrm>
              <a:off x="3795141" y="5486781"/>
              <a:ext cx="1767839" cy="515620"/>
            </a:xfrm>
            <a:custGeom>
              <a:avLst/>
              <a:gdLst/>
              <a:ahLst/>
              <a:cxnLst/>
              <a:rect l="l" t="t" r="r" b="b"/>
              <a:pathLst>
                <a:path w="1767839" h="515620">
                  <a:moveTo>
                    <a:pt x="1767839" y="0"/>
                  </a:moveTo>
                  <a:lnTo>
                    <a:pt x="0" y="51562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34178" y="5962266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62484" y="0"/>
                  </a:moveTo>
                  <a:lnTo>
                    <a:pt x="0" y="57911"/>
                  </a:lnTo>
                  <a:lnTo>
                    <a:pt x="83820" y="73151"/>
                  </a:lnTo>
                  <a:lnTo>
                    <a:pt x="624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62980" y="5486781"/>
              <a:ext cx="1843405" cy="442595"/>
            </a:xfrm>
            <a:custGeom>
              <a:avLst/>
              <a:gdLst/>
              <a:ahLst/>
              <a:cxnLst/>
              <a:rect l="l" t="t" r="r" b="b"/>
              <a:pathLst>
                <a:path w="1843404" h="442595">
                  <a:moveTo>
                    <a:pt x="0" y="0"/>
                  </a:moveTo>
                  <a:lnTo>
                    <a:pt x="1843252" y="442379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84986" y="5889147"/>
              <a:ext cx="83185" cy="74295"/>
            </a:xfrm>
            <a:custGeom>
              <a:avLst/>
              <a:gdLst/>
              <a:ahLst/>
              <a:cxnLst/>
              <a:rect l="l" t="t" r="r" b="b"/>
              <a:pathLst>
                <a:path w="83184" h="74295">
                  <a:moveTo>
                    <a:pt x="17792" y="0"/>
                  </a:moveTo>
                  <a:lnTo>
                    <a:pt x="0" y="74091"/>
                  </a:lnTo>
                  <a:lnTo>
                    <a:pt x="82994" y="54838"/>
                  </a:lnTo>
                  <a:lnTo>
                    <a:pt x="177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33937" y="5486400"/>
              <a:ext cx="629285" cy="489584"/>
            </a:xfrm>
            <a:custGeom>
              <a:avLst/>
              <a:gdLst/>
              <a:ahLst/>
              <a:cxnLst/>
              <a:rect l="l" t="t" r="r" b="b"/>
              <a:pathLst>
                <a:path w="629285" h="489585">
                  <a:moveTo>
                    <a:pt x="628662" y="0"/>
                  </a:moveTo>
                  <a:lnTo>
                    <a:pt x="0" y="488962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76802" y="5932181"/>
              <a:ext cx="95250" cy="87630"/>
            </a:xfrm>
            <a:custGeom>
              <a:avLst/>
              <a:gdLst/>
              <a:ahLst/>
              <a:cxnLst/>
              <a:rect l="l" t="t" r="r" b="b"/>
              <a:pathLst>
                <a:path w="95250" h="87629">
                  <a:moveTo>
                    <a:pt x="41897" y="0"/>
                  </a:moveTo>
                  <a:lnTo>
                    <a:pt x="0" y="87617"/>
                  </a:lnTo>
                  <a:lnTo>
                    <a:pt x="95237" y="68567"/>
                  </a:lnTo>
                  <a:lnTo>
                    <a:pt x="418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62980" y="5486781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>
                  <a:moveTo>
                    <a:pt x="0" y="0"/>
                  </a:moveTo>
                  <a:lnTo>
                    <a:pt x="632968" y="421982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64251" y="5870010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89" h="74295">
                  <a:moveTo>
                    <a:pt x="42265" y="0"/>
                  </a:moveTo>
                  <a:lnTo>
                    <a:pt x="0" y="63398"/>
                  </a:lnTo>
                  <a:lnTo>
                    <a:pt x="84531" y="73977"/>
                  </a:lnTo>
                  <a:lnTo>
                    <a:pt x="422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86780" y="4189815"/>
              <a:ext cx="1903095" cy="382905"/>
            </a:xfrm>
            <a:custGeom>
              <a:avLst/>
              <a:gdLst/>
              <a:ahLst/>
              <a:cxnLst/>
              <a:rect l="l" t="t" r="r" b="b"/>
              <a:pathLst>
                <a:path w="1903095" h="382904">
                  <a:moveTo>
                    <a:pt x="0" y="382565"/>
                  </a:moveTo>
                  <a:lnTo>
                    <a:pt x="50287" y="356139"/>
                  </a:lnTo>
                  <a:lnTo>
                    <a:pt x="112199" y="319272"/>
                  </a:lnTo>
                  <a:lnTo>
                    <a:pt x="147316" y="297902"/>
                  </a:lnTo>
                  <a:lnTo>
                    <a:pt x="185100" y="275096"/>
                  </a:lnTo>
                  <a:lnTo>
                    <a:pt x="225473" y="251245"/>
                  </a:lnTo>
                  <a:lnTo>
                    <a:pt x="268354" y="226742"/>
                  </a:lnTo>
                  <a:lnTo>
                    <a:pt x="313664" y="201977"/>
                  </a:lnTo>
                  <a:lnTo>
                    <a:pt x="361325" y="177342"/>
                  </a:lnTo>
                  <a:lnTo>
                    <a:pt x="411255" y="153229"/>
                  </a:lnTo>
                  <a:lnTo>
                    <a:pt x="463376" y="130028"/>
                  </a:lnTo>
                  <a:lnTo>
                    <a:pt x="517609" y="108131"/>
                  </a:lnTo>
                  <a:lnTo>
                    <a:pt x="573873" y="87931"/>
                  </a:lnTo>
                  <a:lnTo>
                    <a:pt x="632090" y="69817"/>
                  </a:lnTo>
                  <a:lnTo>
                    <a:pt x="692179" y="54182"/>
                  </a:lnTo>
                  <a:lnTo>
                    <a:pt x="754062" y="41418"/>
                  </a:lnTo>
                  <a:lnTo>
                    <a:pt x="831511" y="29832"/>
                  </a:lnTo>
                  <a:lnTo>
                    <a:pt x="874129" y="24920"/>
                  </a:lnTo>
                  <a:lnTo>
                    <a:pt x="919036" y="20554"/>
                  </a:lnTo>
                  <a:lnTo>
                    <a:pt x="966005" y="16705"/>
                  </a:lnTo>
                  <a:lnTo>
                    <a:pt x="1014806" y="13344"/>
                  </a:lnTo>
                  <a:lnTo>
                    <a:pt x="1065209" y="10441"/>
                  </a:lnTo>
                  <a:lnTo>
                    <a:pt x="1116986" y="7966"/>
                  </a:lnTo>
                  <a:lnTo>
                    <a:pt x="1169908" y="5889"/>
                  </a:lnTo>
                  <a:lnTo>
                    <a:pt x="1223746" y="4180"/>
                  </a:lnTo>
                  <a:lnTo>
                    <a:pt x="1278270" y="2810"/>
                  </a:lnTo>
                  <a:lnTo>
                    <a:pt x="1333252" y="1749"/>
                  </a:lnTo>
                  <a:lnTo>
                    <a:pt x="1388463" y="967"/>
                  </a:lnTo>
                  <a:lnTo>
                    <a:pt x="1443673" y="435"/>
                  </a:lnTo>
                  <a:lnTo>
                    <a:pt x="1498654" y="122"/>
                  </a:lnTo>
                  <a:lnTo>
                    <a:pt x="1553176" y="0"/>
                  </a:lnTo>
                  <a:lnTo>
                    <a:pt x="1607010" y="37"/>
                  </a:lnTo>
                  <a:lnTo>
                    <a:pt x="1659928" y="205"/>
                  </a:lnTo>
                  <a:lnTo>
                    <a:pt x="1711700" y="473"/>
                  </a:lnTo>
                  <a:lnTo>
                    <a:pt x="1762098" y="813"/>
                  </a:lnTo>
                  <a:lnTo>
                    <a:pt x="1810892" y="1193"/>
                  </a:lnTo>
                  <a:lnTo>
                    <a:pt x="1857853" y="1585"/>
                  </a:lnTo>
                  <a:lnTo>
                    <a:pt x="1902752" y="1959"/>
                  </a:lnTo>
                </a:path>
              </a:pathLst>
            </a:custGeom>
            <a:ln w="510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64999" y="4064148"/>
              <a:ext cx="255904" cy="255270"/>
            </a:xfrm>
            <a:custGeom>
              <a:avLst/>
              <a:gdLst/>
              <a:ahLst/>
              <a:cxnLst/>
              <a:rect l="l" t="t" r="r" b="b"/>
              <a:pathLst>
                <a:path w="255904" h="255270">
                  <a:moveTo>
                    <a:pt x="0" y="0"/>
                  </a:moveTo>
                  <a:lnTo>
                    <a:pt x="228" y="255269"/>
                  </a:lnTo>
                  <a:lnTo>
                    <a:pt x="255384" y="127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32601" y="2309025"/>
              <a:ext cx="1971675" cy="53975"/>
            </a:xfrm>
            <a:custGeom>
              <a:avLst/>
              <a:gdLst/>
              <a:ahLst/>
              <a:cxnLst/>
              <a:rect l="l" t="t" r="r" b="b"/>
              <a:pathLst>
                <a:path w="1971675" h="53975">
                  <a:moveTo>
                    <a:pt x="0" y="53555"/>
                  </a:moveTo>
                  <a:lnTo>
                    <a:pt x="59501" y="52152"/>
                  </a:lnTo>
                  <a:lnTo>
                    <a:pt x="134537" y="50340"/>
                  </a:lnTo>
                  <a:lnTo>
                    <a:pt x="177386" y="49292"/>
                  </a:lnTo>
                  <a:lnTo>
                    <a:pt x="223527" y="48156"/>
                  </a:lnTo>
                  <a:lnTo>
                    <a:pt x="272760" y="46936"/>
                  </a:lnTo>
                  <a:lnTo>
                    <a:pt x="324889" y="45637"/>
                  </a:lnTo>
                  <a:lnTo>
                    <a:pt x="379716" y="44263"/>
                  </a:lnTo>
                  <a:lnTo>
                    <a:pt x="437043" y="42820"/>
                  </a:lnTo>
                  <a:lnTo>
                    <a:pt x="496673" y="41312"/>
                  </a:lnTo>
                  <a:lnTo>
                    <a:pt x="558407" y="39743"/>
                  </a:lnTo>
                  <a:lnTo>
                    <a:pt x="622048" y="38118"/>
                  </a:lnTo>
                  <a:lnTo>
                    <a:pt x="687399" y="36442"/>
                  </a:lnTo>
                  <a:lnTo>
                    <a:pt x="754262" y="34720"/>
                  </a:lnTo>
                  <a:lnTo>
                    <a:pt x="822439" y="32956"/>
                  </a:lnTo>
                  <a:lnTo>
                    <a:pt x="860792" y="31951"/>
                  </a:lnTo>
                  <a:lnTo>
                    <a:pt x="901744" y="30857"/>
                  </a:lnTo>
                  <a:lnTo>
                    <a:pt x="945073" y="29681"/>
                  </a:lnTo>
                  <a:lnTo>
                    <a:pt x="990560" y="28430"/>
                  </a:lnTo>
                  <a:lnTo>
                    <a:pt x="1037984" y="27111"/>
                  </a:lnTo>
                  <a:lnTo>
                    <a:pt x="1087125" y="25731"/>
                  </a:lnTo>
                  <a:lnTo>
                    <a:pt x="1137760" y="24298"/>
                  </a:lnTo>
                  <a:lnTo>
                    <a:pt x="1189671" y="22819"/>
                  </a:lnTo>
                  <a:lnTo>
                    <a:pt x="1242636" y="21301"/>
                  </a:lnTo>
                  <a:lnTo>
                    <a:pt x="1296435" y="19751"/>
                  </a:lnTo>
                  <a:lnTo>
                    <a:pt x="1350848" y="18177"/>
                  </a:lnTo>
                  <a:lnTo>
                    <a:pt x="1405652" y="16585"/>
                  </a:lnTo>
                  <a:lnTo>
                    <a:pt x="1460629" y="14983"/>
                  </a:lnTo>
                  <a:lnTo>
                    <a:pt x="1515557" y="13379"/>
                  </a:lnTo>
                  <a:lnTo>
                    <a:pt x="1570216" y="11779"/>
                  </a:lnTo>
                  <a:lnTo>
                    <a:pt x="1624384" y="10190"/>
                  </a:lnTo>
                  <a:lnTo>
                    <a:pt x="1677843" y="8620"/>
                  </a:lnTo>
                  <a:lnTo>
                    <a:pt x="1730370" y="7076"/>
                  </a:lnTo>
                  <a:lnTo>
                    <a:pt x="1781746" y="5566"/>
                  </a:lnTo>
                  <a:lnTo>
                    <a:pt x="1831749" y="4095"/>
                  </a:lnTo>
                  <a:lnTo>
                    <a:pt x="1880159" y="2673"/>
                  </a:lnTo>
                  <a:lnTo>
                    <a:pt x="1926756" y="1305"/>
                  </a:lnTo>
                  <a:lnTo>
                    <a:pt x="1971319" y="0"/>
                  </a:lnTo>
                </a:path>
              </a:pathLst>
            </a:custGeom>
            <a:ln w="51053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275952" y="2182125"/>
              <a:ext cx="259079" cy="255270"/>
            </a:xfrm>
            <a:custGeom>
              <a:avLst/>
              <a:gdLst/>
              <a:ahLst/>
              <a:cxnLst/>
              <a:rect l="l" t="t" r="r" b="b"/>
              <a:pathLst>
                <a:path w="259079" h="255269">
                  <a:moveTo>
                    <a:pt x="0" y="0"/>
                  </a:moveTo>
                  <a:lnTo>
                    <a:pt x="7327" y="255168"/>
                  </a:lnTo>
                  <a:lnTo>
                    <a:pt x="258826" y="1202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8339" y="3745230"/>
              <a:ext cx="1446530" cy="65405"/>
            </a:xfrm>
            <a:custGeom>
              <a:avLst/>
              <a:gdLst/>
              <a:ahLst/>
              <a:cxnLst/>
              <a:rect l="l" t="t" r="r" b="b"/>
              <a:pathLst>
                <a:path w="1446529" h="65404">
                  <a:moveTo>
                    <a:pt x="1446441" y="65151"/>
                  </a:moveTo>
                  <a:lnTo>
                    <a:pt x="1383359" y="62662"/>
                  </a:lnTo>
                  <a:lnTo>
                    <a:pt x="1344023" y="61077"/>
                  </a:lnTo>
                  <a:lnTo>
                    <a:pt x="1299966" y="59283"/>
                  </a:lnTo>
                  <a:lnTo>
                    <a:pt x="1251545" y="57294"/>
                  </a:lnTo>
                  <a:lnTo>
                    <a:pt x="1199116" y="55124"/>
                  </a:lnTo>
                  <a:lnTo>
                    <a:pt x="1143036" y="52787"/>
                  </a:lnTo>
                  <a:lnTo>
                    <a:pt x="1083662" y="50296"/>
                  </a:lnTo>
                  <a:lnTo>
                    <a:pt x="1021350" y="47666"/>
                  </a:lnTo>
                  <a:lnTo>
                    <a:pt x="956457" y="44910"/>
                  </a:lnTo>
                  <a:lnTo>
                    <a:pt x="889340" y="42043"/>
                  </a:lnTo>
                  <a:lnTo>
                    <a:pt x="820356" y="39077"/>
                  </a:lnTo>
                  <a:lnTo>
                    <a:pt x="780809" y="37347"/>
                  </a:lnTo>
                  <a:lnTo>
                    <a:pt x="737817" y="35420"/>
                  </a:lnTo>
                  <a:lnTo>
                    <a:pt x="691784" y="33317"/>
                  </a:lnTo>
                  <a:lnTo>
                    <a:pt x="643112" y="31061"/>
                  </a:lnTo>
                  <a:lnTo>
                    <a:pt x="592205" y="28673"/>
                  </a:lnTo>
                  <a:lnTo>
                    <a:pt x="539466" y="26175"/>
                  </a:lnTo>
                  <a:lnTo>
                    <a:pt x="485298" y="23590"/>
                  </a:lnTo>
                  <a:lnTo>
                    <a:pt x="430104" y="20939"/>
                  </a:lnTo>
                  <a:lnTo>
                    <a:pt x="374287" y="18244"/>
                  </a:lnTo>
                  <a:lnTo>
                    <a:pt x="318251" y="15527"/>
                  </a:lnTo>
                  <a:lnTo>
                    <a:pt x="262399" y="12811"/>
                  </a:lnTo>
                  <a:lnTo>
                    <a:pt x="207133" y="10117"/>
                  </a:lnTo>
                  <a:lnTo>
                    <a:pt x="152857" y="7466"/>
                  </a:lnTo>
                  <a:lnTo>
                    <a:pt x="99974" y="4882"/>
                  </a:lnTo>
                  <a:lnTo>
                    <a:pt x="48887" y="2386"/>
                  </a:lnTo>
                  <a:lnTo>
                    <a:pt x="0" y="0"/>
                  </a:lnTo>
                </a:path>
              </a:pathLst>
            </a:custGeom>
            <a:ln w="51053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48375" y="3618928"/>
              <a:ext cx="261620" cy="255270"/>
            </a:xfrm>
            <a:custGeom>
              <a:avLst/>
              <a:gdLst/>
              <a:ahLst/>
              <a:cxnLst/>
              <a:rect l="l" t="t" r="r" b="b"/>
              <a:pathLst>
                <a:path w="261620" h="255270">
                  <a:moveTo>
                    <a:pt x="261099" y="0"/>
                  </a:moveTo>
                  <a:lnTo>
                    <a:pt x="0" y="115252"/>
                  </a:lnTo>
                  <a:lnTo>
                    <a:pt x="248869" y="254977"/>
                  </a:lnTo>
                  <a:lnTo>
                    <a:pt x="26109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850911" y="3854450"/>
            <a:ext cx="261747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Arial MT"/>
                <a:cs typeface="Arial MT"/>
              </a:rPr>
              <a:t>(s,a,s</a:t>
            </a:r>
            <a:r>
              <a:rPr sz="1800" dirty="0">
                <a:solidFill>
                  <a:srgbClr val="C00000"/>
                </a:solidFill>
                <a:latin typeface="MS PGothic"/>
                <a:cs typeface="MS PGothic"/>
              </a:rPr>
              <a:t>’</a:t>
            </a:r>
            <a:r>
              <a:rPr sz="1800" dirty="0">
                <a:solidFill>
                  <a:srgbClr val="C00000"/>
                </a:solidFill>
                <a:latin typeface="Arial MT"/>
                <a:cs typeface="Arial MT"/>
              </a:rPr>
              <a:t>)</a:t>
            </a:r>
            <a:r>
              <a:rPr sz="18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00000"/>
                </a:solidFill>
                <a:latin typeface="Arial MT"/>
                <a:cs typeface="Arial MT"/>
              </a:rPr>
              <a:t>called</a:t>
            </a:r>
            <a:r>
              <a:rPr sz="18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i="1" spc="-10" dirty="0">
                <a:solidFill>
                  <a:srgbClr val="C00000"/>
                </a:solidFill>
                <a:latin typeface="Arial"/>
                <a:cs typeface="Arial"/>
              </a:rPr>
              <a:t>transition </a:t>
            </a:r>
            <a:r>
              <a:rPr sz="1800" dirty="0">
                <a:solidFill>
                  <a:srgbClr val="C00000"/>
                </a:solidFill>
                <a:latin typeface="Arial MT"/>
                <a:cs typeface="Arial MT"/>
              </a:rPr>
              <a:t>T(s,a,s</a:t>
            </a:r>
            <a:r>
              <a:rPr sz="1800" dirty="0">
                <a:solidFill>
                  <a:srgbClr val="C00000"/>
                </a:solidFill>
                <a:latin typeface="MS PGothic"/>
                <a:cs typeface="MS PGothic"/>
              </a:rPr>
              <a:t>’</a:t>
            </a:r>
            <a:r>
              <a:rPr sz="1800" dirty="0">
                <a:solidFill>
                  <a:srgbClr val="C00000"/>
                </a:solidFill>
                <a:latin typeface="Arial MT"/>
                <a:cs typeface="Arial MT"/>
              </a:rPr>
              <a:t>)</a:t>
            </a:r>
            <a:r>
              <a:rPr sz="18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00000"/>
                </a:solidFill>
                <a:latin typeface="Arial MT"/>
                <a:cs typeface="Arial MT"/>
              </a:rPr>
              <a:t>=</a:t>
            </a:r>
            <a:r>
              <a:rPr sz="18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Arial MT"/>
                <a:cs typeface="Arial MT"/>
              </a:rPr>
              <a:t>P(s</a:t>
            </a:r>
            <a:r>
              <a:rPr sz="1800" spc="-10" dirty="0">
                <a:solidFill>
                  <a:srgbClr val="C00000"/>
                </a:solidFill>
                <a:latin typeface="MS PGothic"/>
                <a:cs typeface="MS PGothic"/>
              </a:rPr>
              <a:t>’</a:t>
            </a:r>
            <a:r>
              <a:rPr sz="1800" spc="-10" dirty="0">
                <a:solidFill>
                  <a:srgbClr val="C00000"/>
                </a:solidFill>
                <a:latin typeface="Arial MT"/>
                <a:cs typeface="Arial MT"/>
              </a:rPr>
              <a:t>|s,a) R(s,a,s</a:t>
            </a:r>
            <a:r>
              <a:rPr sz="1800" spc="-10" dirty="0">
                <a:solidFill>
                  <a:srgbClr val="C00000"/>
                </a:solidFill>
                <a:latin typeface="MS PGothic"/>
                <a:cs typeface="MS PGothic"/>
              </a:rPr>
              <a:t>’</a:t>
            </a:r>
            <a:r>
              <a:rPr sz="1800" spc="-10" dirty="0">
                <a:solidFill>
                  <a:srgbClr val="C00000"/>
                </a:solidFill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74387" y="4448809"/>
            <a:ext cx="62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s,a,s</a:t>
            </a:r>
            <a:r>
              <a:rPr sz="1800" spc="-10" dirty="0">
                <a:latin typeface="MS PGothic"/>
                <a:cs typeface="MS PGothic"/>
              </a:rPr>
              <a:t>’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689340" y="2127185"/>
            <a:ext cx="1117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s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is</a:t>
            </a:r>
            <a:r>
              <a:rPr sz="1800" spc="-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i="1" spc="-10" dirty="0">
                <a:solidFill>
                  <a:srgbClr val="0000FF"/>
                </a:solidFill>
                <a:latin typeface="Arial"/>
                <a:cs typeface="Arial"/>
              </a:rPr>
              <a:t>state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831339" y="3455923"/>
            <a:ext cx="965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8000"/>
                </a:solidFill>
                <a:latin typeface="Arial MT"/>
                <a:cs typeface="Arial MT"/>
              </a:rPr>
              <a:t>(s,</a:t>
            </a:r>
            <a:r>
              <a:rPr sz="1800" spc="-1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00"/>
                </a:solidFill>
                <a:latin typeface="Arial MT"/>
                <a:cs typeface="Arial MT"/>
              </a:rPr>
              <a:t>a)</a:t>
            </a:r>
            <a:r>
              <a:rPr sz="1800" spc="-1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00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08000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i="1" spc="-10" dirty="0">
                <a:solidFill>
                  <a:srgbClr val="008000"/>
                </a:solidFill>
                <a:latin typeface="Arial"/>
                <a:cs typeface="Arial"/>
              </a:rPr>
              <a:t>q-state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43200"/>
            <a:ext cx="3017519" cy="2260091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4600" y="4343400"/>
            <a:ext cx="1851007" cy="159525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0" y="1447800"/>
            <a:ext cx="2061298" cy="14458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6775">
              <a:lnSpc>
                <a:spcPct val="100000"/>
              </a:lnSpc>
              <a:spcBef>
                <a:spcPts val="95"/>
              </a:spcBef>
            </a:pPr>
            <a:r>
              <a:rPr dirty="0"/>
              <a:t>Utilities</a:t>
            </a:r>
            <a:r>
              <a:rPr spc="-7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Sequences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1192" y="1457658"/>
            <a:ext cx="6570660" cy="45614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6775">
              <a:lnSpc>
                <a:spcPct val="100000"/>
              </a:lnSpc>
              <a:spcBef>
                <a:spcPts val="95"/>
              </a:spcBef>
            </a:pPr>
            <a:r>
              <a:rPr dirty="0"/>
              <a:t>Utilities</a:t>
            </a:r>
            <a:r>
              <a:rPr spc="-7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Sequences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8781" y="3628870"/>
            <a:ext cx="3878183" cy="26926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5136" y="1407158"/>
            <a:ext cx="9740900" cy="2501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preferences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should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an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agent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have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over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reward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sequences?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333399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  <a:tab pos="2729865" algn="l"/>
                <a:tab pos="4380865" algn="l"/>
                <a:tab pos="518414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More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or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less?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	</a:t>
            </a:r>
            <a:r>
              <a:rPr sz="4200" baseline="1984" dirty="0">
                <a:latin typeface="Calibri"/>
                <a:cs typeface="Calibri"/>
              </a:rPr>
              <a:t>[1,</a:t>
            </a:r>
            <a:r>
              <a:rPr sz="4200" spc="-30" baseline="1984" dirty="0">
                <a:latin typeface="Calibri"/>
                <a:cs typeface="Calibri"/>
              </a:rPr>
              <a:t> </a:t>
            </a:r>
            <a:r>
              <a:rPr sz="4200" baseline="1984" dirty="0">
                <a:latin typeface="Calibri"/>
                <a:cs typeface="Calibri"/>
              </a:rPr>
              <a:t>2,</a:t>
            </a:r>
            <a:r>
              <a:rPr sz="4200" spc="-30" baseline="1984" dirty="0">
                <a:latin typeface="Calibri"/>
                <a:cs typeface="Calibri"/>
              </a:rPr>
              <a:t> </a:t>
            </a:r>
            <a:r>
              <a:rPr sz="4200" spc="-52" baseline="1984" dirty="0">
                <a:latin typeface="Calibri"/>
                <a:cs typeface="Calibri"/>
              </a:rPr>
              <a:t>2]</a:t>
            </a:r>
            <a:r>
              <a:rPr sz="4200" baseline="1984" dirty="0">
                <a:latin typeface="Calibri"/>
                <a:cs typeface="Calibri"/>
              </a:rPr>
              <a:t>	</a:t>
            </a:r>
            <a:r>
              <a:rPr sz="4200" spc="-37" baseline="1984" dirty="0">
                <a:latin typeface="Calibri"/>
                <a:cs typeface="Calibri"/>
              </a:rPr>
              <a:t>or</a:t>
            </a:r>
            <a:r>
              <a:rPr sz="4200" baseline="1984" dirty="0">
                <a:latin typeface="Calibri"/>
                <a:cs typeface="Calibri"/>
              </a:rPr>
              <a:t>	[2,</a:t>
            </a:r>
            <a:r>
              <a:rPr sz="4200" spc="-30" baseline="1984" dirty="0">
                <a:latin typeface="Calibri"/>
                <a:cs typeface="Calibri"/>
              </a:rPr>
              <a:t> </a:t>
            </a:r>
            <a:r>
              <a:rPr sz="4200" baseline="1984" dirty="0">
                <a:latin typeface="Calibri"/>
                <a:cs typeface="Calibri"/>
              </a:rPr>
              <a:t>3,</a:t>
            </a:r>
            <a:r>
              <a:rPr sz="4200" spc="-30" baseline="1984" dirty="0">
                <a:latin typeface="Calibri"/>
                <a:cs typeface="Calibri"/>
              </a:rPr>
              <a:t> </a:t>
            </a:r>
            <a:r>
              <a:rPr sz="4200" spc="-37" baseline="1984" dirty="0">
                <a:latin typeface="Calibri"/>
                <a:cs typeface="Calibri"/>
              </a:rPr>
              <a:t>4]</a:t>
            </a:r>
            <a:endParaRPr sz="4200" baseline="1984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333399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  <a:tab pos="2729865" algn="l"/>
                <a:tab pos="4380865" algn="l"/>
                <a:tab pos="518350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Now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or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later?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	</a:t>
            </a:r>
            <a:r>
              <a:rPr sz="2800" dirty="0">
                <a:latin typeface="Calibri"/>
                <a:cs typeface="Calibri"/>
              </a:rPr>
              <a:t>[0,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1]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	[1,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0]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4167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Discounting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36" y="1220518"/>
            <a:ext cx="8868410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It’s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reasonable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maximize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sum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rewards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It’s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also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reasonable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prefer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rewards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now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rewards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later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One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solution: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rewards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decay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exponentially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03285" y="3276600"/>
            <a:ext cx="2291715" cy="1932939"/>
            <a:chOff x="8003285" y="3276600"/>
            <a:chExt cx="2291715" cy="193293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3285" y="3276600"/>
              <a:ext cx="2291396" cy="14504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5399" y="4648200"/>
              <a:ext cx="514349" cy="56083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447800" y="2822448"/>
            <a:ext cx="2284095" cy="2282190"/>
            <a:chOff x="1447800" y="2822448"/>
            <a:chExt cx="2284095" cy="228219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7800" y="2822448"/>
              <a:ext cx="2283713" cy="19751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2200" y="4752594"/>
              <a:ext cx="211073" cy="35204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02885" y="3048000"/>
            <a:ext cx="2291396" cy="160476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48917" y="5423408"/>
            <a:ext cx="145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Worth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7396" y="5423408"/>
            <a:ext cx="2079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Worth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Step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9613" y="5423408"/>
            <a:ext cx="2433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Worth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Two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Steps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97296" y="4872101"/>
            <a:ext cx="262127" cy="3087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4167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Discounting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36" y="1459406"/>
            <a:ext cx="4398010" cy="452056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How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discount?</a:t>
            </a:r>
            <a:endParaRPr sz="2400">
              <a:latin typeface="Calibri"/>
              <a:cs typeface="Calibri"/>
            </a:endParaRPr>
          </a:p>
          <a:p>
            <a:pPr marL="755650" marR="180340" lvl="1" indent="-285750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descend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we </a:t>
            </a:r>
            <a:r>
              <a:rPr sz="2000" dirty="0">
                <a:latin typeface="Calibri"/>
                <a:cs typeface="Calibri"/>
              </a:rPr>
              <a:t>multiply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discount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once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85"/>
              </a:spcBef>
              <a:buFont typeface="Wingdings"/>
              <a:buChar char="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Why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discount?</a:t>
            </a:r>
            <a:endParaRPr sz="2400">
              <a:latin typeface="Calibri"/>
              <a:cs typeface="Calibri"/>
            </a:endParaRPr>
          </a:p>
          <a:p>
            <a:pPr marL="755650" marR="151130" lvl="1" indent="-285750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Sooner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rewards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 </a:t>
            </a:r>
            <a:r>
              <a:rPr sz="2000" dirty="0">
                <a:latin typeface="Calibri"/>
                <a:cs typeface="Calibri"/>
              </a:rPr>
              <a:t>higher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utility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later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rewards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Also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converge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85"/>
              </a:spcBef>
              <a:buFont typeface="Wingdings"/>
              <a:buChar char="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Example: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discount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0.5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U([1,2,3])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1*1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0.5*2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0.25*3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U([1,2,3])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U([3,2,1])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04656" y="1495044"/>
            <a:ext cx="2135505" cy="4646930"/>
            <a:chOff x="8304656" y="1495044"/>
            <a:chExt cx="2135505" cy="46469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5731" y="1495044"/>
              <a:ext cx="238505" cy="1927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49220" y="1689735"/>
              <a:ext cx="855980" cy="500380"/>
            </a:xfrm>
            <a:custGeom>
              <a:avLst/>
              <a:gdLst/>
              <a:ahLst/>
              <a:cxnLst/>
              <a:rect l="l" t="t" r="r" b="b"/>
              <a:pathLst>
                <a:path w="855979" h="500380">
                  <a:moveTo>
                    <a:pt x="855764" y="0"/>
                  </a:moveTo>
                  <a:lnTo>
                    <a:pt x="0" y="499846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4389" y="2150277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90" h="71755">
                  <a:moveTo>
                    <a:pt x="46583" y="0"/>
                  </a:moveTo>
                  <a:lnTo>
                    <a:pt x="0" y="71335"/>
                  </a:lnTo>
                  <a:lnTo>
                    <a:pt x="85013" y="65798"/>
                  </a:lnTo>
                  <a:lnTo>
                    <a:pt x="465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404984" y="1689735"/>
              <a:ext cx="892810" cy="428625"/>
            </a:xfrm>
            <a:custGeom>
              <a:avLst/>
              <a:gdLst/>
              <a:ahLst/>
              <a:cxnLst/>
              <a:rect l="l" t="t" r="r" b="b"/>
              <a:pathLst>
                <a:path w="892809" h="428625">
                  <a:moveTo>
                    <a:pt x="0" y="0"/>
                  </a:moveTo>
                  <a:lnTo>
                    <a:pt x="892200" y="428205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269257" y="2078089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2969" y="0"/>
                  </a:moveTo>
                  <a:lnTo>
                    <a:pt x="0" y="68694"/>
                  </a:lnTo>
                  <a:lnTo>
                    <a:pt x="85178" y="67322"/>
                  </a:lnTo>
                  <a:lnTo>
                    <a:pt x="32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02330" y="1689354"/>
              <a:ext cx="302895" cy="471170"/>
            </a:xfrm>
            <a:custGeom>
              <a:avLst/>
              <a:gdLst/>
              <a:ahLst/>
              <a:cxnLst/>
              <a:rect l="l" t="t" r="r" b="b"/>
              <a:pathLst>
                <a:path w="302895" h="471169">
                  <a:moveTo>
                    <a:pt x="302272" y="0"/>
                  </a:moveTo>
                  <a:lnTo>
                    <a:pt x="0" y="47095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63228" y="2124663"/>
              <a:ext cx="83820" cy="97155"/>
            </a:xfrm>
            <a:custGeom>
              <a:avLst/>
              <a:gdLst/>
              <a:ahLst/>
              <a:cxnLst/>
              <a:rect l="l" t="t" r="r" b="b"/>
              <a:pathLst>
                <a:path w="83820" h="97155">
                  <a:moveTo>
                    <a:pt x="10363" y="0"/>
                  </a:moveTo>
                  <a:lnTo>
                    <a:pt x="0" y="96570"/>
                  </a:lnTo>
                  <a:lnTo>
                    <a:pt x="83477" y="46913"/>
                  </a:lnTo>
                  <a:lnTo>
                    <a:pt x="10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04984" y="1689735"/>
              <a:ext cx="304165" cy="405130"/>
            </a:xfrm>
            <a:custGeom>
              <a:avLst/>
              <a:gdLst/>
              <a:ahLst/>
              <a:cxnLst/>
              <a:rect l="l" t="t" r="r" b="b"/>
              <a:pathLst>
                <a:path w="304165" h="405130">
                  <a:moveTo>
                    <a:pt x="0" y="0"/>
                  </a:moveTo>
                  <a:lnTo>
                    <a:pt x="304012" y="404901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70906" y="2061598"/>
              <a:ext cx="76835" cy="83820"/>
            </a:xfrm>
            <a:custGeom>
              <a:avLst/>
              <a:gdLst/>
              <a:ahLst/>
              <a:cxnLst/>
              <a:rect l="l" t="t" r="r" b="b"/>
              <a:pathLst>
                <a:path w="76834" h="83819">
                  <a:moveTo>
                    <a:pt x="60934" y="0"/>
                  </a:moveTo>
                  <a:lnTo>
                    <a:pt x="0" y="45745"/>
                  </a:lnTo>
                  <a:lnTo>
                    <a:pt x="76212" y="83807"/>
                  </a:lnTo>
                  <a:lnTo>
                    <a:pt x="609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2455" y="2216658"/>
              <a:ext cx="200405" cy="1996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355558" y="2411349"/>
              <a:ext cx="711200" cy="530860"/>
            </a:xfrm>
            <a:custGeom>
              <a:avLst/>
              <a:gdLst/>
              <a:ahLst/>
              <a:cxnLst/>
              <a:rect l="l" t="t" r="r" b="b"/>
              <a:pathLst>
                <a:path w="711200" h="530860">
                  <a:moveTo>
                    <a:pt x="711098" y="0"/>
                  </a:moveTo>
                  <a:lnTo>
                    <a:pt x="0" y="530479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04656" y="2903697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38290" y="0"/>
                  </a:moveTo>
                  <a:lnTo>
                    <a:pt x="0" y="76098"/>
                  </a:lnTo>
                  <a:lnTo>
                    <a:pt x="83858" y="61074"/>
                  </a:lnTo>
                  <a:lnTo>
                    <a:pt x="38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66656" y="2411349"/>
              <a:ext cx="742950" cy="531495"/>
            </a:xfrm>
            <a:custGeom>
              <a:avLst/>
              <a:gdLst/>
              <a:ahLst/>
              <a:cxnLst/>
              <a:rect l="l" t="t" r="r" b="b"/>
              <a:pathLst>
                <a:path w="742950" h="531494">
                  <a:moveTo>
                    <a:pt x="0" y="0"/>
                  </a:moveTo>
                  <a:lnTo>
                    <a:pt x="742378" y="531482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76523" y="2904462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4361" y="0"/>
                  </a:moveTo>
                  <a:lnTo>
                    <a:pt x="0" y="61950"/>
                  </a:lnTo>
                  <a:lnTo>
                    <a:pt x="84137" y="75336"/>
                  </a:lnTo>
                  <a:lnTo>
                    <a:pt x="443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09430" y="2411349"/>
              <a:ext cx="257810" cy="511809"/>
            </a:xfrm>
            <a:custGeom>
              <a:avLst/>
              <a:gdLst/>
              <a:ahLst/>
              <a:cxnLst/>
              <a:rect l="l" t="t" r="r" b="b"/>
              <a:pathLst>
                <a:path w="257809" h="511810">
                  <a:moveTo>
                    <a:pt x="257225" y="0"/>
                  </a:moveTo>
                  <a:lnTo>
                    <a:pt x="0" y="511721"/>
                  </a:lnTo>
                </a:path>
              </a:pathLst>
            </a:custGeom>
            <a:ln w="12700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80906" y="2894606"/>
              <a:ext cx="68580" cy="85725"/>
            </a:xfrm>
            <a:custGeom>
              <a:avLst/>
              <a:gdLst/>
              <a:ahLst/>
              <a:cxnLst/>
              <a:rect l="l" t="t" r="r" b="b"/>
              <a:pathLst>
                <a:path w="68579" h="85725">
                  <a:moveTo>
                    <a:pt x="177" y="0"/>
                  </a:moveTo>
                  <a:lnTo>
                    <a:pt x="0" y="85191"/>
                  </a:lnTo>
                  <a:lnTo>
                    <a:pt x="68262" y="34226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66275" y="2410968"/>
              <a:ext cx="243840" cy="503555"/>
            </a:xfrm>
            <a:custGeom>
              <a:avLst/>
              <a:gdLst/>
              <a:ahLst/>
              <a:cxnLst/>
              <a:rect l="l" t="t" r="r" b="b"/>
              <a:pathLst>
                <a:path w="243840" h="503555">
                  <a:moveTo>
                    <a:pt x="0" y="0"/>
                  </a:moveTo>
                  <a:lnTo>
                    <a:pt x="243547" y="503288"/>
                  </a:lnTo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9531" y="2882306"/>
              <a:ext cx="240029" cy="29218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329546" y="3174111"/>
              <a:ext cx="864235" cy="499745"/>
            </a:xfrm>
            <a:custGeom>
              <a:avLst/>
              <a:gdLst/>
              <a:ahLst/>
              <a:cxnLst/>
              <a:rect l="l" t="t" r="r" b="b"/>
              <a:pathLst>
                <a:path w="864234" h="499745">
                  <a:moveTo>
                    <a:pt x="0" y="0"/>
                  </a:moveTo>
                  <a:lnTo>
                    <a:pt x="863993" y="499338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163474" y="3634106"/>
              <a:ext cx="85090" cy="71120"/>
            </a:xfrm>
            <a:custGeom>
              <a:avLst/>
              <a:gdLst/>
              <a:ahLst/>
              <a:cxnLst/>
              <a:rect l="l" t="t" r="r" b="b"/>
              <a:pathLst>
                <a:path w="85090" h="71120">
                  <a:moveTo>
                    <a:pt x="38138" y="0"/>
                  </a:moveTo>
                  <a:lnTo>
                    <a:pt x="0" y="65976"/>
                  </a:lnTo>
                  <a:lnTo>
                    <a:pt x="85039" y="71120"/>
                  </a:lnTo>
                  <a:lnTo>
                    <a:pt x="381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30577" y="3174111"/>
              <a:ext cx="899160" cy="427990"/>
            </a:xfrm>
            <a:custGeom>
              <a:avLst/>
              <a:gdLst/>
              <a:ahLst/>
              <a:cxnLst/>
              <a:rect l="l" t="t" r="r" b="b"/>
              <a:pathLst>
                <a:path w="899159" h="427989">
                  <a:moveTo>
                    <a:pt x="898969" y="0"/>
                  </a:moveTo>
                  <a:lnTo>
                    <a:pt x="0" y="427634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73239" y="3561883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52438" y="0"/>
                  </a:moveTo>
                  <a:lnTo>
                    <a:pt x="0" y="67144"/>
                  </a:lnTo>
                  <a:lnTo>
                    <a:pt x="85178" y="68808"/>
                  </a:lnTo>
                  <a:lnTo>
                    <a:pt x="52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29165" y="3173729"/>
              <a:ext cx="305435" cy="470534"/>
            </a:xfrm>
            <a:custGeom>
              <a:avLst/>
              <a:gdLst/>
              <a:ahLst/>
              <a:cxnLst/>
              <a:rect l="l" t="t" r="r" b="b"/>
              <a:pathLst>
                <a:path w="305434" h="470535">
                  <a:moveTo>
                    <a:pt x="0" y="0"/>
                  </a:moveTo>
                  <a:lnTo>
                    <a:pt x="305041" y="470382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589885" y="3608326"/>
              <a:ext cx="83820" cy="96520"/>
            </a:xfrm>
            <a:custGeom>
              <a:avLst/>
              <a:gdLst/>
              <a:ahLst/>
              <a:cxnLst/>
              <a:rect l="l" t="t" r="r" b="b"/>
              <a:pathLst>
                <a:path w="83820" h="96520">
                  <a:moveTo>
                    <a:pt x="72885" y="0"/>
                  </a:moveTo>
                  <a:lnTo>
                    <a:pt x="0" y="47256"/>
                  </a:lnTo>
                  <a:lnTo>
                    <a:pt x="83705" y="96520"/>
                  </a:lnTo>
                  <a:lnTo>
                    <a:pt x="728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23451" y="3174111"/>
              <a:ext cx="306705" cy="404495"/>
            </a:xfrm>
            <a:custGeom>
              <a:avLst/>
              <a:gdLst/>
              <a:ahLst/>
              <a:cxnLst/>
              <a:rect l="l" t="t" r="r" b="b"/>
              <a:pathLst>
                <a:path w="306704" h="404495">
                  <a:moveTo>
                    <a:pt x="306095" y="0"/>
                  </a:moveTo>
                  <a:lnTo>
                    <a:pt x="0" y="404291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85117" y="3545274"/>
              <a:ext cx="76835" cy="83820"/>
            </a:xfrm>
            <a:custGeom>
              <a:avLst/>
              <a:gdLst/>
              <a:ahLst/>
              <a:cxnLst/>
              <a:rect l="l" t="t" r="r" b="b"/>
              <a:pathLst>
                <a:path w="76834" h="83820">
                  <a:moveTo>
                    <a:pt x="15621" y="0"/>
                  </a:moveTo>
                  <a:lnTo>
                    <a:pt x="0" y="83756"/>
                  </a:lnTo>
                  <a:lnTo>
                    <a:pt x="76377" y="45999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53954" y="3700272"/>
              <a:ext cx="201929" cy="19964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670922" y="3894963"/>
              <a:ext cx="718185" cy="530225"/>
            </a:xfrm>
            <a:custGeom>
              <a:avLst/>
              <a:gdLst/>
              <a:ahLst/>
              <a:cxnLst/>
              <a:rect l="l" t="t" r="r" b="b"/>
              <a:pathLst>
                <a:path w="718184" h="530225">
                  <a:moveTo>
                    <a:pt x="0" y="0"/>
                  </a:moveTo>
                  <a:lnTo>
                    <a:pt x="717778" y="529971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355851" y="4386738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45262" y="0"/>
                  </a:moveTo>
                  <a:lnTo>
                    <a:pt x="0" y="61302"/>
                  </a:lnTo>
                  <a:lnTo>
                    <a:pt x="83934" y="75907"/>
                  </a:lnTo>
                  <a:lnTo>
                    <a:pt x="45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921863" y="3894963"/>
              <a:ext cx="749300" cy="531495"/>
            </a:xfrm>
            <a:custGeom>
              <a:avLst/>
              <a:gdLst/>
              <a:ahLst/>
              <a:cxnLst/>
              <a:rect l="l" t="t" r="r" b="b"/>
              <a:pathLst>
                <a:path w="749300" h="531495">
                  <a:moveTo>
                    <a:pt x="749058" y="0"/>
                  </a:moveTo>
                  <a:lnTo>
                    <a:pt x="0" y="530974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870058" y="4387501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0131" y="0"/>
                  </a:moveTo>
                  <a:lnTo>
                    <a:pt x="0" y="75145"/>
                  </a:lnTo>
                  <a:lnTo>
                    <a:pt x="84200" y="62166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670922" y="3894963"/>
              <a:ext cx="259715" cy="511175"/>
            </a:xfrm>
            <a:custGeom>
              <a:avLst/>
              <a:gdLst/>
              <a:ahLst/>
              <a:cxnLst/>
              <a:rect l="l" t="t" r="r" b="b"/>
              <a:pathLst>
                <a:path w="259715" h="511175">
                  <a:moveTo>
                    <a:pt x="0" y="0"/>
                  </a:moveTo>
                  <a:lnTo>
                    <a:pt x="259308" y="511060"/>
                  </a:lnTo>
                </a:path>
              </a:pathLst>
            </a:custGeom>
            <a:ln w="12700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890503" y="4377460"/>
              <a:ext cx="68580" cy="85725"/>
            </a:xfrm>
            <a:custGeom>
              <a:avLst/>
              <a:gdLst/>
              <a:ahLst/>
              <a:cxnLst/>
              <a:rect l="l" t="t" r="r" b="b"/>
              <a:pathLst>
                <a:path w="68579" h="85725">
                  <a:moveTo>
                    <a:pt x="67957" y="0"/>
                  </a:moveTo>
                  <a:lnTo>
                    <a:pt x="0" y="34480"/>
                  </a:lnTo>
                  <a:lnTo>
                    <a:pt x="68452" y="85191"/>
                  </a:lnTo>
                  <a:lnTo>
                    <a:pt x="67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424949" y="3894582"/>
              <a:ext cx="245745" cy="502920"/>
            </a:xfrm>
            <a:custGeom>
              <a:avLst/>
              <a:gdLst/>
              <a:ahLst/>
              <a:cxnLst/>
              <a:rect l="l" t="t" r="r" b="b"/>
              <a:pathLst>
                <a:path w="245745" h="502920">
                  <a:moveTo>
                    <a:pt x="245592" y="0"/>
                  </a:moveTo>
                  <a:lnTo>
                    <a:pt x="0" y="502653"/>
                  </a:lnTo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5731" y="4365155"/>
              <a:ext cx="240029" cy="29218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549220" y="4656963"/>
              <a:ext cx="855980" cy="500380"/>
            </a:xfrm>
            <a:custGeom>
              <a:avLst/>
              <a:gdLst/>
              <a:ahLst/>
              <a:cxnLst/>
              <a:rect l="l" t="t" r="r" b="b"/>
              <a:pathLst>
                <a:path w="855979" h="500379">
                  <a:moveTo>
                    <a:pt x="855764" y="0"/>
                  </a:moveTo>
                  <a:lnTo>
                    <a:pt x="0" y="499846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94389" y="5117505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90" h="71754">
                  <a:moveTo>
                    <a:pt x="46583" y="0"/>
                  </a:moveTo>
                  <a:lnTo>
                    <a:pt x="0" y="71335"/>
                  </a:lnTo>
                  <a:lnTo>
                    <a:pt x="85013" y="65798"/>
                  </a:lnTo>
                  <a:lnTo>
                    <a:pt x="465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404984" y="4656963"/>
              <a:ext cx="892810" cy="428625"/>
            </a:xfrm>
            <a:custGeom>
              <a:avLst/>
              <a:gdLst/>
              <a:ahLst/>
              <a:cxnLst/>
              <a:rect l="l" t="t" r="r" b="b"/>
              <a:pathLst>
                <a:path w="892809" h="428625">
                  <a:moveTo>
                    <a:pt x="0" y="0"/>
                  </a:moveTo>
                  <a:lnTo>
                    <a:pt x="892200" y="428205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269257" y="5045317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2969" y="0"/>
                  </a:moveTo>
                  <a:lnTo>
                    <a:pt x="0" y="68694"/>
                  </a:lnTo>
                  <a:lnTo>
                    <a:pt x="85178" y="67322"/>
                  </a:lnTo>
                  <a:lnTo>
                    <a:pt x="32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02330" y="4656582"/>
              <a:ext cx="302895" cy="471170"/>
            </a:xfrm>
            <a:custGeom>
              <a:avLst/>
              <a:gdLst/>
              <a:ahLst/>
              <a:cxnLst/>
              <a:rect l="l" t="t" r="r" b="b"/>
              <a:pathLst>
                <a:path w="302895" h="471170">
                  <a:moveTo>
                    <a:pt x="302272" y="0"/>
                  </a:moveTo>
                  <a:lnTo>
                    <a:pt x="0" y="47095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063228" y="5091891"/>
              <a:ext cx="83820" cy="97155"/>
            </a:xfrm>
            <a:custGeom>
              <a:avLst/>
              <a:gdLst/>
              <a:ahLst/>
              <a:cxnLst/>
              <a:rect l="l" t="t" r="r" b="b"/>
              <a:pathLst>
                <a:path w="83820" h="97154">
                  <a:moveTo>
                    <a:pt x="10363" y="0"/>
                  </a:moveTo>
                  <a:lnTo>
                    <a:pt x="0" y="96570"/>
                  </a:lnTo>
                  <a:lnTo>
                    <a:pt x="83477" y="46913"/>
                  </a:lnTo>
                  <a:lnTo>
                    <a:pt x="10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404984" y="4656963"/>
              <a:ext cx="304165" cy="405130"/>
            </a:xfrm>
            <a:custGeom>
              <a:avLst/>
              <a:gdLst/>
              <a:ahLst/>
              <a:cxnLst/>
              <a:rect l="l" t="t" r="r" b="b"/>
              <a:pathLst>
                <a:path w="304165" h="405129">
                  <a:moveTo>
                    <a:pt x="0" y="0"/>
                  </a:moveTo>
                  <a:lnTo>
                    <a:pt x="304012" y="404901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670906" y="5028826"/>
              <a:ext cx="76835" cy="83820"/>
            </a:xfrm>
            <a:custGeom>
              <a:avLst/>
              <a:gdLst/>
              <a:ahLst/>
              <a:cxnLst/>
              <a:rect l="l" t="t" r="r" b="b"/>
              <a:pathLst>
                <a:path w="76834" h="83820">
                  <a:moveTo>
                    <a:pt x="60934" y="0"/>
                  </a:moveTo>
                  <a:lnTo>
                    <a:pt x="0" y="45745"/>
                  </a:lnTo>
                  <a:lnTo>
                    <a:pt x="76212" y="83807"/>
                  </a:lnTo>
                  <a:lnTo>
                    <a:pt x="609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2455" y="5183885"/>
              <a:ext cx="200405" cy="19964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355558" y="5378577"/>
              <a:ext cx="711200" cy="530860"/>
            </a:xfrm>
            <a:custGeom>
              <a:avLst/>
              <a:gdLst/>
              <a:ahLst/>
              <a:cxnLst/>
              <a:rect l="l" t="t" r="r" b="b"/>
              <a:pathLst>
                <a:path w="711200" h="530860">
                  <a:moveTo>
                    <a:pt x="711098" y="0"/>
                  </a:moveTo>
                  <a:lnTo>
                    <a:pt x="0" y="530479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04656" y="5870925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38290" y="0"/>
                  </a:moveTo>
                  <a:lnTo>
                    <a:pt x="0" y="76098"/>
                  </a:lnTo>
                  <a:lnTo>
                    <a:pt x="83858" y="61074"/>
                  </a:lnTo>
                  <a:lnTo>
                    <a:pt x="38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066656" y="5378577"/>
              <a:ext cx="742950" cy="531495"/>
            </a:xfrm>
            <a:custGeom>
              <a:avLst/>
              <a:gdLst/>
              <a:ahLst/>
              <a:cxnLst/>
              <a:rect l="l" t="t" r="r" b="b"/>
              <a:pathLst>
                <a:path w="742950" h="531495">
                  <a:moveTo>
                    <a:pt x="0" y="0"/>
                  </a:moveTo>
                  <a:lnTo>
                    <a:pt x="742378" y="531482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776523" y="5871690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4361" y="0"/>
                  </a:moveTo>
                  <a:lnTo>
                    <a:pt x="0" y="61950"/>
                  </a:lnTo>
                  <a:lnTo>
                    <a:pt x="84137" y="75336"/>
                  </a:lnTo>
                  <a:lnTo>
                    <a:pt x="443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809430" y="5378577"/>
              <a:ext cx="257810" cy="511809"/>
            </a:xfrm>
            <a:custGeom>
              <a:avLst/>
              <a:gdLst/>
              <a:ahLst/>
              <a:cxnLst/>
              <a:rect l="l" t="t" r="r" b="b"/>
              <a:pathLst>
                <a:path w="257809" h="511810">
                  <a:moveTo>
                    <a:pt x="257225" y="0"/>
                  </a:moveTo>
                  <a:lnTo>
                    <a:pt x="0" y="511721"/>
                  </a:lnTo>
                </a:path>
              </a:pathLst>
            </a:custGeom>
            <a:ln w="12700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780906" y="5861834"/>
              <a:ext cx="68580" cy="85725"/>
            </a:xfrm>
            <a:custGeom>
              <a:avLst/>
              <a:gdLst/>
              <a:ahLst/>
              <a:cxnLst/>
              <a:rect l="l" t="t" r="r" b="b"/>
              <a:pathLst>
                <a:path w="68579" h="85725">
                  <a:moveTo>
                    <a:pt x="177" y="0"/>
                  </a:moveTo>
                  <a:lnTo>
                    <a:pt x="0" y="85191"/>
                  </a:lnTo>
                  <a:lnTo>
                    <a:pt x="68262" y="34226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066275" y="5378196"/>
              <a:ext cx="243840" cy="503555"/>
            </a:xfrm>
            <a:custGeom>
              <a:avLst/>
              <a:gdLst/>
              <a:ahLst/>
              <a:cxnLst/>
              <a:rect l="l" t="t" r="r" b="b"/>
              <a:pathLst>
                <a:path w="243840" h="503554">
                  <a:moveTo>
                    <a:pt x="0" y="0"/>
                  </a:moveTo>
                  <a:lnTo>
                    <a:pt x="243547" y="503288"/>
                  </a:lnTo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11055" y="5849534"/>
              <a:ext cx="236220" cy="292185"/>
            </a:xfrm>
            <a:prstGeom prst="rect">
              <a:avLst/>
            </a:prstGeom>
          </p:spPr>
        </p:pic>
      </p:grpSp>
      <p:sp>
        <p:nvSpPr>
          <p:cNvPr id="57" name="object 57"/>
          <p:cNvSpPr/>
          <p:nvPr/>
        </p:nvSpPr>
        <p:spPr>
          <a:xfrm>
            <a:off x="7772781" y="3505580"/>
            <a:ext cx="304800" cy="1143000"/>
          </a:xfrm>
          <a:custGeom>
            <a:avLst/>
            <a:gdLst/>
            <a:ahLst/>
            <a:cxnLst/>
            <a:rect l="l" t="t" r="r" b="b"/>
            <a:pathLst>
              <a:path w="304800" h="1143000">
                <a:moveTo>
                  <a:pt x="304800" y="1143000"/>
                </a:moveTo>
                <a:lnTo>
                  <a:pt x="245481" y="1135514"/>
                </a:lnTo>
                <a:lnTo>
                  <a:pt x="197038" y="1115101"/>
                </a:lnTo>
                <a:lnTo>
                  <a:pt x="164377" y="1084824"/>
                </a:lnTo>
                <a:lnTo>
                  <a:pt x="152400" y="1047750"/>
                </a:lnTo>
                <a:lnTo>
                  <a:pt x="152400" y="666750"/>
                </a:lnTo>
                <a:lnTo>
                  <a:pt x="140422" y="629675"/>
                </a:lnTo>
                <a:lnTo>
                  <a:pt x="107761" y="599398"/>
                </a:lnTo>
                <a:lnTo>
                  <a:pt x="59318" y="578985"/>
                </a:lnTo>
                <a:lnTo>
                  <a:pt x="0" y="571500"/>
                </a:lnTo>
                <a:lnTo>
                  <a:pt x="59318" y="564014"/>
                </a:lnTo>
                <a:lnTo>
                  <a:pt x="107761" y="543601"/>
                </a:lnTo>
                <a:lnTo>
                  <a:pt x="140422" y="513324"/>
                </a:lnTo>
                <a:lnTo>
                  <a:pt x="152400" y="476250"/>
                </a:lnTo>
                <a:lnTo>
                  <a:pt x="152400" y="95250"/>
                </a:lnTo>
                <a:lnTo>
                  <a:pt x="164377" y="58175"/>
                </a:lnTo>
                <a:lnTo>
                  <a:pt x="197038" y="27898"/>
                </a:lnTo>
                <a:lnTo>
                  <a:pt x="245481" y="7485"/>
                </a:lnTo>
                <a:lnTo>
                  <a:pt x="304800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772781" y="1981580"/>
            <a:ext cx="304800" cy="1143000"/>
          </a:xfrm>
          <a:custGeom>
            <a:avLst/>
            <a:gdLst/>
            <a:ahLst/>
            <a:cxnLst/>
            <a:rect l="l" t="t" r="r" b="b"/>
            <a:pathLst>
              <a:path w="304800" h="1143000">
                <a:moveTo>
                  <a:pt x="304800" y="1143000"/>
                </a:moveTo>
                <a:lnTo>
                  <a:pt x="245481" y="1135514"/>
                </a:lnTo>
                <a:lnTo>
                  <a:pt x="197038" y="1115101"/>
                </a:lnTo>
                <a:lnTo>
                  <a:pt x="164377" y="1084824"/>
                </a:lnTo>
                <a:lnTo>
                  <a:pt x="152400" y="1047750"/>
                </a:lnTo>
                <a:lnTo>
                  <a:pt x="152400" y="666750"/>
                </a:lnTo>
                <a:lnTo>
                  <a:pt x="140422" y="629675"/>
                </a:lnTo>
                <a:lnTo>
                  <a:pt x="107761" y="599398"/>
                </a:lnTo>
                <a:lnTo>
                  <a:pt x="59318" y="578985"/>
                </a:lnTo>
                <a:lnTo>
                  <a:pt x="0" y="571500"/>
                </a:lnTo>
                <a:lnTo>
                  <a:pt x="59318" y="564014"/>
                </a:lnTo>
                <a:lnTo>
                  <a:pt x="107761" y="543601"/>
                </a:lnTo>
                <a:lnTo>
                  <a:pt x="140422" y="513324"/>
                </a:lnTo>
                <a:lnTo>
                  <a:pt x="152400" y="476250"/>
                </a:lnTo>
                <a:lnTo>
                  <a:pt x="152400" y="95250"/>
                </a:lnTo>
                <a:lnTo>
                  <a:pt x="164377" y="58175"/>
                </a:lnTo>
                <a:lnTo>
                  <a:pt x="197038" y="27898"/>
                </a:lnTo>
                <a:lnTo>
                  <a:pt x="245481" y="7485"/>
                </a:lnTo>
                <a:lnTo>
                  <a:pt x="304800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772781" y="5029580"/>
            <a:ext cx="304800" cy="1143000"/>
          </a:xfrm>
          <a:custGeom>
            <a:avLst/>
            <a:gdLst/>
            <a:ahLst/>
            <a:cxnLst/>
            <a:rect l="l" t="t" r="r" b="b"/>
            <a:pathLst>
              <a:path w="304800" h="1143000">
                <a:moveTo>
                  <a:pt x="304800" y="1143000"/>
                </a:moveTo>
                <a:lnTo>
                  <a:pt x="245481" y="1135514"/>
                </a:lnTo>
                <a:lnTo>
                  <a:pt x="197038" y="1115101"/>
                </a:lnTo>
                <a:lnTo>
                  <a:pt x="164377" y="1084824"/>
                </a:lnTo>
                <a:lnTo>
                  <a:pt x="152400" y="1047750"/>
                </a:lnTo>
                <a:lnTo>
                  <a:pt x="152400" y="666750"/>
                </a:lnTo>
                <a:lnTo>
                  <a:pt x="140422" y="629675"/>
                </a:lnTo>
                <a:lnTo>
                  <a:pt x="107761" y="599398"/>
                </a:lnTo>
                <a:lnTo>
                  <a:pt x="59318" y="578985"/>
                </a:lnTo>
                <a:lnTo>
                  <a:pt x="0" y="571500"/>
                </a:lnTo>
                <a:lnTo>
                  <a:pt x="59318" y="564014"/>
                </a:lnTo>
                <a:lnTo>
                  <a:pt x="107761" y="543601"/>
                </a:lnTo>
                <a:lnTo>
                  <a:pt x="140422" y="513324"/>
                </a:lnTo>
                <a:lnTo>
                  <a:pt x="152400" y="476250"/>
                </a:lnTo>
                <a:lnTo>
                  <a:pt x="152400" y="95250"/>
                </a:lnTo>
                <a:lnTo>
                  <a:pt x="164377" y="58175"/>
                </a:lnTo>
                <a:lnTo>
                  <a:pt x="197038" y="27898"/>
                </a:lnTo>
                <a:lnTo>
                  <a:pt x="245481" y="7485"/>
                </a:lnTo>
                <a:lnTo>
                  <a:pt x="304800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5562600" y="1676400"/>
            <a:ext cx="1795145" cy="1524000"/>
            <a:chOff x="5562600" y="1676400"/>
            <a:chExt cx="1795145" cy="1524000"/>
          </a:xfrm>
        </p:grpSpPr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66938" y="2320953"/>
              <a:ext cx="190380" cy="32305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62600" y="1676400"/>
              <a:ext cx="1761743" cy="1523999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5562600" y="3429000"/>
            <a:ext cx="1843405" cy="1100455"/>
            <a:chOff x="5562600" y="3429000"/>
            <a:chExt cx="1843405" cy="1100455"/>
          </a:xfrm>
        </p:grpSpPr>
        <p:pic>
          <p:nvPicPr>
            <p:cNvPr id="64" name="object 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3750" y="3874685"/>
              <a:ext cx="262127" cy="30945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62600" y="3429000"/>
              <a:ext cx="1571177" cy="1100411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5486400" y="5181600"/>
            <a:ext cx="2085339" cy="992505"/>
            <a:chOff x="5486400" y="5181600"/>
            <a:chExt cx="2085339" cy="992505"/>
          </a:xfrm>
        </p:grpSpPr>
        <p:pic>
          <p:nvPicPr>
            <p:cNvPr id="67" name="object 6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74300" y="5231129"/>
              <a:ext cx="496931" cy="55473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86400" y="5181600"/>
              <a:ext cx="1568119" cy="9924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6439">
              <a:lnSpc>
                <a:spcPct val="100000"/>
              </a:lnSpc>
              <a:spcBef>
                <a:spcPts val="95"/>
              </a:spcBef>
            </a:pPr>
            <a:r>
              <a:rPr dirty="0"/>
              <a:t>Stationary</a:t>
            </a:r>
            <a:r>
              <a:rPr spc="-165" dirty="0"/>
              <a:t> </a:t>
            </a:r>
            <a:r>
              <a:rPr spc="-10" dirty="0"/>
              <a:t>Preferences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36" y="1339085"/>
            <a:ext cx="71729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Theorem: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if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assume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stationary</a:t>
            </a:r>
            <a:r>
              <a:rPr sz="2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preferences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36" y="4423661"/>
            <a:ext cx="7276465" cy="164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Then: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there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only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two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ways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define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utilities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765"/>
              </a:spcBef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Additive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utility: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870"/>
              </a:spcBef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Discounted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utility: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3109" y="2793783"/>
            <a:ext cx="204532" cy="3491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3003" y="5167121"/>
            <a:ext cx="5775820" cy="3192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7576" y="5715000"/>
            <a:ext cx="5935839" cy="36423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03285" y="1320546"/>
            <a:ext cx="3927346" cy="32765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5055" y="2196777"/>
            <a:ext cx="3703344" cy="369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40258" y="3339777"/>
            <a:ext cx="4337345" cy="3697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16200">
              <a:lnSpc>
                <a:spcPct val="100000"/>
              </a:lnSpc>
              <a:spcBef>
                <a:spcPts val="95"/>
              </a:spcBef>
            </a:pPr>
            <a:r>
              <a:rPr dirty="0"/>
              <a:t>Infinite</a:t>
            </a:r>
            <a:r>
              <a:rPr spc="-110" dirty="0"/>
              <a:t> </a:t>
            </a:r>
            <a:r>
              <a:rPr spc="-10" dirty="0"/>
              <a:t>Utilities?!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6" y="1305557"/>
            <a:ext cx="10637520" cy="510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645223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Problem: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if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game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lasts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forever?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	Do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get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infinite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rewards?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1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Solutions: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Finite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horizon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(similar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depth-</a:t>
            </a:r>
            <a:r>
              <a:rPr sz="2400" dirty="0">
                <a:latin typeface="Calibri"/>
                <a:cs typeface="Calibri"/>
              </a:rPr>
              <a:t>limited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search)</a:t>
            </a:r>
            <a:endParaRPr sz="24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509"/>
              </a:spcBef>
              <a:buClr>
                <a:srgbClr val="333399"/>
              </a:buClr>
              <a:buFont typeface="Wingdings"/>
              <a:buChar char="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Terminate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episodes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after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fixed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(e.g.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life)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495"/>
              </a:spcBef>
              <a:buClr>
                <a:srgbClr val="333399"/>
              </a:buClr>
              <a:buFont typeface="Wingdings"/>
              <a:buChar char="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Gives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nonstationary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policies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depends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left)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714"/>
              </a:spcBef>
              <a:buClr>
                <a:srgbClr val="000000"/>
              </a:buClr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Discounting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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45"/>
              </a:spcBef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buClr>
                <a:srgbClr val="333399"/>
              </a:buClr>
              <a:buFont typeface="Wingdings"/>
              <a:buChar char="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Smaller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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means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“horizon”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shorter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focus</a:t>
            </a:r>
            <a:endParaRPr sz="20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1685"/>
              </a:spcBef>
              <a:buClr>
                <a:srgbClr val="000000"/>
              </a:buClr>
              <a:buFont typeface="Wingdings"/>
              <a:buChar char=""/>
              <a:tabLst>
                <a:tab pos="755650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Absorbing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state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guarantee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policy,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terminal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eventually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reached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(like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“overheated”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racing)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464" y="4338748"/>
            <a:ext cx="5206127" cy="6973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00268" y="2525904"/>
            <a:ext cx="3485311" cy="15166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4190">
              <a:lnSpc>
                <a:spcPct val="100000"/>
              </a:lnSpc>
              <a:spcBef>
                <a:spcPts val="95"/>
              </a:spcBef>
            </a:pPr>
            <a:r>
              <a:rPr dirty="0"/>
              <a:t>Solving</a:t>
            </a:r>
            <a:r>
              <a:rPr spc="-100" dirty="0"/>
              <a:t> </a:t>
            </a:r>
            <a:r>
              <a:rPr spc="-20" dirty="0"/>
              <a:t>MDPs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2785" y="2019586"/>
            <a:ext cx="7189876" cy="385659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75814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-130" dirty="0"/>
              <a:t> </a:t>
            </a:r>
            <a:r>
              <a:rPr dirty="0"/>
              <a:t>Defining</a:t>
            </a:r>
            <a:r>
              <a:rPr spc="-120" dirty="0"/>
              <a:t> </a:t>
            </a:r>
            <a:r>
              <a:rPr spc="-20" dirty="0"/>
              <a:t>MDPs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36" y="1362515"/>
            <a:ext cx="5660390" cy="264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80365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Markov</a:t>
            </a:r>
            <a:r>
              <a:rPr sz="3200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decision</a:t>
            </a:r>
            <a:r>
              <a:rPr sz="32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processes:</a:t>
            </a:r>
            <a:endParaRPr sz="3200">
              <a:latin typeface="Calibri"/>
              <a:cs typeface="Calibri"/>
            </a:endParaRPr>
          </a:p>
          <a:p>
            <a:pPr marL="780415" lvl="1" indent="-28511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780415" algn="l"/>
              </a:tabLst>
            </a:pPr>
            <a:r>
              <a:rPr sz="2800" dirty="0">
                <a:latin typeface="Calibri"/>
                <a:cs typeface="Calibri"/>
              </a:rPr>
              <a:t>Set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  <a:p>
            <a:pPr marL="780415" lvl="1" indent="-28511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80415" algn="l"/>
              </a:tabLst>
            </a:pPr>
            <a:r>
              <a:rPr sz="2800" dirty="0">
                <a:latin typeface="Calibri"/>
                <a:cs typeface="Calibri"/>
              </a:rPr>
              <a:t>Start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</a:t>
            </a:r>
            <a:r>
              <a:rPr sz="2775" spc="-37" baseline="-21021" dirty="0">
                <a:latin typeface="Calibri"/>
                <a:cs typeface="Calibri"/>
              </a:rPr>
              <a:t>0</a:t>
            </a:r>
            <a:endParaRPr sz="2775" baseline="-21021">
              <a:latin typeface="Calibri"/>
              <a:cs typeface="Calibri"/>
            </a:endParaRPr>
          </a:p>
          <a:p>
            <a:pPr marL="780415" lvl="1" indent="-285115">
              <a:lnSpc>
                <a:spcPct val="100000"/>
              </a:lnSpc>
              <a:buFont typeface="Wingdings"/>
              <a:buChar char=""/>
              <a:tabLst>
                <a:tab pos="780415" algn="l"/>
              </a:tabLst>
            </a:pPr>
            <a:r>
              <a:rPr sz="2800" dirty="0">
                <a:latin typeface="Calibri"/>
                <a:cs typeface="Calibri"/>
              </a:rPr>
              <a:t>Set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actions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780415" lvl="1" indent="-285115">
              <a:lnSpc>
                <a:spcPct val="100000"/>
              </a:lnSpc>
              <a:buFont typeface="Wingdings"/>
              <a:buChar char=""/>
              <a:tabLst>
                <a:tab pos="780415" algn="l"/>
              </a:tabLst>
            </a:pPr>
            <a:r>
              <a:rPr sz="2800" dirty="0">
                <a:latin typeface="Calibri"/>
                <a:cs typeface="Calibri"/>
              </a:rPr>
              <a:t>Transitions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P(s’|s,a)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T(s,a,s’))</a:t>
            </a:r>
            <a:endParaRPr sz="2800">
              <a:latin typeface="Calibri"/>
              <a:cs typeface="Calibri"/>
            </a:endParaRPr>
          </a:p>
          <a:p>
            <a:pPr marL="780415" lvl="1" indent="-285115">
              <a:lnSpc>
                <a:spcPct val="100000"/>
              </a:lnSpc>
              <a:buFont typeface="Wingdings"/>
              <a:buChar char=""/>
              <a:tabLst>
                <a:tab pos="780415" algn="l"/>
              </a:tabLst>
            </a:pPr>
            <a:r>
              <a:rPr sz="2800" dirty="0">
                <a:latin typeface="Calibri"/>
                <a:cs typeface="Calibri"/>
              </a:rPr>
              <a:t>Rewards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R(s,a,s’)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discount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Symbol"/>
                <a:cs typeface="Symbol"/>
              </a:rPr>
              <a:t></a:t>
            </a:r>
            <a:r>
              <a:rPr sz="2800" spc="-25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136" y="4553009"/>
            <a:ext cx="6348095" cy="136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MDP</a:t>
            </a:r>
            <a:r>
              <a:rPr sz="32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quantities</a:t>
            </a:r>
            <a:r>
              <a:rPr sz="32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so</a:t>
            </a:r>
            <a:r>
              <a:rPr sz="32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333399"/>
                </a:solidFill>
                <a:latin typeface="Calibri"/>
                <a:cs typeface="Calibri"/>
              </a:rPr>
              <a:t>far:</a:t>
            </a:r>
            <a:endParaRPr sz="32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latin typeface="Calibri"/>
                <a:cs typeface="Calibri"/>
              </a:rPr>
              <a:t>Policy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Choice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latin typeface="Calibri"/>
                <a:cs typeface="Calibri"/>
              </a:rPr>
              <a:t>Utility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(discounted)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rewards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01378" y="1786001"/>
            <a:ext cx="3048000" cy="2205990"/>
            <a:chOff x="8001378" y="1786001"/>
            <a:chExt cx="3048000" cy="2205990"/>
          </a:xfrm>
        </p:grpSpPr>
        <p:sp>
          <p:nvSpPr>
            <p:cNvPr id="6" name="object 6"/>
            <p:cNvSpPr/>
            <p:nvPr/>
          </p:nvSpPr>
          <p:spPr>
            <a:xfrm>
              <a:off x="9468230" y="1791081"/>
              <a:ext cx="340360" cy="271780"/>
            </a:xfrm>
            <a:custGeom>
              <a:avLst/>
              <a:gdLst/>
              <a:ahLst/>
              <a:cxnLst/>
              <a:rect l="l" t="t" r="r" b="b"/>
              <a:pathLst>
                <a:path w="340359" h="271780">
                  <a:moveTo>
                    <a:pt x="169926" y="0"/>
                  </a:moveTo>
                  <a:lnTo>
                    <a:pt x="0" y="271272"/>
                  </a:lnTo>
                  <a:lnTo>
                    <a:pt x="339852" y="271272"/>
                  </a:lnTo>
                  <a:lnTo>
                    <a:pt x="16992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68230" y="1791081"/>
              <a:ext cx="340360" cy="271780"/>
            </a:xfrm>
            <a:custGeom>
              <a:avLst/>
              <a:gdLst/>
              <a:ahLst/>
              <a:cxnLst/>
              <a:rect l="l" t="t" r="r" b="b"/>
              <a:pathLst>
                <a:path w="340359" h="271780">
                  <a:moveTo>
                    <a:pt x="0" y="271272"/>
                  </a:moveTo>
                  <a:lnTo>
                    <a:pt x="169926" y="0"/>
                  </a:lnTo>
                  <a:lnTo>
                    <a:pt x="339852" y="271272"/>
                  </a:lnTo>
                  <a:lnTo>
                    <a:pt x="0" y="271272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38921" y="2073783"/>
              <a:ext cx="1299845" cy="758190"/>
            </a:xfrm>
            <a:custGeom>
              <a:avLst/>
              <a:gdLst/>
              <a:ahLst/>
              <a:cxnLst/>
              <a:rect l="l" t="t" r="r" b="b"/>
              <a:pathLst>
                <a:path w="1299845" h="758189">
                  <a:moveTo>
                    <a:pt x="1299235" y="0"/>
                  </a:moveTo>
                  <a:lnTo>
                    <a:pt x="0" y="75819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84078" y="2792661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90" h="71755">
                  <a:moveTo>
                    <a:pt x="46608" y="0"/>
                  </a:moveTo>
                  <a:lnTo>
                    <a:pt x="0" y="71310"/>
                  </a:lnTo>
                  <a:lnTo>
                    <a:pt x="85013" y="65811"/>
                  </a:lnTo>
                  <a:lnTo>
                    <a:pt x="466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38156" y="2073783"/>
              <a:ext cx="1354455" cy="650240"/>
            </a:xfrm>
            <a:custGeom>
              <a:avLst/>
              <a:gdLst/>
              <a:ahLst/>
              <a:cxnLst/>
              <a:rect l="l" t="t" r="r" b="b"/>
              <a:pathLst>
                <a:path w="1354454" h="650239">
                  <a:moveTo>
                    <a:pt x="0" y="0"/>
                  </a:moveTo>
                  <a:lnTo>
                    <a:pt x="1353972" y="649935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64192" y="2683874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2981" y="0"/>
                  </a:moveTo>
                  <a:lnTo>
                    <a:pt x="0" y="68694"/>
                  </a:lnTo>
                  <a:lnTo>
                    <a:pt x="85191" y="67322"/>
                  </a:lnTo>
                  <a:lnTo>
                    <a:pt x="329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69399" y="2073402"/>
              <a:ext cx="468630" cy="729615"/>
            </a:xfrm>
            <a:custGeom>
              <a:avLst/>
              <a:gdLst/>
              <a:ahLst/>
              <a:cxnLst/>
              <a:rect l="l" t="t" r="r" b="b"/>
              <a:pathLst>
                <a:path w="468629" h="729614">
                  <a:moveTo>
                    <a:pt x="468375" y="0"/>
                  </a:moveTo>
                  <a:lnTo>
                    <a:pt x="0" y="72928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30287" y="2767032"/>
              <a:ext cx="83820" cy="97155"/>
            </a:xfrm>
            <a:custGeom>
              <a:avLst/>
              <a:gdLst/>
              <a:ahLst/>
              <a:cxnLst/>
              <a:rect l="l" t="t" r="r" b="b"/>
              <a:pathLst>
                <a:path w="83820" h="97155">
                  <a:moveTo>
                    <a:pt x="10388" y="0"/>
                  </a:moveTo>
                  <a:lnTo>
                    <a:pt x="0" y="96558"/>
                  </a:lnTo>
                  <a:lnTo>
                    <a:pt x="83477" y="46939"/>
                  </a:lnTo>
                  <a:lnTo>
                    <a:pt x="10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38156" y="2073783"/>
              <a:ext cx="470534" cy="626745"/>
            </a:xfrm>
            <a:custGeom>
              <a:avLst/>
              <a:gdLst/>
              <a:ahLst/>
              <a:cxnLst/>
              <a:rect l="l" t="t" r="r" b="b"/>
              <a:pathLst>
                <a:path w="470534" h="626744">
                  <a:moveTo>
                    <a:pt x="0" y="0"/>
                  </a:moveTo>
                  <a:lnTo>
                    <a:pt x="470141" y="62663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70210" y="2667382"/>
              <a:ext cx="76200" cy="83820"/>
            </a:xfrm>
            <a:custGeom>
              <a:avLst/>
              <a:gdLst/>
              <a:ahLst/>
              <a:cxnLst/>
              <a:rect l="l" t="t" r="r" b="b"/>
              <a:pathLst>
                <a:path w="76200" h="83819">
                  <a:moveTo>
                    <a:pt x="60947" y="0"/>
                  </a:moveTo>
                  <a:lnTo>
                    <a:pt x="0" y="45732"/>
                  </a:lnTo>
                  <a:lnTo>
                    <a:pt x="76199" y="83820"/>
                  </a:lnTo>
                  <a:lnTo>
                    <a:pt x="60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17126" y="2863977"/>
              <a:ext cx="283210" cy="283210"/>
            </a:xfrm>
            <a:custGeom>
              <a:avLst/>
              <a:gdLst/>
              <a:ahLst/>
              <a:cxnLst/>
              <a:rect l="l" t="t" r="r" b="b"/>
              <a:pathLst>
                <a:path w="283209" h="283210">
                  <a:moveTo>
                    <a:pt x="141351" y="0"/>
                  </a:moveTo>
                  <a:lnTo>
                    <a:pt x="96672" y="7206"/>
                  </a:lnTo>
                  <a:lnTo>
                    <a:pt x="57870" y="27272"/>
                  </a:lnTo>
                  <a:lnTo>
                    <a:pt x="27272" y="57870"/>
                  </a:lnTo>
                  <a:lnTo>
                    <a:pt x="7206" y="96672"/>
                  </a:lnTo>
                  <a:lnTo>
                    <a:pt x="0" y="141350"/>
                  </a:lnTo>
                  <a:lnTo>
                    <a:pt x="7206" y="186029"/>
                  </a:lnTo>
                  <a:lnTo>
                    <a:pt x="27272" y="224831"/>
                  </a:lnTo>
                  <a:lnTo>
                    <a:pt x="57870" y="255429"/>
                  </a:lnTo>
                  <a:lnTo>
                    <a:pt x="96672" y="275495"/>
                  </a:lnTo>
                  <a:lnTo>
                    <a:pt x="141351" y="282702"/>
                  </a:lnTo>
                  <a:lnTo>
                    <a:pt x="186029" y="275495"/>
                  </a:lnTo>
                  <a:lnTo>
                    <a:pt x="224831" y="255429"/>
                  </a:lnTo>
                  <a:lnTo>
                    <a:pt x="255429" y="224831"/>
                  </a:lnTo>
                  <a:lnTo>
                    <a:pt x="275495" y="186029"/>
                  </a:lnTo>
                  <a:lnTo>
                    <a:pt x="282702" y="141350"/>
                  </a:lnTo>
                  <a:lnTo>
                    <a:pt x="275495" y="96672"/>
                  </a:lnTo>
                  <a:lnTo>
                    <a:pt x="255429" y="57870"/>
                  </a:lnTo>
                  <a:lnTo>
                    <a:pt x="224831" y="27272"/>
                  </a:lnTo>
                  <a:lnTo>
                    <a:pt x="186029" y="7206"/>
                  </a:lnTo>
                  <a:lnTo>
                    <a:pt x="141351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17126" y="2863977"/>
              <a:ext cx="283210" cy="283210"/>
            </a:xfrm>
            <a:custGeom>
              <a:avLst/>
              <a:gdLst/>
              <a:ahLst/>
              <a:cxnLst/>
              <a:rect l="l" t="t" r="r" b="b"/>
              <a:pathLst>
                <a:path w="283209" h="283210">
                  <a:moveTo>
                    <a:pt x="0" y="141350"/>
                  </a:moveTo>
                  <a:lnTo>
                    <a:pt x="7206" y="96672"/>
                  </a:lnTo>
                  <a:lnTo>
                    <a:pt x="27272" y="57870"/>
                  </a:lnTo>
                  <a:lnTo>
                    <a:pt x="57870" y="27272"/>
                  </a:lnTo>
                  <a:lnTo>
                    <a:pt x="96672" y="7206"/>
                  </a:lnTo>
                  <a:lnTo>
                    <a:pt x="141351" y="0"/>
                  </a:lnTo>
                  <a:lnTo>
                    <a:pt x="186029" y="7206"/>
                  </a:lnTo>
                  <a:lnTo>
                    <a:pt x="224831" y="27272"/>
                  </a:lnTo>
                  <a:lnTo>
                    <a:pt x="255429" y="57870"/>
                  </a:lnTo>
                  <a:lnTo>
                    <a:pt x="275495" y="96672"/>
                  </a:lnTo>
                  <a:lnTo>
                    <a:pt x="282702" y="141350"/>
                  </a:lnTo>
                  <a:lnTo>
                    <a:pt x="275495" y="186029"/>
                  </a:lnTo>
                  <a:lnTo>
                    <a:pt x="255429" y="224831"/>
                  </a:lnTo>
                  <a:lnTo>
                    <a:pt x="224831" y="255429"/>
                  </a:lnTo>
                  <a:lnTo>
                    <a:pt x="186029" y="275495"/>
                  </a:lnTo>
                  <a:lnTo>
                    <a:pt x="141351" y="282702"/>
                  </a:lnTo>
                  <a:lnTo>
                    <a:pt x="96672" y="275495"/>
                  </a:lnTo>
                  <a:lnTo>
                    <a:pt x="57870" y="255429"/>
                  </a:lnTo>
                  <a:lnTo>
                    <a:pt x="27272" y="224831"/>
                  </a:lnTo>
                  <a:lnTo>
                    <a:pt x="7206" y="186029"/>
                  </a:lnTo>
                  <a:lnTo>
                    <a:pt x="0" y="14135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52295" y="3146679"/>
              <a:ext cx="1083310" cy="807720"/>
            </a:xfrm>
            <a:custGeom>
              <a:avLst/>
              <a:gdLst/>
              <a:ahLst/>
              <a:cxnLst/>
              <a:rect l="l" t="t" r="r" b="b"/>
              <a:pathLst>
                <a:path w="1083309" h="807720">
                  <a:moveTo>
                    <a:pt x="1082941" y="0"/>
                  </a:moveTo>
                  <a:lnTo>
                    <a:pt x="0" y="80711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01378" y="3915650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38328" y="0"/>
                  </a:moveTo>
                  <a:lnTo>
                    <a:pt x="0" y="76085"/>
                  </a:lnTo>
                  <a:lnTo>
                    <a:pt x="83870" y="61099"/>
                  </a:lnTo>
                  <a:lnTo>
                    <a:pt x="38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135236" y="3146679"/>
              <a:ext cx="1129030" cy="808355"/>
            </a:xfrm>
            <a:custGeom>
              <a:avLst/>
              <a:gdLst/>
              <a:ahLst/>
              <a:cxnLst/>
              <a:rect l="l" t="t" r="r" b="b"/>
              <a:pathLst>
                <a:path w="1129029" h="808354">
                  <a:moveTo>
                    <a:pt x="0" y="0"/>
                  </a:moveTo>
                  <a:lnTo>
                    <a:pt x="1128712" y="808088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231438" y="3916398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4361" y="0"/>
                  </a:moveTo>
                  <a:lnTo>
                    <a:pt x="0" y="61950"/>
                  </a:lnTo>
                  <a:lnTo>
                    <a:pt x="84137" y="75336"/>
                  </a:lnTo>
                  <a:lnTo>
                    <a:pt x="443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38577" y="3146679"/>
              <a:ext cx="396875" cy="788670"/>
            </a:xfrm>
            <a:custGeom>
              <a:avLst/>
              <a:gdLst/>
              <a:ahLst/>
              <a:cxnLst/>
              <a:rect l="l" t="t" r="r" b="b"/>
              <a:pathLst>
                <a:path w="396875" h="788670">
                  <a:moveTo>
                    <a:pt x="396659" y="0"/>
                  </a:moveTo>
                  <a:lnTo>
                    <a:pt x="0" y="788339"/>
                  </a:lnTo>
                </a:path>
              </a:pathLst>
            </a:custGeom>
            <a:ln w="12700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10035" y="3906542"/>
              <a:ext cx="68580" cy="85725"/>
            </a:xfrm>
            <a:custGeom>
              <a:avLst/>
              <a:gdLst/>
              <a:ahLst/>
              <a:cxnLst/>
              <a:rect l="l" t="t" r="r" b="b"/>
              <a:pathLst>
                <a:path w="68579" h="85725">
                  <a:moveTo>
                    <a:pt x="215" y="0"/>
                  </a:moveTo>
                  <a:lnTo>
                    <a:pt x="0" y="85191"/>
                  </a:lnTo>
                  <a:lnTo>
                    <a:pt x="68287" y="34251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34855" y="3146298"/>
              <a:ext cx="377825" cy="780415"/>
            </a:xfrm>
            <a:custGeom>
              <a:avLst/>
              <a:gdLst/>
              <a:ahLst/>
              <a:cxnLst/>
              <a:rect l="l" t="t" r="r" b="b"/>
              <a:pathLst>
                <a:path w="377825" h="780414">
                  <a:moveTo>
                    <a:pt x="0" y="0"/>
                  </a:moveTo>
                  <a:lnTo>
                    <a:pt x="377647" y="779907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67106" y="3894242"/>
              <a:ext cx="78740" cy="97155"/>
            </a:xfrm>
            <a:custGeom>
              <a:avLst/>
              <a:gdLst/>
              <a:ahLst/>
              <a:cxnLst/>
              <a:rect l="l" t="t" r="r" b="b"/>
              <a:pathLst>
                <a:path w="78740" h="97154">
                  <a:moveTo>
                    <a:pt x="78181" y="0"/>
                  </a:moveTo>
                  <a:lnTo>
                    <a:pt x="0" y="37858"/>
                  </a:lnTo>
                  <a:lnTo>
                    <a:pt x="76936" y="97116"/>
                  </a:lnTo>
                  <a:lnTo>
                    <a:pt x="781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66599" y="1613503"/>
            <a:ext cx="144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46279" y="2064607"/>
            <a:ext cx="435609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2235">
              <a:lnSpc>
                <a:spcPct val="1437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24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37671" y="3502653"/>
            <a:ext cx="714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s,a,s</a:t>
            </a:r>
            <a:r>
              <a:rPr sz="2400" spc="-10" dirty="0">
                <a:latin typeface="MS PGothic"/>
                <a:cs typeface="MS PGothic"/>
              </a:rPr>
              <a:t>’</a:t>
            </a:r>
            <a:endParaRPr sz="2400">
              <a:latin typeface="MS PGothic"/>
              <a:cs typeface="MS P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352026" y="3999738"/>
            <a:ext cx="346710" cy="280035"/>
            <a:chOff x="9352026" y="3999738"/>
            <a:chExt cx="346710" cy="280035"/>
          </a:xfrm>
        </p:grpSpPr>
        <p:sp>
          <p:nvSpPr>
            <p:cNvPr id="30" name="object 30"/>
            <p:cNvSpPr/>
            <p:nvPr/>
          </p:nvSpPr>
          <p:spPr>
            <a:xfrm>
              <a:off x="9356979" y="4004691"/>
              <a:ext cx="337185" cy="269875"/>
            </a:xfrm>
            <a:custGeom>
              <a:avLst/>
              <a:gdLst/>
              <a:ahLst/>
              <a:cxnLst/>
              <a:rect l="l" t="t" r="r" b="b"/>
              <a:pathLst>
                <a:path w="337184" h="269875">
                  <a:moveTo>
                    <a:pt x="168402" y="0"/>
                  </a:moveTo>
                  <a:lnTo>
                    <a:pt x="0" y="269748"/>
                  </a:lnTo>
                  <a:lnTo>
                    <a:pt x="336804" y="269748"/>
                  </a:lnTo>
                  <a:lnTo>
                    <a:pt x="16840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356979" y="4004691"/>
              <a:ext cx="337185" cy="269875"/>
            </a:xfrm>
            <a:custGeom>
              <a:avLst/>
              <a:gdLst/>
              <a:ahLst/>
              <a:cxnLst/>
              <a:rect l="l" t="t" r="r" b="b"/>
              <a:pathLst>
                <a:path w="337184" h="269875">
                  <a:moveTo>
                    <a:pt x="0" y="269748"/>
                  </a:moveTo>
                  <a:lnTo>
                    <a:pt x="168402" y="0"/>
                  </a:lnTo>
                  <a:lnTo>
                    <a:pt x="336804" y="269748"/>
                  </a:lnTo>
                  <a:lnTo>
                    <a:pt x="0" y="26974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874250" y="3912072"/>
            <a:ext cx="29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400" spc="-25" dirty="0">
                <a:solidFill>
                  <a:srgbClr val="0000FF"/>
                </a:solidFill>
                <a:latin typeface="MS PGothic"/>
                <a:cs typeface="MS PGothic"/>
              </a:rPr>
              <a:t>’</a:t>
            </a:r>
            <a:endParaRPr sz="2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28875">
              <a:lnSpc>
                <a:spcPct val="100000"/>
              </a:lnSpc>
              <a:spcBef>
                <a:spcPts val="95"/>
              </a:spcBef>
            </a:pPr>
            <a:r>
              <a:rPr dirty="0"/>
              <a:t>Optimal</a:t>
            </a:r>
            <a:r>
              <a:rPr spc="-145" dirty="0"/>
              <a:t> </a:t>
            </a:r>
            <a:r>
              <a:rPr spc="-10" dirty="0"/>
              <a:t>Quantities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36" y="1655315"/>
            <a:ext cx="6166485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value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(utility)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s:</a:t>
            </a:r>
            <a:endParaRPr sz="2800">
              <a:latin typeface="Calibri"/>
              <a:cs typeface="Calibri"/>
            </a:endParaRPr>
          </a:p>
          <a:p>
            <a:pPr marL="781050" marR="30480" indent="-286385">
              <a:lnSpc>
                <a:spcPct val="80000"/>
              </a:lnSpc>
              <a:spcBef>
                <a:spcPts val="670"/>
              </a:spcBef>
            </a:pPr>
            <a:r>
              <a:rPr sz="2800" dirty="0">
                <a:latin typeface="Calibri"/>
                <a:cs typeface="Calibri"/>
              </a:rPr>
              <a:t>V</a:t>
            </a:r>
            <a:r>
              <a:rPr sz="2775" baseline="25525" dirty="0">
                <a:latin typeface="Calibri"/>
                <a:cs typeface="Calibri"/>
              </a:rPr>
              <a:t>*</a:t>
            </a:r>
            <a:r>
              <a:rPr sz="2800" dirty="0">
                <a:latin typeface="Calibri"/>
                <a:cs typeface="Calibri"/>
              </a:rPr>
              <a:t>(s)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expected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utility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starting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25" dirty="0">
                <a:latin typeface="Calibri"/>
                <a:cs typeface="Calibri"/>
              </a:rPr>
              <a:t> and </a:t>
            </a:r>
            <a:r>
              <a:rPr sz="2800" dirty="0">
                <a:latin typeface="Calibri"/>
                <a:cs typeface="Calibri"/>
              </a:rPr>
              <a:t>acting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optimally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Font typeface="Wingdings"/>
              <a:buChar char=""/>
              <a:tabLst>
                <a:tab pos="380365" algn="l"/>
              </a:tabLst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value</a:t>
            </a:r>
            <a:r>
              <a:rPr spc="-35" dirty="0"/>
              <a:t> </a:t>
            </a:r>
            <a:r>
              <a:rPr dirty="0"/>
              <a:t>(utility)</a:t>
            </a:r>
            <a:r>
              <a:rPr spc="-3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a</a:t>
            </a:r>
            <a:r>
              <a:rPr spc="-25" dirty="0"/>
              <a:t> q-</a:t>
            </a:r>
            <a:r>
              <a:rPr dirty="0"/>
              <a:t>state</a:t>
            </a:r>
            <a:r>
              <a:rPr spc="-15" dirty="0"/>
              <a:t> </a:t>
            </a:r>
            <a:r>
              <a:rPr spc="-10" dirty="0"/>
              <a:t>(s,a):</a:t>
            </a:r>
          </a:p>
          <a:p>
            <a:pPr marL="781050" marR="30480" indent="-285750">
              <a:lnSpc>
                <a:spcPct val="80000"/>
              </a:lnSpc>
              <a:spcBef>
                <a:spcPts val="670"/>
              </a:spcBef>
            </a:pPr>
            <a:r>
              <a:rPr dirty="0">
                <a:solidFill>
                  <a:srgbClr val="000000"/>
                </a:solidFill>
              </a:rPr>
              <a:t>Q</a:t>
            </a:r>
            <a:r>
              <a:rPr sz="2775" baseline="25525" dirty="0">
                <a:solidFill>
                  <a:srgbClr val="000000"/>
                </a:solidFill>
              </a:rPr>
              <a:t>*</a:t>
            </a:r>
            <a:r>
              <a:rPr sz="2800" dirty="0">
                <a:solidFill>
                  <a:srgbClr val="000000"/>
                </a:solidFill>
              </a:rPr>
              <a:t>(s,a)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=</a:t>
            </a:r>
            <a:r>
              <a:rPr sz="2800" spc="-3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expected</a:t>
            </a:r>
            <a:r>
              <a:rPr sz="2800" spc="-4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utility</a:t>
            </a:r>
            <a:r>
              <a:rPr sz="2800" spc="-4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starting</a:t>
            </a:r>
            <a:r>
              <a:rPr sz="2800" spc="-55" dirty="0">
                <a:solidFill>
                  <a:srgbClr val="000000"/>
                </a:solidFill>
              </a:rPr>
              <a:t> </a:t>
            </a:r>
            <a:r>
              <a:rPr sz="2800" spc="-25" dirty="0">
                <a:solidFill>
                  <a:srgbClr val="000000"/>
                </a:solidFill>
              </a:rPr>
              <a:t>out </a:t>
            </a:r>
            <a:r>
              <a:rPr sz="2800" dirty="0">
                <a:solidFill>
                  <a:srgbClr val="000000"/>
                </a:solidFill>
              </a:rPr>
              <a:t>having</a:t>
            </a:r>
            <a:r>
              <a:rPr sz="2800" spc="-3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taken</a:t>
            </a:r>
            <a:r>
              <a:rPr sz="2800" spc="-2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action</a:t>
            </a:r>
            <a:r>
              <a:rPr sz="2800" spc="-1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</a:t>
            </a:r>
            <a:r>
              <a:rPr sz="2800" spc="-2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from</a:t>
            </a:r>
            <a:r>
              <a:rPr sz="2800" spc="-3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state</a:t>
            </a:r>
            <a:r>
              <a:rPr sz="2800" spc="-2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s</a:t>
            </a:r>
            <a:r>
              <a:rPr sz="2800" spc="-10" dirty="0">
                <a:solidFill>
                  <a:srgbClr val="000000"/>
                </a:solidFill>
              </a:rPr>
              <a:t> </a:t>
            </a:r>
            <a:r>
              <a:rPr sz="2800" spc="-25" dirty="0">
                <a:solidFill>
                  <a:srgbClr val="000000"/>
                </a:solidFill>
              </a:rPr>
              <a:t>and </a:t>
            </a:r>
            <a:r>
              <a:rPr sz="2800" dirty="0">
                <a:solidFill>
                  <a:srgbClr val="000000"/>
                </a:solidFill>
              </a:rPr>
              <a:t>(thereafter)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acting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optimally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510536" y="5239764"/>
            <a:ext cx="543687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optimal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policy:</a:t>
            </a:r>
            <a:endParaRPr sz="2800">
              <a:latin typeface="Calibri"/>
              <a:cs typeface="Calibri"/>
            </a:endParaRPr>
          </a:p>
          <a:p>
            <a:pPr marL="494665">
              <a:lnSpc>
                <a:spcPct val="100000"/>
              </a:lnSpc>
            </a:pPr>
            <a:r>
              <a:rPr sz="2800" dirty="0">
                <a:latin typeface="Symbol"/>
                <a:cs typeface="Symbol"/>
              </a:rPr>
              <a:t></a:t>
            </a:r>
            <a:r>
              <a:rPr sz="2775" baseline="25525" dirty="0">
                <a:latin typeface="Calibri"/>
                <a:cs typeface="Calibri"/>
              </a:rPr>
              <a:t>*</a:t>
            </a:r>
            <a:r>
              <a:rPr sz="2800" dirty="0">
                <a:latin typeface="Calibri"/>
                <a:cs typeface="Calibri"/>
              </a:rPr>
              <a:t>(s)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optimal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04558" y="2205101"/>
            <a:ext cx="1929130" cy="2545715"/>
            <a:chOff x="7504558" y="2205101"/>
            <a:chExt cx="1929130" cy="2545715"/>
          </a:xfrm>
        </p:grpSpPr>
        <p:sp>
          <p:nvSpPr>
            <p:cNvPr id="7" name="object 7"/>
            <p:cNvSpPr/>
            <p:nvPr/>
          </p:nvSpPr>
          <p:spPr>
            <a:xfrm>
              <a:off x="8732900" y="2210181"/>
              <a:ext cx="351790" cy="276860"/>
            </a:xfrm>
            <a:custGeom>
              <a:avLst/>
              <a:gdLst/>
              <a:ahLst/>
              <a:cxnLst/>
              <a:rect l="l" t="t" r="r" b="b"/>
              <a:pathLst>
                <a:path w="351790" h="276860">
                  <a:moveTo>
                    <a:pt x="175641" y="0"/>
                  </a:moveTo>
                  <a:lnTo>
                    <a:pt x="0" y="276606"/>
                  </a:lnTo>
                  <a:lnTo>
                    <a:pt x="351282" y="276606"/>
                  </a:lnTo>
                  <a:lnTo>
                    <a:pt x="17564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32900" y="2210181"/>
              <a:ext cx="351790" cy="276860"/>
            </a:xfrm>
            <a:custGeom>
              <a:avLst/>
              <a:gdLst/>
              <a:ahLst/>
              <a:cxnLst/>
              <a:rect l="l" t="t" r="r" b="b"/>
              <a:pathLst>
                <a:path w="351790" h="276860">
                  <a:moveTo>
                    <a:pt x="0" y="276606"/>
                  </a:moveTo>
                  <a:lnTo>
                    <a:pt x="175641" y="0"/>
                  </a:lnTo>
                  <a:lnTo>
                    <a:pt x="351282" y="276606"/>
                  </a:lnTo>
                  <a:lnTo>
                    <a:pt x="0" y="2766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15552" y="4469511"/>
              <a:ext cx="351790" cy="276225"/>
            </a:xfrm>
            <a:custGeom>
              <a:avLst/>
              <a:gdLst/>
              <a:ahLst/>
              <a:cxnLst/>
              <a:rect l="l" t="t" r="r" b="b"/>
              <a:pathLst>
                <a:path w="351790" h="276225">
                  <a:moveTo>
                    <a:pt x="175641" y="0"/>
                  </a:moveTo>
                  <a:lnTo>
                    <a:pt x="0" y="275844"/>
                  </a:lnTo>
                  <a:lnTo>
                    <a:pt x="351282" y="275844"/>
                  </a:lnTo>
                  <a:lnTo>
                    <a:pt x="17564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15552" y="4469511"/>
              <a:ext cx="351790" cy="276225"/>
            </a:xfrm>
            <a:custGeom>
              <a:avLst/>
              <a:gdLst/>
              <a:ahLst/>
              <a:cxnLst/>
              <a:rect l="l" t="t" r="r" b="b"/>
              <a:pathLst>
                <a:path w="351790" h="276225">
                  <a:moveTo>
                    <a:pt x="0" y="275844"/>
                  </a:moveTo>
                  <a:lnTo>
                    <a:pt x="175641" y="0"/>
                  </a:lnTo>
                  <a:lnTo>
                    <a:pt x="351282" y="275844"/>
                  </a:lnTo>
                  <a:lnTo>
                    <a:pt x="0" y="27584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59611" y="2498979"/>
              <a:ext cx="1348740" cy="775335"/>
            </a:xfrm>
            <a:custGeom>
              <a:avLst/>
              <a:gdLst/>
              <a:ahLst/>
              <a:cxnLst/>
              <a:rect l="l" t="t" r="r" b="b"/>
              <a:pathLst>
                <a:path w="1348740" h="775335">
                  <a:moveTo>
                    <a:pt x="1348549" y="0"/>
                  </a:moveTo>
                  <a:lnTo>
                    <a:pt x="0" y="775309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04558" y="3234925"/>
              <a:ext cx="85090" cy="71120"/>
            </a:xfrm>
            <a:custGeom>
              <a:avLst/>
              <a:gdLst/>
              <a:ahLst/>
              <a:cxnLst/>
              <a:rect l="l" t="t" r="r" b="b"/>
              <a:pathLst>
                <a:path w="85090" h="71120">
                  <a:moveTo>
                    <a:pt x="47066" y="0"/>
                  </a:moveTo>
                  <a:lnTo>
                    <a:pt x="0" y="71005"/>
                  </a:lnTo>
                  <a:lnTo>
                    <a:pt x="85051" y="66052"/>
                  </a:lnTo>
                  <a:lnTo>
                    <a:pt x="470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21522" y="2498598"/>
              <a:ext cx="486409" cy="746760"/>
            </a:xfrm>
            <a:custGeom>
              <a:avLst/>
              <a:gdLst/>
              <a:ahLst/>
              <a:cxnLst/>
              <a:rect l="l" t="t" r="r" b="b"/>
              <a:pathLst>
                <a:path w="486409" h="746760">
                  <a:moveTo>
                    <a:pt x="486257" y="0"/>
                  </a:moveTo>
                  <a:lnTo>
                    <a:pt x="0" y="746302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82002" y="3209062"/>
              <a:ext cx="83820" cy="96520"/>
            </a:xfrm>
            <a:custGeom>
              <a:avLst/>
              <a:gdLst/>
              <a:ahLst/>
              <a:cxnLst/>
              <a:rect l="l" t="t" r="r" b="b"/>
              <a:pathLst>
                <a:path w="83820" h="96520">
                  <a:moveTo>
                    <a:pt x="11023" y="0"/>
                  </a:moveTo>
                  <a:lnTo>
                    <a:pt x="0" y="96494"/>
                  </a:lnTo>
                  <a:lnTo>
                    <a:pt x="83807" y="47421"/>
                  </a:lnTo>
                  <a:lnTo>
                    <a:pt x="110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08160" y="2498979"/>
              <a:ext cx="487045" cy="640080"/>
            </a:xfrm>
            <a:custGeom>
              <a:avLst/>
              <a:gdLst/>
              <a:ahLst/>
              <a:cxnLst/>
              <a:rect l="l" t="t" r="r" b="b"/>
              <a:pathLst>
                <a:path w="487045" h="640080">
                  <a:moveTo>
                    <a:pt x="0" y="0"/>
                  </a:moveTo>
                  <a:lnTo>
                    <a:pt x="486575" y="639826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56727" y="3105633"/>
              <a:ext cx="76835" cy="83820"/>
            </a:xfrm>
            <a:custGeom>
              <a:avLst/>
              <a:gdLst/>
              <a:ahLst/>
              <a:cxnLst/>
              <a:rect l="l" t="t" r="r" b="b"/>
              <a:pathLst>
                <a:path w="76834" h="83819">
                  <a:moveTo>
                    <a:pt x="60655" y="0"/>
                  </a:moveTo>
                  <a:lnTo>
                    <a:pt x="0" y="46126"/>
                  </a:lnTo>
                  <a:lnTo>
                    <a:pt x="76453" y="83718"/>
                  </a:lnTo>
                  <a:lnTo>
                    <a:pt x="60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65032" y="3305937"/>
              <a:ext cx="292100" cy="287655"/>
            </a:xfrm>
            <a:custGeom>
              <a:avLst/>
              <a:gdLst/>
              <a:ahLst/>
              <a:cxnLst/>
              <a:rect l="l" t="t" r="r" b="b"/>
              <a:pathLst>
                <a:path w="292100" h="287654">
                  <a:moveTo>
                    <a:pt x="145923" y="0"/>
                  </a:moveTo>
                  <a:lnTo>
                    <a:pt x="99798" y="7323"/>
                  </a:lnTo>
                  <a:lnTo>
                    <a:pt x="59741" y="27714"/>
                  </a:lnTo>
                  <a:lnTo>
                    <a:pt x="28153" y="58808"/>
                  </a:lnTo>
                  <a:lnTo>
                    <a:pt x="7438" y="98238"/>
                  </a:lnTo>
                  <a:lnTo>
                    <a:pt x="0" y="143637"/>
                  </a:lnTo>
                  <a:lnTo>
                    <a:pt x="7438" y="189035"/>
                  </a:lnTo>
                  <a:lnTo>
                    <a:pt x="28153" y="228465"/>
                  </a:lnTo>
                  <a:lnTo>
                    <a:pt x="59741" y="259559"/>
                  </a:lnTo>
                  <a:lnTo>
                    <a:pt x="99798" y="279950"/>
                  </a:lnTo>
                  <a:lnTo>
                    <a:pt x="145923" y="287274"/>
                  </a:lnTo>
                  <a:lnTo>
                    <a:pt x="192047" y="279950"/>
                  </a:lnTo>
                  <a:lnTo>
                    <a:pt x="232104" y="259559"/>
                  </a:lnTo>
                  <a:lnTo>
                    <a:pt x="263692" y="228465"/>
                  </a:lnTo>
                  <a:lnTo>
                    <a:pt x="284407" y="189035"/>
                  </a:lnTo>
                  <a:lnTo>
                    <a:pt x="291846" y="143637"/>
                  </a:lnTo>
                  <a:lnTo>
                    <a:pt x="284407" y="98238"/>
                  </a:lnTo>
                  <a:lnTo>
                    <a:pt x="263692" y="58808"/>
                  </a:lnTo>
                  <a:lnTo>
                    <a:pt x="232104" y="27714"/>
                  </a:lnTo>
                  <a:lnTo>
                    <a:pt x="192047" y="7323"/>
                  </a:lnTo>
                  <a:lnTo>
                    <a:pt x="145923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65032" y="3305937"/>
              <a:ext cx="292100" cy="287655"/>
            </a:xfrm>
            <a:custGeom>
              <a:avLst/>
              <a:gdLst/>
              <a:ahLst/>
              <a:cxnLst/>
              <a:rect l="l" t="t" r="r" b="b"/>
              <a:pathLst>
                <a:path w="292100" h="287654">
                  <a:moveTo>
                    <a:pt x="0" y="143637"/>
                  </a:moveTo>
                  <a:lnTo>
                    <a:pt x="7438" y="98238"/>
                  </a:lnTo>
                  <a:lnTo>
                    <a:pt x="28153" y="58808"/>
                  </a:lnTo>
                  <a:lnTo>
                    <a:pt x="59741" y="27714"/>
                  </a:lnTo>
                  <a:lnTo>
                    <a:pt x="99798" y="7323"/>
                  </a:lnTo>
                  <a:lnTo>
                    <a:pt x="145923" y="0"/>
                  </a:lnTo>
                  <a:lnTo>
                    <a:pt x="192047" y="7323"/>
                  </a:lnTo>
                  <a:lnTo>
                    <a:pt x="232104" y="27714"/>
                  </a:lnTo>
                  <a:lnTo>
                    <a:pt x="263692" y="58808"/>
                  </a:lnTo>
                  <a:lnTo>
                    <a:pt x="284407" y="98238"/>
                  </a:lnTo>
                  <a:lnTo>
                    <a:pt x="291846" y="143637"/>
                  </a:lnTo>
                  <a:lnTo>
                    <a:pt x="284407" y="189035"/>
                  </a:lnTo>
                  <a:lnTo>
                    <a:pt x="263692" y="228465"/>
                  </a:lnTo>
                  <a:lnTo>
                    <a:pt x="232104" y="259559"/>
                  </a:lnTo>
                  <a:lnTo>
                    <a:pt x="192047" y="279950"/>
                  </a:lnTo>
                  <a:lnTo>
                    <a:pt x="145923" y="287274"/>
                  </a:lnTo>
                  <a:lnTo>
                    <a:pt x="99798" y="279950"/>
                  </a:lnTo>
                  <a:lnTo>
                    <a:pt x="59741" y="259559"/>
                  </a:lnTo>
                  <a:lnTo>
                    <a:pt x="28153" y="228465"/>
                  </a:lnTo>
                  <a:lnTo>
                    <a:pt x="7438" y="189035"/>
                  </a:lnTo>
                  <a:lnTo>
                    <a:pt x="0" y="143637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49260" y="3593211"/>
              <a:ext cx="638175" cy="429895"/>
            </a:xfrm>
            <a:custGeom>
              <a:avLst/>
              <a:gdLst/>
              <a:ahLst/>
              <a:cxnLst/>
              <a:rect l="l" t="t" r="r" b="b"/>
              <a:pathLst>
                <a:path w="638175" h="429895">
                  <a:moveTo>
                    <a:pt x="637692" y="0"/>
                  </a:moveTo>
                  <a:lnTo>
                    <a:pt x="0" y="429361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96584" y="3983866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90" h="74295">
                  <a:moveTo>
                    <a:pt x="41922" y="0"/>
                  </a:moveTo>
                  <a:lnTo>
                    <a:pt x="0" y="74168"/>
                  </a:lnTo>
                  <a:lnTo>
                    <a:pt x="84480" y="63207"/>
                  </a:lnTo>
                  <a:lnTo>
                    <a:pt x="41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86952" y="3593211"/>
              <a:ext cx="701040" cy="360045"/>
            </a:xfrm>
            <a:custGeom>
              <a:avLst/>
              <a:gdLst/>
              <a:ahLst/>
              <a:cxnLst/>
              <a:rect l="l" t="t" r="r" b="b"/>
              <a:pathLst>
                <a:path w="701040" h="360045">
                  <a:moveTo>
                    <a:pt x="0" y="0"/>
                  </a:moveTo>
                  <a:lnTo>
                    <a:pt x="700925" y="359638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59194" y="3913144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4785" y="0"/>
                  </a:moveTo>
                  <a:lnTo>
                    <a:pt x="0" y="67792"/>
                  </a:lnTo>
                  <a:lnTo>
                    <a:pt x="85191" y="68681"/>
                  </a:lnTo>
                  <a:lnTo>
                    <a:pt x="347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74647" y="3593211"/>
              <a:ext cx="412750" cy="807085"/>
            </a:xfrm>
            <a:custGeom>
              <a:avLst/>
              <a:gdLst/>
              <a:ahLst/>
              <a:cxnLst/>
              <a:rect l="l" t="t" r="r" b="b"/>
              <a:pathLst>
                <a:path w="412750" h="807085">
                  <a:moveTo>
                    <a:pt x="412305" y="0"/>
                  </a:moveTo>
                  <a:lnTo>
                    <a:pt x="0" y="806805"/>
                  </a:lnTo>
                </a:path>
              </a:pathLst>
            </a:custGeom>
            <a:ln w="12700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45749" y="4371365"/>
              <a:ext cx="69215" cy="85725"/>
            </a:xfrm>
            <a:custGeom>
              <a:avLst/>
              <a:gdLst/>
              <a:ahLst/>
              <a:cxnLst/>
              <a:rect l="l" t="t" r="r" b="b"/>
              <a:pathLst>
                <a:path w="69215" h="85725">
                  <a:moveTo>
                    <a:pt x="749" y="0"/>
                  </a:moveTo>
                  <a:lnTo>
                    <a:pt x="0" y="85191"/>
                  </a:lnTo>
                  <a:lnTo>
                    <a:pt x="68605" y="34671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86571" y="3592830"/>
              <a:ext cx="393065" cy="798830"/>
            </a:xfrm>
            <a:custGeom>
              <a:avLst/>
              <a:gdLst/>
              <a:ahLst/>
              <a:cxnLst/>
              <a:rect l="l" t="t" r="r" b="b"/>
              <a:pathLst>
                <a:path w="393065" h="798829">
                  <a:moveTo>
                    <a:pt x="0" y="0"/>
                  </a:moveTo>
                  <a:lnTo>
                    <a:pt x="392493" y="798385"/>
                  </a:lnTo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33711" y="4359056"/>
              <a:ext cx="78105" cy="97155"/>
            </a:xfrm>
            <a:custGeom>
              <a:avLst/>
              <a:gdLst/>
              <a:ahLst/>
              <a:cxnLst/>
              <a:rect l="l" t="t" r="r" b="b"/>
              <a:pathLst>
                <a:path w="78104" h="97154">
                  <a:moveTo>
                    <a:pt x="77952" y="0"/>
                  </a:moveTo>
                  <a:lnTo>
                    <a:pt x="0" y="38315"/>
                  </a:lnTo>
                  <a:lnTo>
                    <a:pt x="77292" y="97116"/>
                  </a:lnTo>
                  <a:lnTo>
                    <a:pt x="779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752840" y="2758566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62491" y="2228443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21571" y="4474667"/>
            <a:ext cx="172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00FF"/>
                </a:solidFill>
                <a:latin typeface="Calibri"/>
                <a:cs typeface="Calibri"/>
              </a:rPr>
              <a:t>s’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35568" y="3323666"/>
            <a:ext cx="333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1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388728" y="4730496"/>
            <a:ext cx="1929130" cy="433705"/>
            <a:chOff x="7388728" y="4730496"/>
            <a:chExt cx="1929130" cy="433705"/>
          </a:xfrm>
        </p:grpSpPr>
        <p:sp>
          <p:nvSpPr>
            <p:cNvPr id="32" name="object 32"/>
            <p:cNvSpPr/>
            <p:nvPr/>
          </p:nvSpPr>
          <p:spPr>
            <a:xfrm>
              <a:off x="7449756" y="4745355"/>
              <a:ext cx="1340485" cy="386080"/>
            </a:xfrm>
            <a:custGeom>
              <a:avLst/>
              <a:gdLst/>
              <a:ahLst/>
              <a:cxnLst/>
              <a:rect l="l" t="t" r="r" b="b"/>
              <a:pathLst>
                <a:path w="1340484" h="386079">
                  <a:moveTo>
                    <a:pt x="1340294" y="0"/>
                  </a:moveTo>
                  <a:lnTo>
                    <a:pt x="0" y="385546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88728" y="5090769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62699" y="0"/>
                  </a:moveTo>
                  <a:lnTo>
                    <a:pt x="0" y="57683"/>
                  </a:lnTo>
                  <a:lnTo>
                    <a:pt x="83769" y="73228"/>
                  </a:lnTo>
                  <a:lnTo>
                    <a:pt x="62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322068" y="4744974"/>
              <a:ext cx="467995" cy="359410"/>
            </a:xfrm>
            <a:custGeom>
              <a:avLst/>
              <a:gdLst/>
              <a:ahLst/>
              <a:cxnLst/>
              <a:rect l="l" t="t" r="r" b="b"/>
              <a:pathLst>
                <a:path w="467995" h="359410">
                  <a:moveTo>
                    <a:pt x="467601" y="0"/>
                  </a:moveTo>
                  <a:lnTo>
                    <a:pt x="0" y="359016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264654" y="5060717"/>
              <a:ext cx="95885" cy="87630"/>
            </a:xfrm>
            <a:custGeom>
              <a:avLst/>
              <a:gdLst/>
              <a:ahLst/>
              <a:cxnLst/>
              <a:rect l="l" t="t" r="r" b="b"/>
              <a:pathLst>
                <a:path w="95884" h="87629">
                  <a:moveTo>
                    <a:pt x="42443" y="0"/>
                  </a:moveTo>
                  <a:lnTo>
                    <a:pt x="0" y="87350"/>
                  </a:lnTo>
                  <a:lnTo>
                    <a:pt x="95351" y="68897"/>
                  </a:lnTo>
                  <a:lnTo>
                    <a:pt x="424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90051" y="4745355"/>
              <a:ext cx="474345" cy="309880"/>
            </a:xfrm>
            <a:custGeom>
              <a:avLst/>
              <a:gdLst/>
              <a:ahLst/>
              <a:cxnLst/>
              <a:rect l="l" t="t" r="r" b="b"/>
              <a:pathLst>
                <a:path w="474345" h="309879">
                  <a:moveTo>
                    <a:pt x="0" y="0"/>
                  </a:moveTo>
                  <a:lnTo>
                    <a:pt x="474141" y="309702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232728" y="5016208"/>
              <a:ext cx="85090" cy="73660"/>
            </a:xfrm>
            <a:custGeom>
              <a:avLst/>
              <a:gdLst/>
              <a:ahLst/>
              <a:cxnLst/>
              <a:rect l="l" t="t" r="r" b="b"/>
              <a:pathLst>
                <a:path w="85090" h="73660">
                  <a:moveTo>
                    <a:pt x="41668" y="0"/>
                  </a:moveTo>
                  <a:lnTo>
                    <a:pt x="0" y="63792"/>
                  </a:lnTo>
                  <a:lnTo>
                    <a:pt x="84632" y="73571"/>
                  </a:lnTo>
                  <a:lnTo>
                    <a:pt x="41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802177" y="4033392"/>
            <a:ext cx="1088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(s,a,s’)</a:t>
            </a:r>
            <a:r>
              <a:rPr sz="20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0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i="1" spc="-10" dirty="0">
                <a:solidFill>
                  <a:srgbClr val="C00000"/>
                </a:solidFill>
                <a:latin typeface="Calibri"/>
                <a:cs typeface="Calibri"/>
              </a:rPr>
              <a:t>transition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03540" y="4026980"/>
            <a:ext cx="485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s,a,s’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802177" y="2093468"/>
            <a:ext cx="5340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i="1" spc="-10" dirty="0">
                <a:solidFill>
                  <a:srgbClr val="0000FF"/>
                </a:solidFill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802177" y="3065061"/>
            <a:ext cx="91884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008000"/>
                </a:solidFill>
                <a:latin typeface="Calibri"/>
                <a:cs typeface="Calibri"/>
              </a:rPr>
              <a:t>(s,</a:t>
            </a:r>
            <a:r>
              <a:rPr sz="20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8000"/>
                </a:solidFill>
                <a:latin typeface="Calibri"/>
                <a:cs typeface="Calibri"/>
              </a:rPr>
              <a:t>a)</a:t>
            </a:r>
            <a:r>
              <a:rPr sz="2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20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i="1" spc="-10" dirty="0">
                <a:solidFill>
                  <a:srgbClr val="008000"/>
                </a:solidFill>
                <a:latin typeface="Calibri"/>
                <a:cs typeface="Calibri"/>
              </a:rPr>
              <a:t>q-state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975852" y="6506654"/>
            <a:ext cx="3136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[Demo</a:t>
            </a:r>
            <a:r>
              <a:rPr sz="1800" spc="-5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–</a:t>
            </a:r>
            <a:r>
              <a:rPr sz="1800" spc="-4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gridworld</a:t>
            </a:r>
            <a:r>
              <a:rPr sz="1800" spc="-5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values</a:t>
            </a:r>
            <a:r>
              <a:rPr sz="1800" spc="-5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libri"/>
                <a:cs typeface="Calibri"/>
              </a:rPr>
              <a:t>(L8D4)]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95"/>
              </a:spcBef>
            </a:pPr>
            <a:r>
              <a:rPr dirty="0"/>
              <a:t>Snapshot</a:t>
            </a:r>
            <a:r>
              <a:rPr spc="-7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Demo</a:t>
            </a:r>
            <a:r>
              <a:rPr spc="-65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dirty="0"/>
              <a:t>Gridworld</a:t>
            </a:r>
            <a:r>
              <a:rPr spc="-60" dirty="0"/>
              <a:t> </a:t>
            </a:r>
            <a:r>
              <a:rPr dirty="0"/>
              <a:t>V</a:t>
            </a:r>
            <a:r>
              <a:rPr spc="-85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79940" y="5953211"/>
            <a:ext cx="23171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(Deterministic) </a:t>
            </a: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517" y="1143000"/>
            <a:ext cx="6188963" cy="56694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679940" y="6559001"/>
            <a:ext cx="16027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Snapshot</a:t>
            </a:r>
            <a:r>
              <a:rPr spc="-7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Demo</a:t>
            </a:r>
            <a:r>
              <a:rPr spc="-70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dirty="0"/>
              <a:t>Gridworld</a:t>
            </a:r>
            <a:r>
              <a:rPr spc="-55" dirty="0"/>
              <a:t> </a:t>
            </a:r>
            <a:r>
              <a:rPr dirty="0"/>
              <a:t>Q</a:t>
            </a:r>
            <a:r>
              <a:rPr spc="-90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740" y="5953211"/>
            <a:ext cx="11741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1423" y="1143000"/>
            <a:ext cx="6169151" cy="5714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84740" y="6559001"/>
            <a:ext cx="16027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8564" y="1134618"/>
            <a:ext cx="6214871" cy="57233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95"/>
              </a:spcBef>
            </a:pPr>
            <a:r>
              <a:rPr dirty="0"/>
              <a:t>Snapshot</a:t>
            </a:r>
            <a:r>
              <a:rPr spc="-7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Demo</a:t>
            </a:r>
            <a:r>
              <a:rPr spc="-65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dirty="0"/>
              <a:t>Gridworld</a:t>
            </a:r>
            <a:r>
              <a:rPr spc="-60" dirty="0"/>
              <a:t> </a:t>
            </a:r>
            <a:r>
              <a:rPr dirty="0"/>
              <a:t>V</a:t>
            </a:r>
            <a:r>
              <a:rPr spc="-85" dirty="0"/>
              <a:t> </a:t>
            </a:r>
            <a:r>
              <a:rPr spc="-10" dirty="0"/>
              <a:t>Values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84740" y="6010361"/>
            <a:ext cx="177673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0.99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Snapshot</a:t>
            </a:r>
            <a:r>
              <a:rPr spc="-7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Demo</a:t>
            </a:r>
            <a:r>
              <a:rPr spc="-70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dirty="0"/>
              <a:t>Gridworld</a:t>
            </a:r>
            <a:r>
              <a:rPr spc="-55" dirty="0"/>
              <a:t> </a:t>
            </a:r>
            <a:r>
              <a:rPr dirty="0"/>
              <a:t>Q</a:t>
            </a:r>
            <a:r>
              <a:rPr spc="-90" dirty="0"/>
              <a:t> </a:t>
            </a:r>
            <a:r>
              <a:rPr spc="-10" dirty="0"/>
              <a:t>Values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8564" y="1143000"/>
            <a:ext cx="6214871" cy="5714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77673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0.99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71775">
              <a:lnSpc>
                <a:spcPct val="100000"/>
              </a:lnSpc>
              <a:spcBef>
                <a:spcPts val="95"/>
              </a:spcBef>
            </a:pPr>
            <a:r>
              <a:rPr dirty="0"/>
              <a:t>Values</a:t>
            </a:r>
            <a:r>
              <a:rPr spc="-65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spc="-10" dirty="0"/>
              <a:t>States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36" y="1318550"/>
            <a:ext cx="10050780" cy="98298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Fundamental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operation: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compute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(expectimax)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value</a:t>
            </a:r>
            <a:r>
              <a:rPr sz="28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Expected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under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336" y="2275838"/>
            <a:ext cx="5204460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Average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(discounted)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rewards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expectimax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computed!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6" y="3674870"/>
            <a:ext cx="45618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Recursive</a:t>
            </a:r>
            <a:r>
              <a:rPr sz="28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definition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8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value: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147" y="4343400"/>
            <a:ext cx="3066016" cy="4012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5756" y="5740430"/>
            <a:ext cx="6941887" cy="6737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851" y="4994819"/>
            <a:ext cx="5548191" cy="58039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229978" y="2319401"/>
            <a:ext cx="3048000" cy="2205990"/>
            <a:chOff x="8229978" y="2319401"/>
            <a:chExt cx="3048000" cy="2205990"/>
          </a:xfrm>
        </p:grpSpPr>
        <p:sp>
          <p:nvSpPr>
            <p:cNvPr id="10" name="object 10"/>
            <p:cNvSpPr/>
            <p:nvPr/>
          </p:nvSpPr>
          <p:spPr>
            <a:xfrm>
              <a:off x="9696830" y="2324481"/>
              <a:ext cx="340360" cy="271780"/>
            </a:xfrm>
            <a:custGeom>
              <a:avLst/>
              <a:gdLst/>
              <a:ahLst/>
              <a:cxnLst/>
              <a:rect l="l" t="t" r="r" b="b"/>
              <a:pathLst>
                <a:path w="340359" h="271780">
                  <a:moveTo>
                    <a:pt x="169926" y="0"/>
                  </a:moveTo>
                  <a:lnTo>
                    <a:pt x="0" y="271272"/>
                  </a:lnTo>
                  <a:lnTo>
                    <a:pt x="339852" y="271272"/>
                  </a:lnTo>
                  <a:lnTo>
                    <a:pt x="16992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96830" y="2324481"/>
              <a:ext cx="340360" cy="271780"/>
            </a:xfrm>
            <a:custGeom>
              <a:avLst/>
              <a:gdLst/>
              <a:ahLst/>
              <a:cxnLst/>
              <a:rect l="l" t="t" r="r" b="b"/>
              <a:pathLst>
                <a:path w="340359" h="271780">
                  <a:moveTo>
                    <a:pt x="0" y="271272"/>
                  </a:moveTo>
                  <a:lnTo>
                    <a:pt x="169926" y="0"/>
                  </a:lnTo>
                  <a:lnTo>
                    <a:pt x="339852" y="271272"/>
                  </a:lnTo>
                  <a:lnTo>
                    <a:pt x="0" y="271272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67521" y="2607183"/>
              <a:ext cx="1299845" cy="758190"/>
            </a:xfrm>
            <a:custGeom>
              <a:avLst/>
              <a:gdLst/>
              <a:ahLst/>
              <a:cxnLst/>
              <a:rect l="l" t="t" r="r" b="b"/>
              <a:pathLst>
                <a:path w="1299845" h="758189">
                  <a:moveTo>
                    <a:pt x="1299235" y="0"/>
                  </a:moveTo>
                  <a:lnTo>
                    <a:pt x="0" y="75819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12678" y="3326061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90" h="71754">
                  <a:moveTo>
                    <a:pt x="46608" y="0"/>
                  </a:moveTo>
                  <a:lnTo>
                    <a:pt x="0" y="71310"/>
                  </a:lnTo>
                  <a:lnTo>
                    <a:pt x="85013" y="65811"/>
                  </a:lnTo>
                  <a:lnTo>
                    <a:pt x="466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66756" y="2607183"/>
              <a:ext cx="1354455" cy="650240"/>
            </a:xfrm>
            <a:custGeom>
              <a:avLst/>
              <a:gdLst/>
              <a:ahLst/>
              <a:cxnLst/>
              <a:rect l="l" t="t" r="r" b="b"/>
              <a:pathLst>
                <a:path w="1354454" h="650239">
                  <a:moveTo>
                    <a:pt x="0" y="0"/>
                  </a:moveTo>
                  <a:lnTo>
                    <a:pt x="1353972" y="649935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192792" y="3217274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2981" y="0"/>
                  </a:moveTo>
                  <a:lnTo>
                    <a:pt x="0" y="68694"/>
                  </a:lnTo>
                  <a:lnTo>
                    <a:pt x="85191" y="67322"/>
                  </a:lnTo>
                  <a:lnTo>
                    <a:pt x="329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97999" y="2606802"/>
              <a:ext cx="468630" cy="729615"/>
            </a:xfrm>
            <a:custGeom>
              <a:avLst/>
              <a:gdLst/>
              <a:ahLst/>
              <a:cxnLst/>
              <a:rect l="l" t="t" r="r" b="b"/>
              <a:pathLst>
                <a:path w="468629" h="729614">
                  <a:moveTo>
                    <a:pt x="468375" y="0"/>
                  </a:moveTo>
                  <a:lnTo>
                    <a:pt x="0" y="72928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58887" y="3300432"/>
              <a:ext cx="83820" cy="97155"/>
            </a:xfrm>
            <a:custGeom>
              <a:avLst/>
              <a:gdLst/>
              <a:ahLst/>
              <a:cxnLst/>
              <a:rect l="l" t="t" r="r" b="b"/>
              <a:pathLst>
                <a:path w="83820" h="97154">
                  <a:moveTo>
                    <a:pt x="10388" y="0"/>
                  </a:moveTo>
                  <a:lnTo>
                    <a:pt x="0" y="96558"/>
                  </a:lnTo>
                  <a:lnTo>
                    <a:pt x="83477" y="46939"/>
                  </a:lnTo>
                  <a:lnTo>
                    <a:pt x="10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866756" y="2607183"/>
              <a:ext cx="470534" cy="626745"/>
            </a:xfrm>
            <a:custGeom>
              <a:avLst/>
              <a:gdLst/>
              <a:ahLst/>
              <a:cxnLst/>
              <a:rect l="l" t="t" r="r" b="b"/>
              <a:pathLst>
                <a:path w="470534" h="626744">
                  <a:moveTo>
                    <a:pt x="0" y="0"/>
                  </a:moveTo>
                  <a:lnTo>
                    <a:pt x="470141" y="62663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98810" y="3200782"/>
              <a:ext cx="76200" cy="83820"/>
            </a:xfrm>
            <a:custGeom>
              <a:avLst/>
              <a:gdLst/>
              <a:ahLst/>
              <a:cxnLst/>
              <a:rect l="l" t="t" r="r" b="b"/>
              <a:pathLst>
                <a:path w="76200" h="83820">
                  <a:moveTo>
                    <a:pt x="60947" y="0"/>
                  </a:moveTo>
                  <a:lnTo>
                    <a:pt x="0" y="45732"/>
                  </a:lnTo>
                  <a:lnTo>
                    <a:pt x="76199" y="83820"/>
                  </a:lnTo>
                  <a:lnTo>
                    <a:pt x="60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45726" y="3397377"/>
              <a:ext cx="283210" cy="283210"/>
            </a:xfrm>
            <a:custGeom>
              <a:avLst/>
              <a:gdLst/>
              <a:ahLst/>
              <a:cxnLst/>
              <a:rect l="l" t="t" r="r" b="b"/>
              <a:pathLst>
                <a:path w="283209" h="283210">
                  <a:moveTo>
                    <a:pt x="141351" y="0"/>
                  </a:moveTo>
                  <a:lnTo>
                    <a:pt x="96672" y="7206"/>
                  </a:lnTo>
                  <a:lnTo>
                    <a:pt x="57870" y="27272"/>
                  </a:lnTo>
                  <a:lnTo>
                    <a:pt x="27272" y="57870"/>
                  </a:lnTo>
                  <a:lnTo>
                    <a:pt x="7206" y="96672"/>
                  </a:lnTo>
                  <a:lnTo>
                    <a:pt x="0" y="141350"/>
                  </a:lnTo>
                  <a:lnTo>
                    <a:pt x="7206" y="186029"/>
                  </a:lnTo>
                  <a:lnTo>
                    <a:pt x="27272" y="224831"/>
                  </a:lnTo>
                  <a:lnTo>
                    <a:pt x="57870" y="255429"/>
                  </a:lnTo>
                  <a:lnTo>
                    <a:pt x="96672" y="275495"/>
                  </a:lnTo>
                  <a:lnTo>
                    <a:pt x="141351" y="282702"/>
                  </a:lnTo>
                  <a:lnTo>
                    <a:pt x="186029" y="275495"/>
                  </a:lnTo>
                  <a:lnTo>
                    <a:pt x="224831" y="255429"/>
                  </a:lnTo>
                  <a:lnTo>
                    <a:pt x="255429" y="224831"/>
                  </a:lnTo>
                  <a:lnTo>
                    <a:pt x="275495" y="186029"/>
                  </a:lnTo>
                  <a:lnTo>
                    <a:pt x="282702" y="141350"/>
                  </a:lnTo>
                  <a:lnTo>
                    <a:pt x="275495" y="96672"/>
                  </a:lnTo>
                  <a:lnTo>
                    <a:pt x="255429" y="57870"/>
                  </a:lnTo>
                  <a:lnTo>
                    <a:pt x="224831" y="27272"/>
                  </a:lnTo>
                  <a:lnTo>
                    <a:pt x="186029" y="7206"/>
                  </a:lnTo>
                  <a:lnTo>
                    <a:pt x="141351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45726" y="3397377"/>
              <a:ext cx="283210" cy="283210"/>
            </a:xfrm>
            <a:custGeom>
              <a:avLst/>
              <a:gdLst/>
              <a:ahLst/>
              <a:cxnLst/>
              <a:rect l="l" t="t" r="r" b="b"/>
              <a:pathLst>
                <a:path w="283209" h="283210">
                  <a:moveTo>
                    <a:pt x="0" y="141350"/>
                  </a:moveTo>
                  <a:lnTo>
                    <a:pt x="7206" y="96672"/>
                  </a:lnTo>
                  <a:lnTo>
                    <a:pt x="27272" y="57870"/>
                  </a:lnTo>
                  <a:lnTo>
                    <a:pt x="57870" y="27272"/>
                  </a:lnTo>
                  <a:lnTo>
                    <a:pt x="96672" y="7206"/>
                  </a:lnTo>
                  <a:lnTo>
                    <a:pt x="141351" y="0"/>
                  </a:lnTo>
                  <a:lnTo>
                    <a:pt x="186029" y="7206"/>
                  </a:lnTo>
                  <a:lnTo>
                    <a:pt x="224831" y="27272"/>
                  </a:lnTo>
                  <a:lnTo>
                    <a:pt x="255429" y="57870"/>
                  </a:lnTo>
                  <a:lnTo>
                    <a:pt x="275495" y="96672"/>
                  </a:lnTo>
                  <a:lnTo>
                    <a:pt x="282702" y="141350"/>
                  </a:lnTo>
                  <a:lnTo>
                    <a:pt x="275495" y="186029"/>
                  </a:lnTo>
                  <a:lnTo>
                    <a:pt x="255429" y="224831"/>
                  </a:lnTo>
                  <a:lnTo>
                    <a:pt x="224831" y="255429"/>
                  </a:lnTo>
                  <a:lnTo>
                    <a:pt x="186029" y="275495"/>
                  </a:lnTo>
                  <a:lnTo>
                    <a:pt x="141351" y="282702"/>
                  </a:lnTo>
                  <a:lnTo>
                    <a:pt x="96672" y="275495"/>
                  </a:lnTo>
                  <a:lnTo>
                    <a:pt x="57870" y="255429"/>
                  </a:lnTo>
                  <a:lnTo>
                    <a:pt x="27272" y="224831"/>
                  </a:lnTo>
                  <a:lnTo>
                    <a:pt x="7206" y="186029"/>
                  </a:lnTo>
                  <a:lnTo>
                    <a:pt x="0" y="14135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280895" y="3680079"/>
              <a:ext cx="1083310" cy="807720"/>
            </a:xfrm>
            <a:custGeom>
              <a:avLst/>
              <a:gdLst/>
              <a:ahLst/>
              <a:cxnLst/>
              <a:rect l="l" t="t" r="r" b="b"/>
              <a:pathLst>
                <a:path w="1083309" h="807720">
                  <a:moveTo>
                    <a:pt x="1082941" y="0"/>
                  </a:moveTo>
                  <a:lnTo>
                    <a:pt x="0" y="80711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29978" y="4449050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38328" y="0"/>
                  </a:moveTo>
                  <a:lnTo>
                    <a:pt x="0" y="76085"/>
                  </a:lnTo>
                  <a:lnTo>
                    <a:pt x="83870" y="61099"/>
                  </a:lnTo>
                  <a:lnTo>
                    <a:pt x="38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363836" y="3680079"/>
              <a:ext cx="1129030" cy="808355"/>
            </a:xfrm>
            <a:custGeom>
              <a:avLst/>
              <a:gdLst/>
              <a:ahLst/>
              <a:cxnLst/>
              <a:rect l="l" t="t" r="r" b="b"/>
              <a:pathLst>
                <a:path w="1129029" h="808354">
                  <a:moveTo>
                    <a:pt x="0" y="0"/>
                  </a:moveTo>
                  <a:lnTo>
                    <a:pt x="1128712" y="808088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460038" y="4449798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4361" y="0"/>
                  </a:moveTo>
                  <a:lnTo>
                    <a:pt x="0" y="61950"/>
                  </a:lnTo>
                  <a:lnTo>
                    <a:pt x="84137" y="75336"/>
                  </a:lnTo>
                  <a:lnTo>
                    <a:pt x="443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67177" y="3680079"/>
              <a:ext cx="396875" cy="788670"/>
            </a:xfrm>
            <a:custGeom>
              <a:avLst/>
              <a:gdLst/>
              <a:ahLst/>
              <a:cxnLst/>
              <a:rect l="l" t="t" r="r" b="b"/>
              <a:pathLst>
                <a:path w="396875" h="788670">
                  <a:moveTo>
                    <a:pt x="396659" y="0"/>
                  </a:moveTo>
                  <a:lnTo>
                    <a:pt x="0" y="788339"/>
                  </a:lnTo>
                </a:path>
              </a:pathLst>
            </a:custGeom>
            <a:ln w="12700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938635" y="4439942"/>
              <a:ext cx="68580" cy="85725"/>
            </a:xfrm>
            <a:custGeom>
              <a:avLst/>
              <a:gdLst/>
              <a:ahLst/>
              <a:cxnLst/>
              <a:rect l="l" t="t" r="r" b="b"/>
              <a:pathLst>
                <a:path w="68579" h="85725">
                  <a:moveTo>
                    <a:pt x="215" y="0"/>
                  </a:moveTo>
                  <a:lnTo>
                    <a:pt x="0" y="85191"/>
                  </a:lnTo>
                  <a:lnTo>
                    <a:pt x="68287" y="34251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63455" y="3679698"/>
              <a:ext cx="377825" cy="780415"/>
            </a:xfrm>
            <a:custGeom>
              <a:avLst/>
              <a:gdLst/>
              <a:ahLst/>
              <a:cxnLst/>
              <a:rect l="l" t="t" r="r" b="b"/>
              <a:pathLst>
                <a:path w="377825" h="780414">
                  <a:moveTo>
                    <a:pt x="0" y="0"/>
                  </a:moveTo>
                  <a:lnTo>
                    <a:pt x="377647" y="779907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95706" y="4427642"/>
              <a:ext cx="78740" cy="97155"/>
            </a:xfrm>
            <a:custGeom>
              <a:avLst/>
              <a:gdLst/>
              <a:ahLst/>
              <a:cxnLst/>
              <a:rect l="l" t="t" r="r" b="b"/>
              <a:pathLst>
                <a:path w="78740" h="97154">
                  <a:moveTo>
                    <a:pt x="78181" y="0"/>
                  </a:moveTo>
                  <a:lnTo>
                    <a:pt x="0" y="37858"/>
                  </a:lnTo>
                  <a:lnTo>
                    <a:pt x="76936" y="97116"/>
                  </a:lnTo>
                  <a:lnTo>
                    <a:pt x="781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95199" y="215833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00FF"/>
                </a:solidFill>
                <a:latin typeface="Arial MT"/>
                <a:cs typeface="Arial MT"/>
              </a:rPr>
              <a:t>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74879" y="2609437"/>
            <a:ext cx="516255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2235">
              <a:lnSpc>
                <a:spcPct val="1437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s,</a:t>
            </a:r>
            <a:r>
              <a:rPr sz="2400" spc="-1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spc="-60" dirty="0">
                <a:solidFill>
                  <a:srgbClr val="008000"/>
                </a:solidFill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580626" y="4533138"/>
            <a:ext cx="346710" cy="280035"/>
            <a:chOff x="9580626" y="4533138"/>
            <a:chExt cx="346710" cy="280035"/>
          </a:xfrm>
        </p:grpSpPr>
        <p:sp>
          <p:nvSpPr>
            <p:cNvPr id="33" name="object 33"/>
            <p:cNvSpPr/>
            <p:nvPr/>
          </p:nvSpPr>
          <p:spPr>
            <a:xfrm>
              <a:off x="9585579" y="4538091"/>
              <a:ext cx="337185" cy="269875"/>
            </a:xfrm>
            <a:custGeom>
              <a:avLst/>
              <a:gdLst/>
              <a:ahLst/>
              <a:cxnLst/>
              <a:rect l="l" t="t" r="r" b="b"/>
              <a:pathLst>
                <a:path w="337184" h="269875">
                  <a:moveTo>
                    <a:pt x="168402" y="0"/>
                  </a:moveTo>
                  <a:lnTo>
                    <a:pt x="0" y="269748"/>
                  </a:lnTo>
                  <a:lnTo>
                    <a:pt x="336804" y="269748"/>
                  </a:lnTo>
                  <a:lnTo>
                    <a:pt x="16840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85579" y="4538091"/>
              <a:ext cx="337185" cy="269875"/>
            </a:xfrm>
            <a:custGeom>
              <a:avLst/>
              <a:gdLst/>
              <a:ahLst/>
              <a:cxnLst/>
              <a:rect l="l" t="t" r="r" b="b"/>
              <a:pathLst>
                <a:path w="337184" h="269875">
                  <a:moveTo>
                    <a:pt x="0" y="269748"/>
                  </a:moveTo>
                  <a:lnTo>
                    <a:pt x="168402" y="0"/>
                  </a:lnTo>
                  <a:lnTo>
                    <a:pt x="336804" y="269748"/>
                  </a:lnTo>
                  <a:lnTo>
                    <a:pt x="0" y="26974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766271" y="4000776"/>
            <a:ext cx="1633855" cy="84455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400" spc="-10" dirty="0">
                <a:latin typeface="Arial MT"/>
                <a:cs typeface="Arial MT"/>
              </a:rPr>
              <a:t>s,a,s</a:t>
            </a:r>
            <a:r>
              <a:rPr sz="2400" spc="-10" dirty="0">
                <a:latin typeface="MS PGothic"/>
                <a:cs typeface="MS PGothic"/>
              </a:rPr>
              <a:t>’</a:t>
            </a:r>
            <a:endParaRPr sz="2400">
              <a:latin typeface="MS PGothic"/>
              <a:cs typeface="MS PGothic"/>
            </a:endParaRPr>
          </a:p>
          <a:p>
            <a:pPr marL="1315720">
              <a:lnSpc>
                <a:spcPct val="100000"/>
              </a:lnSpc>
              <a:spcBef>
                <a:spcPts val="345"/>
              </a:spcBef>
            </a:pP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s</a:t>
            </a:r>
            <a:r>
              <a:rPr sz="2400" spc="-25" dirty="0">
                <a:solidFill>
                  <a:srgbClr val="0000FF"/>
                </a:solidFill>
                <a:latin typeface="MS PGothic"/>
                <a:cs typeface="MS PGothic"/>
              </a:rPr>
              <a:t>’</a:t>
            </a:r>
            <a:endParaRPr sz="2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2050">
              <a:lnSpc>
                <a:spcPct val="100000"/>
              </a:lnSpc>
              <a:spcBef>
                <a:spcPts val="95"/>
              </a:spcBef>
            </a:pPr>
            <a:r>
              <a:rPr dirty="0"/>
              <a:t>Racing</a:t>
            </a:r>
            <a:r>
              <a:rPr spc="-105" dirty="0"/>
              <a:t> </a:t>
            </a:r>
            <a:r>
              <a:rPr dirty="0"/>
              <a:t>Search</a:t>
            </a:r>
            <a:r>
              <a:rPr spc="-114" dirty="0"/>
              <a:t> </a:t>
            </a:r>
            <a:r>
              <a:rPr spc="-20" dirty="0"/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7498" y="1353529"/>
            <a:ext cx="686722" cy="47334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554982" y="1899666"/>
            <a:ext cx="8919210" cy="1760220"/>
            <a:chOff x="1554982" y="1899666"/>
            <a:chExt cx="8919210" cy="17602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7735" y="3186471"/>
              <a:ext cx="736279" cy="4732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1269" y="22101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800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71269" y="22101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91069" y="22101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800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91069" y="22101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07888" y="1906143"/>
              <a:ext cx="2514600" cy="334010"/>
            </a:xfrm>
            <a:custGeom>
              <a:avLst/>
              <a:gdLst/>
              <a:ahLst/>
              <a:cxnLst/>
              <a:rect l="l" t="t" r="r" b="b"/>
              <a:pathLst>
                <a:path w="2514600" h="334010">
                  <a:moveTo>
                    <a:pt x="0" y="0"/>
                  </a:moveTo>
                  <a:lnTo>
                    <a:pt x="2514346" y="333717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01295" y="2175231"/>
              <a:ext cx="134620" cy="126364"/>
            </a:xfrm>
            <a:custGeom>
              <a:avLst/>
              <a:gdLst/>
              <a:ahLst/>
              <a:cxnLst/>
              <a:rect l="l" t="t" r="r" b="b"/>
              <a:pathLst>
                <a:path w="134620" h="126364">
                  <a:moveTo>
                    <a:pt x="16713" y="0"/>
                  </a:moveTo>
                  <a:lnTo>
                    <a:pt x="0" y="125895"/>
                  </a:lnTo>
                  <a:lnTo>
                    <a:pt x="134251" y="79667"/>
                  </a:lnTo>
                  <a:lnTo>
                    <a:pt x="1671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44729" y="1906143"/>
              <a:ext cx="3063240" cy="336550"/>
            </a:xfrm>
            <a:custGeom>
              <a:avLst/>
              <a:gdLst/>
              <a:ahLst/>
              <a:cxnLst/>
              <a:rect l="l" t="t" r="r" b="b"/>
              <a:pathLst>
                <a:path w="3063240" h="336550">
                  <a:moveTo>
                    <a:pt x="3062998" y="0"/>
                  </a:moveTo>
                  <a:lnTo>
                    <a:pt x="0" y="336283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31114" y="2177909"/>
              <a:ext cx="133350" cy="126364"/>
            </a:xfrm>
            <a:custGeom>
              <a:avLst/>
              <a:gdLst/>
              <a:ahLst/>
              <a:cxnLst/>
              <a:rect l="l" t="t" r="r" b="b"/>
              <a:pathLst>
                <a:path w="133350" h="126364">
                  <a:moveTo>
                    <a:pt x="119303" y="0"/>
                  </a:moveTo>
                  <a:lnTo>
                    <a:pt x="0" y="76987"/>
                  </a:lnTo>
                  <a:lnTo>
                    <a:pt x="133172" y="126238"/>
                  </a:lnTo>
                  <a:lnTo>
                    <a:pt x="119303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9782" y="3182329"/>
              <a:ext cx="687286" cy="47334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39757" y="2514981"/>
              <a:ext cx="1804035" cy="575310"/>
            </a:xfrm>
            <a:custGeom>
              <a:avLst/>
              <a:gdLst/>
              <a:ahLst/>
              <a:cxnLst/>
              <a:rect l="l" t="t" r="r" b="b"/>
              <a:pathLst>
                <a:path w="1804034" h="575310">
                  <a:moveTo>
                    <a:pt x="1803869" y="0"/>
                  </a:moveTo>
                  <a:lnTo>
                    <a:pt x="0" y="574890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0851" y="3025510"/>
              <a:ext cx="140335" cy="121285"/>
            </a:xfrm>
            <a:custGeom>
              <a:avLst/>
              <a:gdLst/>
              <a:ahLst/>
              <a:cxnLst/>
              <a:rect l="l" t="t" r="r" b="b"/>
              <a:pathLst>
                <a:path w="140335" h="121285">
                  <a:moveTo>
                    <a:pt x="101714" y="0"/>
                  </a:moveTo>
                  <a:lnTo>
                    <a:pt x="0" y="99072"/>
                  </a:lnTo>
                  <a:lnTo>
                    <a:pt x="140284" y="121005"/>
                  </a:lnTo>
                  <a:lnTo>
                    <a:pt x="10171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43469" y="2514981"/>
              <a:ext cx="2109470" cy="579755"/>
            </a:xfrm>
            <a:custGeom>
              <a:avLst/>
              <a:gdLst/>
              <a:ahLst/>
              <a:cxnLst/>
              <a:rect l="l" t="t" r="r" b="b"/>
              <a:pathLst>
                <a:path w="2109470" h="579755">
                  <a:moveTo>
                    <a:pt x="0" y="0"/>
                  </a:moveTo>
                  <a:lnTo>
                    <a:pt x="2108860" y="579323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023260" y="3029703"/>
              <a:ext cx="139700" cy="122555"/>
            </a:xfrm>
            <a:custGeom>
              <a:avLst/>
              <a:gdLst/>
              <a:ahLst/>
              <a:cxnLst/>
              <a:rect l="l" t="t" r="r" b="b"/>
              <a:pathLst>
                <a:path w="139700" h="122555">
                  <a:moveTo>
                    <a:pt x="33642" y="0"/>
                  </a:moveTo>
                  <a:lnTo>
                    <a:pt x="0" y="122466"/>
                  </a:lnTo>
                  <a:lnTo>
                    <a:pt x="139280" y="94881"/>
                  </a:lnTo>
                  <a:lnTo>
                    <a:pt x="3364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982" y="3181567"/>
              <a:ext cx="687286" cy="4733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17503" y="2514981"/>
              <a:ext cx="6350" cy="494665"/>
            </a:xfrm>
            <a:custGeom>
              <a:avLst/>
              <a:gdLst/>
              <a:ahLst/>
              <a:cxnLst/>
              <a:rect l="l" t="t" r="r" b="b"/>
              <a:pathLst>
                <a:path w="6350" h="494664">
                  <a:moveTo>
                    <a:pt x="6324" y="0"/>
                  </a:moveTo>
                  <a:lnTo>
                    <a:pt x="0" y="49462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54170" y="2996097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69">
                  <a:moveTo>
                    <a:pt x="0" y="0"/>
                  </a:moveTo>
                  <a:lnTo>
                    <a:pt x="61874" y="127800"/>
                  </a:lnTo>
                  <a:lnTo>
                    <a:pt x="126987" y="1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8232647" y="3757421"/>
            <a:ext cx="3576954" cy="1910714"/>
            <a:chOff x="8232647" y="3757421"/>
            <a:chExt cx="3576954" cy="1910714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4209" y="4941569"/>
              <a:ext cx="985265" cy="69722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4940" y="5028437"/>
              <a:ext cx="1014983" cy="63931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952356" y="411365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800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52355" y="411365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18516" y="3763898"/>
              <a:ext cx="844550" cy="351155"/>
            </a:xfrm>
            <a:custGeom>
              <a:avLst/>
              <a:gdLst/>
              <a:ahLst/>
              <a:cxnLst/>
              <a:rect l="l" t="t" r="r" b="b"/>
              <a:pathLst>
                <a:path w="844550" h="351154">
                  <a:moveTo>
                    <a:pt x="843991" y="0"/>
                  </a:moveTo>
                  <a:lnTo>
                    <a:pt x="0" y="350659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212958" y="4051047"/>
              <a:ext cx="142240" cy="117475"/>
            </a:xfrm>
            <a:custGeom>
              <a:avLst/>
              <a:gdLst/>
              <a:ahLst/>
              <a:cxnLst/>
              <a:rect l="l" t="t" r="r" b="b"/>
              <a:pathLst>
                <a:path w="142240" h="117475">
                  <a:moveTo>
                    <a:pt x="92913" y="0"/>
                  </a:moveTo>
                  <a:lnTo>
                    <a:pt x="0" y="107378"/>
                  </a:lnTo>
                  <a:lnTo>
                    <a:pt x="141643" y="117271"/>
                  </a:lnTo>
                  <a:lnTo>
                    <a:pt x="92913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32647" y="5028437"/>
              <a:ext cx="928877" cy="61036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761320" y="4418456"/>
              <a:ext cx="344170" cy="515620"/>
            </a:xfrm>
            <a:custGeom>
              <a:avLst/>
              <a:gdLst/>
              <a:ahLst/>
              <a:cxnLst/>
              <a:rect l="l" t="t" r="r" b="b"/>
              <a:pathLst>
                <a:path w="344170" h="515620">
                  <a:moveTo>
                    <a:pt x="344068" y="0"/>
                  </a:moveTo>
                  <a:lnTo>
                    <a:pt x="0" y="51522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97846" y="4887861"/>
              <a:ext cx="123825" cy="140970"/>
            </a:xfrm>
            <a:custGeom>
              <a:avLst/>
              <a:gdLst/>
              <a:ahLst/>
              <a:cxnLst/>
              <a:rect l="l" t="t" r="r" b="b"/>
              <a:pathLst>
                <a:path w="123825" h="140970">
                  <a:moveTo>
                    <a:pt x="17716" y="0"/>
                  </a:moveTo>
                  <a:lnTo>
                    <a:pt x="0" y="140881"/>
                  </a:lnTo>
                  <a:lnTo>
                    <a:pt x="123329" y="70523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104756" y="4418456"/>
              <a:ext cx="380365" cy="518159"/>
            </a:xfrm>
            <a:custGeom>
              <a:avLst/>
              <a:gdLst/>
              <a:ahLst/>
              <a:cxnLst/>
              <a:rect l="l" t="t" r="r" b="b"/>
              <a:pathLst>
                <a:path w="380365" h="518160">
                  <a:moveTo>
                    <a:pt x="0" y="0"/>
                  </a:moveTo>
                  <a:lnTo>
                    <a:pt x="380098" y="518121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426150" y="4888779"/>
              <a:ext cx="126364" cy="140335"/>
            </a:xfrm>
            <a:custGeom>
              <a:avLst/>
              <a:gdLst/>
              <a:ahLst/>
              <a:cxnLst/>
              <a:rect l="l" t="t" r="r" b="b"/>
              <a:pathLst>
                <a:path w="126365" h="140335">
                  <a:moveTo>
                    <a:pt x="102400" y="0"/>
                  </a:moveTo>
                  <a:lnTo>
                    <a:pt x="0" y="75120"/>
                  </a:lnTo>
                  <a:lnTo>
                    <a:pt x="126314" y="139966"/>
                  </a:lnTo>
                  <a:lnTo>
                    <a:pt x="10240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12024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12024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162412" y="3763898"/>
              <a:ext cx="896619" cy="353695"/>
            </a:xfrm>
            <a:custGeom>
              <a:avLst/>
              <a:gdLst/>
              <a:ahLst/>
              <a:cxnLst/>
              <a:rect l="l" t="t" r="r" b="b"/>
              <a:pathLst>
                <a:path w="896620" h="353695">
                  <a:moveTo>
                    <a:pt x="0" y="0"/>
                  </a:moveTo>
                  <a:lnTo>
                    <a:pt x="896289" y="353288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023596" y="4053451"/>
              <a:ext cx="141605" cy="118745"/>
            </a:xfrm>
            <a:custGeom>
              <a:avLst/>
              <a:gdLst/>
              <a:ahLst/>
              <a:cxnLst/>
              <a:rect l="l" t="t" r="r" b="b"/>
              <a:pathLst>
                <a:path w="141604" h="118745">
                  <a:moveTo>
                    <a:pt x="46583" y="0"/>
                  </a:moveTo>
                  <a:lnTo>
                    <a:pt x="0" y="118148"/>
                  </a:lnTo>
                  <a:lnTo>
                    <a:pt x="141439" y="105651"/>
                  </a:lnTo>
                  <a:lnTo>
                    <a:pt x="465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272646" y="4419218"/>
              <a:ext cx="6350" cy="494665"/>
            </a:xfrm>
            <a:custGeom>
              <a:avLst/>
              <a:gdLst/>
              <a:ahLst/>
              <a:cxnLst/>
              <a:rect l="l" t="t" r="r" b="b"/>
              <a:pathLst>
                <a:path w="6350" h="494664">
                  <a:moveTo>
                    <a:pt x="0" y="0"/>
                  </a:moveTo>
                  <a:lnTo>
                    <a:pt x="6324" y="494626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215316" y="4900335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64382" y="3727703"/>
            <a:ext cx="3323590" cy="1941195"/>
            <a:chOff x="564382" y="3727703"/>
            <a:chExt cx="3323590" cy="1941195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2740" y="5029199"/>
              <a:ext cx="1014983" cy="63931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64667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4667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8015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8015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16049" y="3734180"/>
              <a:ext cx="806450" cy="377190"/>
            </a:xfrm>
            <a:custGeom>
              <a:avLst/>
              <a:gdLst/>
              <a:ahLst/>
              <a:cxnLst/>
              <a:rect l="l" t="t" r="r" b="b"/>
              <a:pathLst>
                <a:path w="806450" h="377189">
                  <a:moveTo>
                    <a:pt x="0" y="0"/>
                  </a:moveTo>
                  <a:lnTo>
                    <a:pt x="805827" y="376567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683485" y="4047834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39" h="115570">
                  <a:moveTo>
                    <a:pt x="53771" y="0"/>
                  </a:moveTo>
                  <a:lnTo>
                    <a:pt x="0" y="115049"/>
                  </a:lnTo>
                  <a:lnTo>
                    <a:pt x="141935" y="111302"/>
                  </a:lnTo>
                  <a:lnTo>
                    <a:pt x="5377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28422" y="3734180"/>
              <a:ext cx="788035" cy="375920"/>
            </a:xfrm>
            <a:custGeom>
              <a:avLst/>
              <a:gdLst/>
              <a:ahLst/>
              <a:cxnLst/>
              <a:rect l="l" t="t" r="r" b="b"/>
              <a:pathLst>
                <a:path w="788035" h="375920">
                  <a:moveTo>
                    <a:pt x="787463" y="0"/>
                  </a:moveTo>
                  <a:lnTo>
                    <a:pt x="0" y="375729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25267" y="4047127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40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0447" y="5029199"/>
              <a:ext cx="928877" cy="61036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589121" y="4419218"/>
              <a:ext cx="344170" cy="515620"/>
            </a:xfrm>
            <a:custGeom>
              <a:avLst/>
              <a:gdLst/>
              <a:ahLst/>
              <a:cxnLst/>
              <a:rect l="l" t="t" r="r" b="b"/>
              <a:pathLst>
                <a:path w="344169" h="515620">
                  <a:moveTo>
                    <a:pt x="344068" y="0"/>
                  </a:moveTo>
                  <a:lnTo>
                    <a:pt x="0" y="515226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25646" y="4888623"/>
              <a:ext cx="123825" cy="140970"/>
            </a:xfrm>
            <a:custGeom>
              <a:avLst/>
              <a:gdLst/>
              <a:ahLst/>
              <a:cxnLst/>
              <a:rect l="l" t="t" r="r" b="b"/>
              <a:pathLst>
                <a:path w="123825" h="140970">
                  <a:moveTo>
                    <a:pt x="17716" y="0"/>
                  </a:moveTo>
                  <a:lnTo>
                    <a:pt x="0" y="140881"/>
                  </a:lnTo>
                  <a:lnTo>
                    <a:pt x="123329" y="70523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932556" y="4419218"/>
              <a:ext cx="380365" cy="518159"/>
            </a:xfrm>
            <a:custGeom>
              <a:avLst/>
              <a:gdLst/>
              <a:ahLst/>
              <a:cxnLst/>
              <a:rect l="l" t="t" r="r" b="b"/>
              <a:pathLst>
                <a:path w="380364" h="518160">
                  <a:moveTo>
                    <a:pt x="0" y="0"/>
                  </a:moveTo>
                  <a:lnTo>
                    <a:pt x="380098" y="51812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53952" y="4889541"/>
              <a:ext cx="126364" cy="140335"/>
            </a:xfrm>
            <a:custGeom>
              <a:avLst/>
              <a:gdLst/>
              <a:ahLst/>
              <a:cxnLst/>
              <a:rect l="l" t="t" r="r" b="b"/>
              <a:pathLst>
                <a:path w="126364" h="140335">
                  <a:moveTo>
                    <a:pt x="102400" y="0"/>
                  </a:moveTo>
                  <a:lnTo>
                    <a:pt x="0" y="75120"/>
                  </a:lnTo>
                  <a:lnTo>
                    <a:pt x="126314" y="139966"/>
                  </a:lnTo>
                  <a:lnTo>
                    <a:pt x="10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382" y="5085805"/>
              <a:ext cx="687286" cy="47334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17067" y="4419218"/>
              <a:ext cx="6350" cy="494665"/>
            </a:xfrm>
            <a:custGeom>
              <a:avLst/>
              <a:gdLst/>
              <a:ahLst/>
              <a:cxnLst/>
              <a:rect l="l" t="t" r="r" b="b"/>
              <a:pathLst>
                <a:path w="6350" h="494664">
                  <a:moveTo>
                    <a:pt x="0" y="0"/>
                  </a:moveTo>
                  <a:lnTo>
                    <a:pt x="6324" y="49462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59736" y="4900335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851653" y="3727703"/>
            <a:ext cx="3150870" cy="1941195"/>
            <a:chOff x="4851653" y="3727703"/>
            <a:chExt cx="3150870" cy="1941195"/>
          </a:xfrm>
        </p:grpSpPr>
        <p:sp>
          <p:nvSpPr>
            <p:cNvPr id="59" name="object 59"/>
            <p:cNvSpPr/>
            <p:nvPr/>
          </p:nvSpPr>
          <p:spPr>
            <a:xfrm>
              <a:off x="486422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6422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27222" y="3734180"/>
              <a:ext cx="788035" cy="375920"/>
            </a:xfrm>
            <a:custGeom>
              <a:avLst/>
              <a:gdLst/>
              <a:ahLst/>
              <a:cxnLst/>
              <a:rect l="l" t="t" r="r" b="b"/>
              <a:pathLst>
                <a:path w="788035" h="375920">
                  <a:moveTo>
                    <a:pt x="787463" y="0"/>
                  </a:moveTo>
                  <a:lnTo>
                    <a:pt x="0" y="375729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24065" y="4047127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39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016626" y="4419218"/>
              <a:ext cx="6350" cy="494665"/>
            </a:xfrm>
            <a:custGeom>
              <a:avLst/>
              <a:gdLst/>
              <a:ahLst/>
              <a:cxnLst/>
              <a:rect l="l" t="t" r="r" b="b"/>
              <a:pathLst>
                <a:path w="6350" h="494664">
                  <a:moveTo>
                    <a:pt x="0" y="0"/>
                  </a:moveTo>
                  <a:lnTo>
                    <a:pt x="6324" y="49462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959296" y="4900335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87540" y="5029199"/>
              <a:ext cx="1014983" cy="63931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89495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799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399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894956" y="41144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399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399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799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399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030848" y="3734942"/>
              <a:ext cx="805815" cy="376555"/>
            </a:xfrm>
            <a:custGeom>
              <a:avLst/>
              <a:gdLst/>
              <a:ahLst/>
              <a:cxnLst/>
              <a:rect l="l" t="t" r="r" b="b"/>
              <a:pathLst>
                <a:path w="805815" h="376554">
                  <a:moveTo>
                    <a:pt x="0" y="0"/>
                  </a:moveTo>
                  <a:lnTo>
                    <a:pt x="805802" y="375945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798293" y="4047964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40" h="115570">
                  <a:moveTo>
                    <a:pt x="53695" y="0"/>
                  </a:moveTo>
                  <a:lnTo>
                    <a:pt x="0" y="115087"/>
                  </a:lnTo>
                  <a:lnTo>
                    <a:pt x="141935" y="111239"/>
                  </a:lnTo>
                  <a:lnTo>
                    <a:pt x="536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5248" y="5029199"/>
              <a:ext cx="928877" cy="61036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703920" y="4419218"/>
              <a:ext cx="344170" cy="515620"/>
            </a:xfrm>
            <a:custGeom>
              <a:avLst/>
              <a:gdLst/>
              <a:ahLst/>
              <a:cxnLst/>
              <a:rect l="l" t="t" r="r" b="b"/>
              <a:pathLst>
                <a:path w="344170" h="515620">
                  <a:moveTo>
                    <a:pt x="344068" y="0"/>
                  </a:moveTo>
                  <a:lnTo>
                    <a:pt x="0" y="515226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640446" y="4888623"/>
              <a:ext cx="123825" cy="140970"/>
            </a:xfrm>
            <a:custGeom>
              <a:avLst/>
              <a:gdLst/>
              <a:ahLst/>
              <a:cxnLst/>
              <a:rect l="l" t="t" r="r" b="b"/>
              <a:pathLst>
                <a:path w="123825" h="140970">
                  <a:moveTo>
                    <a:pt x="17716" y="0"/>
                  </a:moveTo>
                  <a:lnTo>
                    <a:pt x="0" y="140881"/>
                  </a:lnTo>
                  <a:lnTo>
                    <a:pt x="123329" y="70523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047356" y="4419218"/>
              <a:ext cx="380365" cy="518159"/>
            </a:xfrm>
            <a:custGeom>
              <a:avLst/>
              <a:gdLst/>
              <a:ahLst/>
              <a:cxnLst/>
              <a:rect l="l" t="t" r="r" b="b"/>
              <a:pathLst>
                <a:path w="380365" h="518160">
                  <a:moveTo>
                    <a:pt x="0" y="0"/>
                  </a:moveTo>
                  <a:lnTo>
                    <a:pt x="380098" y="51812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368751" y="4889541"/>
              <a:ext cx="126364" cy="140335"/>
            </a:xfrm>
            <a:custGeom>
              <a:avLst/>
              <a:gdLst/>
              <a:ahLst/>
              <a:cxnLst/>
              <a:rect l="l" t="t" r="r" b="b"/>
              <a:pathLst>
                <a:path w="126365" h="140335">
                  <a:moveTo>
                    <a:pt x="102400" y="0"/>
                  </a:moveTo>
                  <a:lnTo>
                    <a:pt x="0" y="75120"/>
                  </a:lnTo>
                  <a:lnTo>
                    <a:pt x="126314" y="139966"/>
                  </a:lnTo>
                  <a:lnTo>
                    <a:pt x="102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5" name="object 7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3856" y="5085805"/>
            <a:ext cx="686722" cy="47334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2050">
              <a:lnSpc>
                <a:spcPct val="100000"/>
              </a:lnSpc>
              <a:spcBef>
                <a:spcPts val="95"/>
              </a:spcBef>
            </a:pPr>
            <a:r>
              <a:rPr dirty="0"/>
              <a:t>Racing</a:t>
            </a:r>
            <a:r>
              <a:rPr spc="-105" dirty="0"/>
              <a:t> </a:t>
            </a:r>
            <a:r>
              <a:rPr dirty="0"/>
              <a:t>Search</a:t>
            </a:r>
            <a:r>
              <a:rPr spc="-114" dirty="0"/>
              <a:t> </a:t>
            </a:r>
            <a:r>
              <a:rPr spc="-20" dirty="0"/>
              <a:t>Tree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43200" y="1447800"/>
            <a:ext cx="6476365" cy="4727575"/>
            <a:chOff x="2743200" y="1447800"/>
            <a:chExt cx="6476365" cy="4727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200" y="3352800"/>
              <a:ext cx="5802629" cy="28224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1224" y="1447800"/>
              <a:ext cx="484631" cy="3192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0920" y="2437485"/>
              <a:ext cx="389476" cy="2461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04325" y="3353561"/>
              <a:ext cx="515111" cy="36499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4552" y="1913381"/>
              <a:ext cx="184404" cy="1844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91349" y="1913381"/>
              <a:ext cx="184403" cy="1844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63920" y="1767459"/>
              <a:ext cx="1450340" cy="169545"/>
            </a:xfrm>
            <a:custGeom>
              <a:avLst/>
              <a:gdLst/>
              <a:ahLst/>
              <a:cxnLst/>
              <a:rect l="l" t="t" r="r" b="b"/>
              <a:pathLst>
                <a:path w="1450340" h="169544">
                  <a:moveTo>
                    <a:pt x="0" y="0"/>
                  </a:moveTo>
                  <a:lnTo>
                    <a:pt x="1449781" y="169062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93727" y="1871974"/>
              <a:ext cx="133985" cy="126364"/>
            </a:xfrm>
            <a:custGeom>
              <a:avLst/>
              <a:gdLst/>
              <a:ahLst/>
              <a:cxnLst/>
              <a:rect l="l" t="t" r="r" b="b"/>
              <a:pathLst>
                <a:path w="133984" h="126364">
                  <a:moveTo>
                    <a:pt x="14719" y="0"/>
                  </a:moveTo>
                  <a:lnTo>
                    <a:pt x="0" y="126149"/>
                  </a:lnTo>
                  <a:lnTo>
                    <a:pt x="133502" y="77787"/>
                  </a:lnTo>
                  <a:lnTo>
                    <a:pt x="1471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17142" y="1767459"/>
              <a:ext cx="1547495" cy="170180"/>
            </a:xfrm>
            <a:custGeom>
              <a:avLst/>
              <a:gdLst/>
              <a:ahLst/>
              <a:cxnLst/>
              <a:rect l="l" t="t" r="r" b="b"/>
              <a:pathLst>
                <a:path w="1547495" h="170180">
                  <a:moveTo>
                    <a:pt x="1546910" y="0"/>
                  </a:moveTo>
                  <a:lnTo>
                    <a:pt x="0" y="169837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3526" y="1872777"/>
              <a:ext cx="133350" cy="126364"/>
            </a:xfrm>
            <a:custGeom>
              <a:avLst/>
              <a:gdLst/>
              <a:ahLst/>
              <a:cxnLst/>
              <a:rect l="l" t="t" r="r" b="b"/>
              <a:pathLst>
                <a:path w="133350" h="126364">
                  <a:moveTo>
                    <a:pt x="119303" y="0"/>
                  </a:moveTo>
                  <a:lnTo>
                    <a:pt x="0" y="76987"/>
                  </a:lnTo>
                  <a:lnTo>
                    <a:pt x="133172" y="126238"/>
                  </a:lnTo>
                  <a:lnTo>
                    <a:pt x="119303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0992" y="2404110"/>
              <a:ext cx="485393" cy="31851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04100" y="2085212"/>
              <a:ext cx="1079500" cy="289560"/>
            </a:xfrm>
            <a:custGeom>
              <a:avLst/>
              <a:gdLst/>
              <a:ahLst/>
              <a:cxnLst/>
              <a:rect l="l" t="t" r="r" b="b"/>
              <a:pathLst>
                <a:path w="1079500" h="289560">
                  <a:moveTo>
                    <a:pt x="1079207" y="0"/>
                  </a:moveTo>
                  <a:lnTo>
                    <a:pt x="0" y="289090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93694" y="2309669"/>
              <a:ext cx="139700" cy="123189"/>
            </a:xfrm>
            <a:custGeom>
              <a:avLst/>
              <a:gdLst/>
              <a:ahLst/>
              <a:cxnLst/>
              <a:rect l="l" t="t" r="r" b="b"/>
              <a:pathLst>
                <a:path w="139700" h="123189">
                  <a:moveTo>
                    <a:pt x="106235" y="0"/>
                  </a:moveTo>
                  <a:lnTo>
                    <a:pt x="0" y="94208"/>
                  </a:lnTo>
                  <a:lnTo>
                    <a:pt x="139103" y="122669"/>
                  </a:lnTo>
                  <a:lnTo>
                    <a:pt x="10623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83170" y="2085212"/>
              <a:ext cx="1151255" cy="290830"/>
            </a:xfrm>
            <a:custGeom>
              <a:avLst/>
              <a:gdLst/>
              <a:ahLst/>
              <a:cxnLst/>
              <a:rect l="l" t="t" r="r" b="b"/>
              <a:pathLst>
                <a:path w="1151254" h="290830">
                  <a:moveTo>
                    <a:pt x="0" y="0"/>
                  </a:moveTo>
                  <a:lnTo>
                    <a:pt x="1150797" y="290664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06107" y="2311199"/>
              <a:ext cx="139065" cy="123189"/>
            </a:xfrm>
            <a:custGeom>
              <a:avLst/>
              <a:gdLst/>
              <a:ahLst/>
              <a:cxnLst/>
              <a:rect l="l" t="t" r="r" b="b"/>
              <a:pathLst>
                <a:path w="139065" h="123189">
                  <a:moveTo>
                    <a:pt x="31102" y="0"/>
                  </a:moveTo>
                  <a:lnTo>
                    <a:pt x="0" y="123126"/>
                  </a:lnTo>
                  <a:lnTo>
                    <a:pt x="138683" y="92671"/>
                  </a:lnTo>
                  <a:lnTo>
                    <a:pt x="3110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9866" y="2403347"/>
              <a:ext cx="485393" cy="31927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744026" y="2085212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69">
                  <a:moveTo>
                    <a:pt x="2603" y="0"/>
                  </a:moveTo>
                  <a:lnTo>
                    <a:pt x="0" y="204012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80684" y="2275716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69">
                  <a:moveTo>
                    <a:pt x="0" y="0"/>
                  </a:moveTo>
                  <a:lnTo>
                    <a:pt x="61874" y="127800"/>
                  </a:lnTo>
                  <a:lnTo>
                    <a:pt x="126987" y="1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5591" y="3399282"/>
              <a:ext cx="530351" cy="33451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28772" y="2909316"/>
              <a:ext cx="184404" cy="1844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81855" y="2909316"/>
              <a:ext cx="184404" cy="18440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742563" y="2723007"/>
              <a:ext cx="371475" cy="173990"/>
            </a:xfrm>
            <a:custGeom>
              <a:avLst/>
              <a:gdLst/>
              <a:ahLst/>
              <a:cxnLst/>
              <a:rect l="l" t="t" r="r" b="b"/>
              <a:pathLst>
                <a:path w="371475" h="173989">
                  <a:moveTo>
                    <a:pt x="0" y="0"/>
                  </a:moveTo>
                  <a:lnTo>
                    <a:pt x="371195" y="173697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75337" y="2833799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39" h="115569">
                  <a:moveTo>
                    <a:pt x="53835" y="0"/>
                  </a:moveTo>
                  <a:lnTo>
                    <a:pt x="0" y="115023"/>
                  </a:lnTo>
                  <a:lnTo>
                    <a:pt x="141947" y="111340"/>
                  </a:lnTo>
                  <a:lnTo>
                    <a:pt x="5383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80905" y="2723007"/>
              <a:ext cx="362585" cy="173355"/>
            </a:xfrm>
            <a:custGeom>
              <a:avLst/>
              <a:gdLst/>
              <a:ahLst/>
              <a:cxnLst/>
              <a:rect l="l" t="t" r="r" b="b"/>
              <a:pathLst>
                <a:path w="362585" h="173355">
                  <a:moveTo>
                    <a:pt x="362394" y="0"/>
                  </a:moveTo>
                  <a:lnTo>
                    <a:pt x="0" y="172910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7739" y="2833138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39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8267" y="3399282"/>
              <a:ext cx="484631" cy="31927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996823" y="3081147"/>
              <a:ext cx="277495" cy="243840"/>
            </a:xfrm>
            <a:custGeom>
              <a:avLst/>
              <a:gdLst/>
              <a:ahLst/>
              <a:cxnLst/>
              <a:rect l="l" t="t" r="r" b="b"/>
              <a:pathLst>
                <a:path w="277495" h="243839">
                  <a:moveTo>
                    <a:pt x="277215" y="0"/>
                  </a:moveTo>
                  <a:lnTo>
                    <a:pt x="0" y="243573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10970" y="3268633"/>
              <a:ext cx="137795" cy="132080"/>
            </a:xfrm>
            <a:custGeom>
              <a:avLst/>
              <a:gdLst/>
              <a:ahLst/>
              <a:cxnLst/>
              <a:rect l="l" t="t" r="r" b="b"/>
              <a:pathLst>
                <a:path w="137795" h="132079">
                  <a:moveTo>
                    <a:pt x="53479" y="0"/>
                  </a:moveTo>
                  <a:lnTo>
                    <a:pt x="0" y="131533"/>
                  </a:lnTo>
                  <a:lnTo>
                    <a:pt x="137312" y="95402"/>
                  </a:lnTo>
                  <a:lnTo>
                    <a:pt x="5347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73677" y="3081147"/>
              <a:ext cx="263525" cy="241935"/>
            </a:xfrm>
            <a:custGeom>
              <a:avLst/>
              <a:gdLst/>
              <a:ahLst/>
              <a:cxnLst/>
              <a:rect l="l" t="t" r="r" b="b"/>
              <a:pathLst>
                <a:path w="263525" h="241935">
                  <a:moveTo>
                    <a:pt x="0" y="0"/>
                  </a:moveTo>
                  <a:lnTo>
                    <a:pt x="263055" y="24168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84414" y="3267477"/>
              <a:ext cx="136525" cy="132715"/>
            </a:xfrm>
            <a:custGeom>
              <a:avLst/>
              <a:gdLst/>
              <a:ahLst/>
              <a:cxnLst/>
              <a:rect l="l" t="t" r="r" b="b"/>
              <a:pathLst>
                <a:path w="136525" h="132714">
                  <a:moveTo>
                    <a:pt x="85928" y="0"/>
                  </a:moveTo>
                  <a:lnTo>
                    <a:pt x="0" y="93510"/>
                  </a:lnTo>
                  <a:lnTo>
                    <a:pt x="136474" y="132689"/>
                  </a:lnTo>
                  <a:lnTo>
                    <a:pt x="8592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2468" y="3398520"/>
              <a:ext cx="484631" cy="31927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221355" y="3081147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70">
                  <a:moveTo>
                    <a:pt x="0" y="0"/>
                  </a:moveTo>
                  <a:lnTo>
                    <a:pt x="2603" y="204012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60312" y="327165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1516" y="2909316"/>
              <a:ext cx="184404" cy="18440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523649" y="2723007"/>
              <a:ext cx="362585" cy="173355"/>
            </a:xfrm>
            <a:custGeom>
              <a:avLst/>
              <a:gdLst/>
              <a:ahLst/>
              <a:cxnLst/>
              <a:rect l="l" t="t" r="r" b="b"/>
              <a:pathLst>
                <a:path w="362585" h="173355">
                  <a:moveTo>
                    <a:pt x="362394" y="0"/>
                  </a:moveTo>
                  <a:lnTo>
                    <a:pt x="0" y="172910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20483" y="2833138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39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5211" y="3398520"/>
              <a:ext cx="484631" cy="31927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364098" y="3081147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70">
                  <a:moveTo>
                    <a:pt x="0" y="0"/>
                  </a:moveTo>
                  <a:lnTo>
                    <a:pt x="2603" y="204012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303056" y="327165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89192" y="3399282"/>
              <a:ext cx="530351" cy="33451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2981" y="2909316"/>
              <a:ext cx="185166" cy="18440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893689" y="2723007"/>
              <a:ext cx="372110" cy="173990"/>
            </a:xfrm>
            <a:custGeom>
              <a:avLst/>
              <a:gdLst/>
              <a:ahLst/>
              <a:cxnLst/>
              <a:rect l="l" t="t" r="r" b="b"/>
              <a:pathLst>
                <a:path w="372110" h="173989">
                  <a:moveTo>
                    <a:pt x="0" y="0"/>
                  </a:moveTo>
                  <a:lnTo>
                    <a:pt x="371779" y="173456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27119" y="2833542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39" h="115569">
                  <a:moveTo>
                    <a:pt x="53695" y="0"/>
                  </a:moveTo>
                  <a:lnTo>
                    <a:pt x="0" y="115087"/>
                  </a:lnTo>
                  <a:lnTo>
                    <a:pt x="141935" y="111239"/>
                  </a:lnTo>
                  <a:lnTo>
                    <a:pt x="536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8068" y="3399282"/>
              <a:ext cx="484631" cy="31927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199729" y="3081147"/>
              <a:ext cx="226060" cy="236854"/>
            </a:xfrm>
            <a:custGeom>
              <a:avLst/>
              <a:gdLst/>
              <a:ahLst/>
              <a:cxnLst/>
              <a:rect l="l" t="t" r="r" b="b"/>
              <a:pathLst>
                <a:path w="226060" h="236854">
                  <a:moveTo>
                    <a:pt x="225907" y="0"/>
                  </a:moveTo>
                  <a:lnTo>
                    <a:pt x="0" y="236385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20761" y="3264475"/>
              <a:ext cx="133985" cy="135890"/>
            </a:xfrm>
            <a:custGeom>
              <a:avLst/>
              <a:gdLst/>
              <a:ahLst/>
              <a:cxnLst/>
              <a:rect l="l" t="t" r="r" b="b"/>
              <a:pathLst>
                <a:path w="133985" h="135889">
                  <a:moveTo>
                    <a:pt x="41833" y="0"/>
                  </a:moveTo>
                  <a:lnTo>
                    <a:pt x="0" y="135686"/>
                  </a:lnTo>
                  <a:lnTo>
                    <a:pt x="133654" y="87744"/>
                  </a:lnTo>
                  <a:lnTo>
                    <a:pt x="4183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25564" y="3081147"/>
              <a:ext cx="247650" cy="240029"/>
            </a:xfrm>
            <a:custGeom>
              <a:avLst/>
              <a:gdLst/>
              <a:ahLst/>
              <a:cxnLst/>
              <a:rect l="l" t="t" r="r" b="b"/>
              <a:pathLst>
                <a:path w="247650" h="240029">
                  <a:moveTo>
                    <a:pt x="0" y="0"/>
                  </a:moveTo>
                  <a:lnTo>
                    <a:pt x="247129" y="23947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19396" y="3266182"/>
              <a:ext cx="135890" cy="133985"/>
            </a:xfrm>
            <a:custGeom>
              <a:avLst/>
              <a:gdLst/>
              <a:ahLst/>
              <a:cxnLst/>
              <a:rect l="l" t="t" r="r" b="b"/>
              <a:pathLst>
                <a:path w="135890" h="133985">
                  <a:moveTo>
                    <a:pt x="88379" y="0"/>
                  </a:moveTo>
                  <a:lnTo>
                    <a:pt x="0" y="91198"/>
                  </a:lnTo>
                  <a:lnTo>
                    <a:pt x="135381" y="133985"/>
                  </a:lnTo>
                  <a:lnTo>
                    <a:pt x="8837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27086" y="3399282"/>
              <a:ext cx="530351" cy="33451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84007" y="2908553"/>
              <a:ext cx="184403" cy="18440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938258" y="2738247"/>
              <a:ext cx="407034" cy="163830"/>
            </a:xfrm>
            <a:custGeom>
              <a:avLst/>
              <a:gdLst/>
              <a:ahLst/>
              <a:cxnLst/>
              <a:rect l="l" t="t" r="r" b="b"/>
              <a:pathLst>
                <a:path w="407034" h="163830">
                  <a:moveTo>
                    <a:pt x="406514" y="0"/>
                  </a:moveTo>
                  <a:lnTo>
                    <a:pt x="0" y="163563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832222" y="2838156"/>
              <a:ext cx="141605" cy="118110"/>
            </a:xfrm>
            <a:custGeom>
              <a:avLst/>
              <a:gdLst/>
              <a:ahLst/>
              <a:cxnLst/>
              <a:rect l="l" t="t" r="r" b="b"/>
              <a:pathLst>
                <a:path w="141604" h="118110">
                  <a:moveTo>
                    <a:pt x="94106" y="0"/>
                  </a:moveTo>
                  <a:lnTo>
                    <a:pt x="0" y="106324"/>
                  </a:lnTo>
                  <a:lnTo>
                    <a:pt x="141516" y="117817"/>
                  </a:lnTo>
                  <a:lnTo>
                    <a:pt x="94106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0806" y="3399282"/>
              <a:ext cx="484631" cy="31927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534789" y="3080385"/>
              <a:ext cx="241935" cy="238760"/>
            </a:xfrm>
            <a:custGeom>
              <a:avLst/>
              <a:gdLst/>
              <a:ahLst/>
              <a:cxnLst/>
              <a:rect l="l" t="t" r="r" b="b"/>
              <a:pathLst>
                <a:path w="241934" h="238760">
                  <a:moveTo>
                    <a:pt x="241439" y="0"/>
                  </a:moveTo>
                  <a:lnTo>
                    <a:pt x="0" y="238658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453506" y="3264957"/>
              <a:ext cx="135255" cy="134620"/>
            </a:xfrm>
            <a:custGeom>
              <a:avLst/>
              <a:gdLst/>
              <a:ahLst/>
              <a:cxnLst/>
              <a:rect l="l" t="t" r="r" b="b"/>
              <a:pathLst>
                <a:path w="135254" h="134620">
                  <a:moveTo>
                    <a:pt x="45669" y="0"/>
                  </a:moveTo>
                  <a:lnTo>
                    <a:pt x="0" y="134442"/>
                  </a:lnTo>
                  <a:lnTo>
                    <a:pt x="134950" y="90309"/>
                  </a:lnTo>
                  <a:lnTo>
                    <a:pt x="45669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776591" y="3080385"/>
              <a:ext cx="325755" cy="249554"/>
            </a:xfrm>
            <a:custGeom>
              <a:avLst/>
              <a:gdLst/>
              <a:ahLst/>
              <a:cxnLst/>
              <a:rect l="l" t="t" r="r" b="b"/>
              <a:pathLst>
                <a:path w="325754" h="249554">
                  <a:moveTo>
                    <a:pt x="0" y="0"/>
                  </a:moveTo>
                  <a:lnTo>
                    <a:pt x="325742" y="24951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053646" y="3271762"/>
              <a:ext cx="139700" cy="127635"/>
            </a:xfrm>
            <a:custGeom>
              <a:avLst/>
              <a:gdLst/>
              <a:ahLst/>
              <a:cxnLst/>
              <a:rect l="l" t="t" r="r" b="b"/>
              <a:pathLst>
                <a:path w="139700" h="127635">
                  <a:moveTo>
                    <a:pt x="77228" y="0"/>
                  </a:moveTo>
                  <a:lnTo>
                    <a:pt x="0" y="100812"/>
                  </a:lnTo>
                  <a:lnTo>
                    <a:pt x="139433" y="127635"/>
                  </a:lnTo>
                  <a:lnTo>
                    <a:pt x="77228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20149" y="2909316"/>
              <a:ext cx="184403" cy="18440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8345043" y="2738247"/>
              <a:ext cx="405130" cy="163830"/>
            </a:xfrm>
            <a:custGeom>
              <a:avLst/>
              <a:gdLst/>
              <a:ahLst/>
              <a:cxnLst/>
              <a:rect l="l" t="t" r="r" b="b"/>
              <a:pathLst>
                <a:path w="405129" h="163830">
                  <a:moveTo>
                    <a:pt x="0" y="0"/>
                  </a:moveTo>
                  <a:lnTo>
                    <a:pt x="404888" y="16374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714355" y="2838349"/>
              <a:ext cx="141605" cy="118110"/>
            </a:xfrm>
            <a:custGeom>
              <a:avLst/>
              <a:gdLst/>
              <a:ahLst/>
              <a:cxnLst/>
              <a:rect l="l" t="t" r="r" b="b"/>
              <a:pathLst>
                <a:path w="141604" h="118110">
                  <a:moveTo>
                    <a:pt x="47612" y="0"/>
                  </a:moveTo>
                  <a:lnTo>
                    <a:pt x="0" y="117729"/>
                  </a:lnTo>
                  <a:lnTo>
                    <a:pt x="141541" y="106489"/>
                  </a:lnTo>
                  <a:lnTo>
                    <a:pt x="4761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911970" y="3081147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70">
                  <a:moveTo>
                    <a:pt x="0" y="0"/>
                  </a:moveTo>
                  <a:lnTo>
                    <a:pt x="2603" y="204012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850928" y="327165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2050">
              <a:lnSpc>
                <a:spcPct val="100000"/>
              </a:lnSpc>
              <a:spcBef>
                <a:spcPts val="95"/>
              </a:spcBef>
            </a:pPr>
            <a:r>
              <a:rPr dirty="0"/>
              <a:t>Racing</a:t>
            </a:r>
            <a:r>
              <a:rPr spc="-105" dirty="0"/>
              <a:t> </a:t>
            </a:r>
            <a:r>
              <a:rPr dirty="0"/>
              <a:t>Search</a:t>
            </a:r>
            <a:r>
              <a:rPr spc="-114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36" y="1410206"/>
            <a:ext cx="4190365" cy="468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48514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We’re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doing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way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too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much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work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expectimax!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  <a:buClr>
                <a:srgbClr val="333399"/>
              </a:buClr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Problem: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States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repeated</a:t>
            </a:r>
            <a:endParaRPr sz="2400">
              <a:latin typeface="Calibri"/>
              <a:cs typeface="Calibri"/>
            </a:endParaRPr>
          </a:p>
          <a:p>
            <a:pPr marL="755650" marR="565785" lvl="1" indent="-285750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Idea: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needed </a:t>
            </a:r>
            <a:r>
              <a:rPr sz="2000" dirty="0">
                <a:latin typeface="Calibri"/>
                <a:cs typeface="Calibri"/>
              </a:rPr>
              <a:t>quantities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once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85"/>
              </a:spcBef>
              <a:buFont typeface="Wingdings"/>
              <a:buChar char="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Problem: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Tree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goes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forever</a:t>
            </a:r>
            <a:endParaRPr sz="24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Idea: Do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depth-</a:t>
            </a:r>
            <a:r>
              <a:rPr sz="2000" spc="-10" dirty="0">
                <a:latin typeface="Calibri"/>
                <a:cs typeface="Calibri"/>
              </a:rPr>
              <a:t>limited </a:t>
            </a:r>
            <a:r>
              <a:rPr sz="2000" dirty="0">
                <a:latin typeface="Calibri"/>
                <a:cs typeface="Calibri"/>
              </a:rPr>
              <a:t>computation,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increasing </a:t>
            </a:r>
            <a:r>
              <a:rPr sz="2000" dirty="0">
                <a:latin typeface="Calibri"/>
                <a:cs typeface="Calibri"/>
              </a:rPr>
              <a:t>depths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until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small</a:t>
            </a:r>
            <a:endParaRPr sz="2000">
              <a:latin typeface="Calibri"/>
              <a:cs typeface="Calibri"/>
            </a:endParaRPr>
          </a:p>
          <a:p>
            <a:pPr marL="755650" marR="242570" lvl="1" indent="-285750">
              <a:lnSpc>
                <a:spcPct val="100499"/>
              </a:lnSpc>
              <a:spcBef>
                <a:spcPts val="47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Note: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deep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 </a:t>
            </a:r>
            <a:r>
              <a:rPr sz="2000" dirty="0">
                <a:latin typeface="Calibri"/>
                <a:cs typeface="Calibri"/>
              </a:rPr>
              <a:t>eventually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don’t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matter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γ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76800" y="1447800"/>
            <a:ext cx="6476365" cy="4727575"/>
            <a:chOff x="4876800" y="1447800"/>
            <a:chExt cx="6476365" cy="47275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352800"/>
              <a:ext cx="5802629" cy="28224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4824" y="1447800"/>
              <a:ext cx="484631" cy="3192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4520" y="2437485"/>
              <a:ext cx="389476" cy="2461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37926" y="3353561"/>
              <a:ext cx="515111" cy="3649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88152" y="1913381"/>
              <a:ext cx="184404" cy="1844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24950" y="1913381"/>
              <a:ext cx="184403" cy="18440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597520" y="1767459"/>
              <a:ext cx="1450340" cy="169545"/>
            </a:xfrm>
            <a:custGeom>
              <a:avLst/>
              <a:gdLst/>
              <a:ahLst/>
              <a:cxnLst/>
              <a:rect l="l" t="t" r="r" b="b"/>
              <a:pathLst>
                <a:path w="1450340" h="169544">
                  <a:moveTo>
                    <a:pt x="0" y="0"/>
                  </a:moveTo>
                  <a:lnTo>
                    <a:pt x="1449781" y="169062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027327" y="1871974"/>
              <a:ext cx="133985" cy="126364"/>
            </a:xfrm>
            <a:custGeom>
              <a:avLst/>
              <a:gdLst/>
              <a:ahLst/>
              <a:cxnLst/>
              <a:rect l="l" t="t" r="r" b="b"/>
              <a:pathLst>
                <a:path w="133984" h="126364">
                  <a:moveTo>
                    <a:pt x="14719" y="0"/>
                  </a:moveTo>
                  <a:lnTo>
                    <a:pt x="0" y="126149"/>
                  </a:lnTo>
                  <a:lnTo>
                    <a:pt x="133502" y="77787"/>
                  </a:lnTo>
                  <a:lnTo>
                    <a:pt x="1471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50743" y="1767459"/>
              <a:ext cx="1547495" cy="170180"/>
            </a:xfrm>
            <a:custGeom>
              <a:avLst/>
              <a:gdLst/>
              <a:ahLst/>
              <a:cxnLst/>
              <a:rect l="l" t="t" r="r" b="b"/>
              <a:pathLst>
                <a:path w="1547495" h="170180">
                  <a:moveTo>
                    <a:pt x="1546910" y="0"/>
                  </a:moveTo>
                  <a:lnTo>
                    <a:pt x="0" y="169837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37126" y="1872777"/>
              <a:ext cx="133350" cy="126364"/>
            </a:xfrm>
            <a:custGeom>
              <a:avLst/>
              <a:gdLst/>
              <a:ahLst/>
              <a:cxnLst/>
              <a:rect l="l" t="t" r="r" b="b"/>
              <a:pathLst>
                <a:path w="133350" h="126364">
                  <a:moveTo>
                    <a:pt x="119303" y="0"/>
                  </a:moveTo>
                  <a:lnTo>
                    <a:pt x="0" y="76987"/>
                  </a:lnTo>
                  <a:lnTo>
                    <a:pt x="133172" y="126238"/>
                  </a:lnTo>
                  <a:lnTo>
                    <a:pt x="119303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4592" y="2404110"/>
              <a:ext cx="485393" cy="31851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137700" y="2085212"/>
              <a:ext cx="1079500" cy="289560"/>
            </a:xfrm>
            <a:custGeom>
              <a:avLst/>
              <a:gdLst/>
              <a:ahLst/>
              <a:cxnLst/>
              <a:rect l="l" t="t" r="r" b="b"/>
              <a:pathLst>
                <a:path w="1079500" h="289560">
                  <a:moveTo>
                    <a:pt x="1079207" y="0"/>
                  </a:moveTo>
                  <a:lnTo>
                    <a:pt x="0" y="289090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27294" y="2309669"/>
              <a:ext cx="139700" cy="123189"/>
            </a:xfrm>
            <a:custGeom>
              <a:avLst/>
              <a:gdLst/>
              <a:ahLst/>
              <a:cxnLst/>
              <a:rect l="l" t="t" r="r" b="b"/>
              <a:pathLst>
                <a:path w="139700" h="123189">
                  <a:moveTo>
                    <a:pt x="106235" y="0"/>
                  </a:moveTo>
                  <a:lnTo>
                    <a:pt x="0" y="94208"/>
                  </a:lnTo>
                  <a:lnTo>
                    <a:pt x="139103" y="122669"/>
                  </a:lnTo>
                  <a:lnTo>
                    <a:pt x="10623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216771" y="2085212"/>
              <a:ext cx="1151255" cy="290830"/>
            </a:xfrm>
            <a:custGeom>
              <a:avLst/>
              <a:gdLst/>
              <a:ahLst/>
              <a:cxnLst/>
              <a:rect l="l" t="t" r="r" b="b"/>
              <a:pathLst>
                <a:path w="1151254" h="290830">
                  <a:moveTo>
                    <a:pt x="0" y="0"/>
                  </a:moveTo>
                  <a:lnTo>
                    <a:pt x="1150797" y="290664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339707" y="2311199"/>
              <a:ext cx="139065" cy="123189"/>
            </a:xfrm>
            <a:custGeom>
              <a:avLst/>
              <a:gdLst/>
              <a:ahLst/>
              <a:cxnLst/>
              <a:rect l="l" t="t" r="r" b="b"/>
              <a:pathLst>
                <a:path w="139065" h="123189">
                  <a:moveTo>
                    <a:pt x="31102" y="0"/>
                  </a:moveTo>
                  <a:lnTo>
                    <a:pt x="0" y="123126"/>
                  </a:lnTo>
                  <a:lnTo>
                    <a:pt x="138683" y="92671"/>
                  </a:lnTo>
                  <a:lnTo>
                    <a:pt x="3110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3466" y="2403347"/>
              <a:ext cx="485393" cy="31927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77624" y="2085212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69">
                  <a:moveTo>
                    <a:pt x="2603" y="0"/>
                  </a:moveTo>
                  <a:lnTo>
                    <a:pt x="0" y="204012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4284" y="2275716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69">
                  <a:moveTo>
                    <a:pt x="0" y="0"/>
                  </a:moveTo>
                  <a:lnTo>
                    <a:pt x="61874" y="127800"/>
                  </a:lnTo>
                  <a:lnTo>
                    <a:pt x="126987" y="1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89191" y="3399282"/>
              <a:ext cx="530351" cy="3345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62372" y="2909316"/>
              <a:ext cx="184404" cy="1844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15455" y="2909316"/>
              <a:ext cx="184404" cy="18440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876163" y="2723007"/>
              <a:ext cx="371475" cy="173990"/>
            </a:xfrm>
            <a:custGeom>
              <a:avLst/>
              <a:gdLst/>
              <a:ahLst/>
              <a:cxnLst/>
              <a:rect l="l" t="t" r="r" b="b"/>
              <a:pathLst>
                <a:path w="371475" h="173989">
                  <a:moveTo>
                    <a:pt x="0" y="0"/>
                  </a:moveTo>
                  <a:lnTo>
                    <a:pt x="371195" y="173697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08937" y="2833799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39" h="115569">
                  <a:moveTo>
                    <a:pt x="53835" y="0"/>
                  </a:moveTo>
                  <a:lnTo>
                    <a:pt x="0" y="115023"/>
                  </a:lnTo>
                  <a:lnTo>
                    <a:pt x="141947" y="111340"/>
                  </a:lnTo>
                  <a:lnTo>
                    <a:pt x="5383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14505" y="2723007"/>
              <a:ext cx="362585" cy="173355"/>
            </a:xfrm>
            <a:custGeom>
              <a:avLst/>
              <a:gdLst/>
              <a:ahLst/>
              <a:cxnLst/>
              <a:rect l="l" t="t" r="r" b="b"/>
              <a:pathLst>
                <a:path w="362585" h="173355">
                  <a:moveTo>
                    <a:pt x="362394" y="0"/>
                  </a:moveTo>
                  <a:lnTo>
                    <a:pt x="0" y="172910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11339" y="2833138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39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1867" y="3399282"/>
              <a:ext cx="484631" cy="31927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130423" y="3081147"/>
              <a:ext cx="277495" cy="243840"/>
            </a:xfrm>
            <a:custGeom>
              <a:avLst/>
              <a:gdLst/>
              <a:ahLst/>
              <a:cxnLst/>
              <a:rect l="l" t="t" r="r" b="b"/>
              <a:pathLst>
                <a:path w="277495" h="243839">
                  <a:moveTo>
                    <a:pt x="277215" y="0"/>
                  </a:moveTo>
                  <a:lnTo>
                    <a:pt x="0" y="243573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44568" y="3268633"/>
              <a:ext cx="137795" cy="132080"/>
            </a:xfrm>
            <a:custGeom>
              <a:avLst/>
              <a:gdLst/>
              <a:ahLst/>
              <a:cxnLst/>
              <a:rect l="l" t="t" r="r" b="b"/>
              <a:pathLst>
                <a:path w="137795" h="132079">
                  <a:moveTo>
                    <a:pt x="53479" y="0"/>
                  </a:moveTo>
                  <a:lnTo>
                    <a:pt x="0" y="131533"/>
                  </a:lnTo>
                  <a:lnTo>
                    <a:pt x="137312" y="95402"/>
                  </a:lnTo>
                  <a:lnTo>
                    <a:pt x="5347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07277" y="3081147"/>
              <a:ext cx="263525" cy="241935"/>
            </a:xfrm>
            <a:custGeom>
              <a:avLst/>
              <a:gdLst/>
              <a:ahLst/>
              <a:cxnLst/>
              <a:rect l="l" t="t" r="r" b="b"/>
              <a:pathLst>
                <a:path w="263525" h="241935">
                  <a:moveTo>
                    <a:pt x="0" y="0"/>
                  </a:moveTo>
                  <a:lnTo>
                    <a:pt x="263055" y="24168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618014" y="3267477"/>
              <a:ext cx="136525" cy="132715"/>
            </a:xfrm>
            <a:custGeom>
              <a:avLst/>
              <a:gdLst/>
              <a:ahLst/>
              <a:cxnLst/>
              <a:rect l="l" t="t" r="r" b="b"/>
              <a:pathLst>
                <a:path w="136525" h="132714">
                  <a:moveTo>
                    <a:pt x="85928" y="0"/>
                  </a:moveTo>
                  <a:lnTo>
                    <a:pt x="0" y="93510"/>
                  </a:lnTo>
                  <a:lnTo>
                    <a:pt x="136474" y="132689"/>
                  </a:lnTo>
                  <a:lnTo>
                    <a:pt x="8592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6068" y="3398520"/>
              <a:ext cx="484631" cy="31927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354955" y="3081147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70">
                  <a:moveTo>
                    <a:pt x="0" y="0"/>
                  </a:moveTo>
                  <a:lnTo>
                    <a:pt x="2603" y="204012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93912" y="327165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05116" y="2909316"/>
              <a:ext cx="184403" cy="18440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657249" y="2723007"/>
              <a:ext cx="362585" cy="173355"/>
            </a:xfrm>
            <a:custGeom>
              <a:avLst/>
              <a:gdLst/>
              <a:ahLst/>
              <a:cxnLst/>
              <a:rect l="l" t="t" r="r" b="b"/>
              <a:pathLst>
                <a:path w="362584" h="173355">
                  <a:moveTo>
                    <a:pt x="362394" y="0"/>
                  </a:moveTo>
                  <a:lnTo>
                    <a:pt x="0" y="172910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54081" y="2833138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40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8811" y="3398520"/>
              <a:ext cx="484631" cy="31927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497698" y="3081147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70">
                  <a:moveTo>
                    <a:pt x="0" y="0"/>
                  </a:moveTo>
                  <a:lnTo>
                    <a:pt x="2603" y="204012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36656" y="327165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22791" y="3399282"/>
              <a:ext cx="530351" cy="33451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66582" y="2909316"/>
              <a:ext cx="185166" cy="18440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027289" y="2723007"/>
              <a:ext cx="372110" cy="173990"/>
            </a:xfrm>
            <a:custGeom>
              <a:avLst/>
              <a:gdLst/>
              <a:ahLst/>
              <a:cxnLst/>
              <a:rect l="l" t="t" r="r" b="b"/>
              <a:pathLst>
                <a:path w="372109" h="173989">
                  <a:moveTo>
                    <a:pt x="0" y="0"/>
                  </a:moveTo>
                  <a:lnTo>
                    <a:pt x="371779" y="173456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360721" y="2833542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40" h="115569">
                  <a:moveTo>
                    <a:pt x="53695" y="0"/>
                  </a:moveTo>
                  <a:lnTo>
                    <a:pt x="0" y="115087"/>
                  </a:lnTo>
                  <a:lnTo>
                    <a:pt x="141935" y="111239"/>
                  </a:lnTo>
                  <a:lnTo>
                    <a:pt x="536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7" y="3399282"/>
              <a:ext cx="484631" cy="31927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333329" y="3081147"/>
              <a:ext cx="226060" cy="236854"/>
            </a:xfrm>
            <a:custGeom>
              <a:avLst/>
              <a:gdLst/>
              <a:ahLst/>
              <a:cxnLst/>
              <a:rect l="l" t="t" r="r" b="b"/>
              <a:pathLst>
                <a:path w="226059" h="236854">
                  <a:moveTo>
                    <a:pt x="225907" y="0"/>
                  </a:moveTo>
                  <a:lnTo>
                    <a:pt x="0" y="236385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254361" y="3264475"/>
              <a:ext cx="133985" cy="135890"/>
            </a:xfrm>
            <a:custGeom>
              <a:avLst/>
              <a:gdLst/>
              <a:ahLst/>
              <a:cxnLst/>
              <a:rect l="l" t="t" r="r" b="b"/>
              <a:pathLst>
                <a:path w="133984" h="135889">
                  <a:moveTo>
                    <a:pt x="41833" y="0"/>
                  </a:moveTo>
                  <a:lnTo>
                    <a:pt x="0" y="135686"/>
                  </a:lnTo>
                  <a:lnTo>
                    <a:pt x="133654" y="87744"/>
                  </a:lnTo>
                  <a:lnTo>
                    <a:pt x="4183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559165" y="3081147"/>
              <a:ext cx="247650" cy="240029"/>
            </a:xfrm>
            <a:custGeom>
              <a:avLst/>
              <a:gdLst/>
              <a:ahLst/>
              <a:cxnLst/>
              <a:rect l="l" t="t" r="r" b="b"/>
              <a:pathLst>
                <a:path w="247650" h="240029">
                  <a:moveTo>
                    <a:pt x="0" y="0"/>
                  </a:moveTo>
                  <a:lnTo>
                    <a:pt x="247129" y="23947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752996" y="3266182"/>
              <a:ext cx="135890" cy="133985"/>
            </a:xfrm>
            <a:custGeom>
              <a:avLst/>
              <a:gdLst/>
              <a:ahLst/>
              <a:cxnLst/>
              <a:rect l="l" t="t" r="r" b="b"/>
              <a:pathLst>
                <a:path w="135890" h="133985">
                  <a:moveTo>
                    <a:pt x="88379" y="0"/>
                  </a:moveTo>
                  <a:lnTo>
                    <a:pt x="0" y="91198"/>
                  </a:lnTo>
                  <a:lnTo>
                    <a:pt x="135381" y="133985"/>
                  </a:lnTo>
                  <a:lnTo>
                    <a:pt x="8837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60685" y="3399282"/>
              <a:ext cx="530350" cy="33451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17608" y="2908553"/>
              <a:ext cx="184403" cy="18440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071858" y="2738247"/>
              <a:ext cx="407034" cy="163830"/>
            </a:xfrm>
            <a:custGeom>
              <a:avLst/>
              <a:gdLst/>
              <a:ahLst/>
              <a:cxnLst/>
              <a:rect l="l" t="t" r="r" b="b"/>
              <a:pathLst>
                <a:path w="407034" h="163830">
                  <a:moveTo>
                    <a:pt x="406514" y="0"/>
                  </a:moveTo>
                  <a:lnTo>
                    <a:pt x="0" y="163563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965821" y="2838156"/>
              <a:ext cx="141605" cy="118110"/>
            </a:xfrm>
            <a:custGeom>
              <a:avLst/>
              <a:gdLst/>
              <a:ahLst/>
              <a:cxnLst/>
              <a:rect l="l" t="t" r="r" b="b"/>
              <a:pathLst>
                <a:path w="141604" h="118110">
                  <a:moveTo>
                    <a:pt x="94106" y="0"/>
                  </a:moveTo>
                  <a:lnTo>
                    <a:pt x="0" y="106324"/>
                  </a:lnTo>
                  <a:lnTo>
                    <a:pt x="141516" y="117817"/>
                  </a:lnTo>
                  <a:lnTo>
                    <a:pt x="94106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4405" y="3399282"/>
              <a:ext cx="484631" cy="31927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9668389" y="3080385"/>
              <a:ext cx="241935" cy="238760"/>
            </a:xfrm>
            <a:custGeom>
              <a:avLst/>
              <a:gdLst/>
              <a:ahLst/>
              <a:cxnLst/>
              <a:rect l="l" t="t" r="r" b="b"/>
              <a:pathLst>
                <a:path w="241934" h="238760">
                  <a:moveTo>
                    <a:pt x="241439" y="0"/>
                  </a:moveTo>
                  <a:lnTo>
                    <a:pt x="0" y="238658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587106" y="3264957"/>
              <a:ext cx="135255" cy="134620"/>
            </a:xfrm>
            <a:custGeom>
              <a:avLst/>
              <a:gdLst/>
              <a:ahLst/>
              <a:cxnLst/>
              <a:rect l="l" t="t" r="r" b="b"/>
              <a:pathLst>
                <a:path w="135254" h="134620">
                  <a:moveTo>
                    <a:pt x="45669" y="0"/>
                  </a:moveTo>
                  <a:lnTo>
                    <a:pt x="0" y="134442"/>
                  </a:lnTo>
                  <a:lnTo>
                    <a:pt x="134950" y="90309"/>
                  </a:lnTo>
                  <a:lnTo>
                    <a:pt x="45669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910190" y="3080385"/>
              <a:ext cx="325755" cy="249554"/>
            </a:xfrm>
            <a:custGeom>
              <a:avLst/>
              <a:gdLst/>
              <a:ahLst/>
              <a:cxnLst/>
              <a:rect l="l" t="t" r="r" b="b"/>
              <a:pathLst>
                <a:path w="325754" h="249554">
                  <a:moveTo>
                    <a:pt x="0" y="0"/>
                  </a:moveTo>
                  <a:lnTo>
                    <a:pt x="325742" y="24951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187246" y="3271762"/>
              <a:ext cx="139700" cy="127635"/>
            </a:xfrm>
            <a:custGeom>
              <a:avLst/>
              <a:gdLst/>
              <a:ahLst/>
              <a:cxnLst/>
              <a:rect l="l" t="t" r="r" b="b"/>
              <a:pathLst>
                <a:path w="139700" h="127635">
                  <a:moveTo>
                    <a:pt x="77228" y="0"/>
                  </a:moveTo>
                  <a:lnTo>
                    <a:pt x="0" y="100812"/>
                  </a:lnTo>
                  <a:lnTo>
                    <a:pt x="139433" y="127635"/>
                  </a:lnTo>
                  <a:lnTo>
                    <a:pt x="77228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53750" y="2909316"/>
              <a:ext cx="184403" cy="184403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0478642" y="2738247"/>
              <a:ext cx="405130" cy="163830"/>
            </a:xfrm>
            <a:custGeom>
              <a:avLst/>
              <a:gdLst/>
              <a:ahLst/>
              <a:cxnLst/>
              <a:rect l="l" t="t" r="r" b="b"/>
              <a:pathLst>
                <a:path w="405129" h="163830">
                  <a:moveTo>
                    <a:pt x="0" y="0"/>
                  </a:moveTo>
                  <a:lnTo>
                    <a:pt x="404888" y="16374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847956" y="2838349"/>
              <a:ext cx="141605" cy="118110"/>
            </a:xfrm>
            <a:custGeom>
              <a:avLst/>
              <a:gdLst/>
              <a:ahLst/>
              <a:cxnLst/>
              <a:rect l="l" t="t" r="r" b="b"/>
              <a:pathLst>
                <a:path w="141604" h="118110">
                  <a:moveTo>
                    <a:pt x="47612" y="0"/>
                  </a:moveTo>
                  <a:lnTo>
                    <a:pt x="0" y="117729"/>
                  </a:lnTo>
                  <a:lnTo>
                    <a:pt x="141541" y="106489"/>
                  </a:lnTo>
                  <a:lnTo>
                    <a:pt x="4761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1045571" y="3081147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70">
                  <a:moveTo>
                    <a:pt x="0" y="0"/>
                  </a:moveTo>
                  <a:lnTo>
                    <a:pt x="2603" y="204012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984527" y="327165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012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Time-</a:t>
            </a:r>
            <a:r>
              <a:rPr dirty="0"/>
              <a:t>Limited</a:t>
            </a:r>
            <a:r>
              <a:rPr spc="-80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036" y="1410206"/>
            <a:ext cx="7505700" cy="1784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Key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idea: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time-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limited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endParaRPr sz="2400">
              <a:latin typeface="Calibri"/>
              <a:cs typeface="Calibri"/>
            </a:endParaRPr>
          </a:p>
          <a:p>
            <a:pPr marL="393065" marR="68580" indent="-342900">
              <a:lnSpc>
                <a:spcPct val="100000"/>
              </a:lnSpc>
              <a:spcBef>
                <a:spcPts val="2305"/>
              </a:spcBef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Define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</a:t>
            </a:r>
            <a:r>
              <a:rPr sz="2400" baseline="-20833" dirty="0">
                <a:solidFill>
                  <a:srgbClr val="333399"/>
                </a:solidFill>
                <a:latin typeface="Calibri"/>
                <a:cs typeface="Calibri"/>
              </a:rPr>
              <a:t>k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(s)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optimal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value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if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game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ends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k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more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time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steps</a:t>
            </a:r>
            <a:endParaRPr sz="240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793115" algn="l"/>
              </a:tabLst>
            </a:pPr>
            <a:r>
              <a:rPr sz="2000" dirty="0">
                <a:latin typeface="Calibri"/>
                <a:cs typeface="Calibri"/>
              </a:rPr>
              <a:t>Equivalently,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it’s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depth-</a:t>
            </a:r>
            <a:r>
              <a:rPr sz="2000" dirty="0">
                <a:latin typeface="Calibri"/>
                <a:cs typeface="Calibri"/>
              </a:rPr>
              <a:t>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expectimax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would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6460" y="1354359"/>
            <a:ext cx="1932947" cy="19522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27440" y="6506654"/>
            <a:ext cx="338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[Demo</a:t>
            </a:r>
            <a:r>
              <a:rPr sz="1800" spc="-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–</a:t>
            </a:r>
            <a:r>
              <a:rPr sz="1800" spc="-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libri"/>
                <a:cs typeface="Calibri"/>
              </a:rPr>
              <a:t>time-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limited</a:t>
            </a:r>
            <a:r>
              <a:rPr sz="1800" spc="-4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C0000"/>
                </a:solidFill>
                <a:latin typeface="Calibri"/>
                <a:cs typeface="Calibri"/>
              </a:rPr>
              <a:t>values</a:t>
            </a:r>
            <a:r>
              <a:rPr sz="1800" spc="-4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libri"/>
                <a:cs typeface="Calibri"/>
              </a:rPr>
              <a:t>(L8D6)]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24000" y="3962400"/>
            <a:ext cx="4480560" cy="1731645"/>
            <a:chOff x="1524000" y="3962400"/>
            <a:chExt cx="4480560" cy="17316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9450" y="3962400"/>
              <a:ext cx="367283" cy="24155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4073" y="4686300"/>
              <a:ext cx="401573" cy="25298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3962" y="5451601"/>
              <a:ext cx="340337" cy="20479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0730" y="4312158"/>
              <a:ext cx="145542" cy="1455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3504" y="4312158"/>
              <a:ext cx="145542" cy="1455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03473" y="4204334"/>
              <a:ext cx="927100" cy="123189"/>
            </a:xfrm>
            <a:custGeom>
              <a:avLst/>
              <a:gdLst/>
              <a:ahLst/>
              <a:cxnLst/>
              <a:rect l="l" t="t" r="r" b="b"/>
              <a:pathLst>
                <a:path w="927100" h="123189">
                  <a:moveTo>
                    <a:pt x="0" y="0"/>
                  </a:moveTo>
                  <a:lnTo>
                    <a:pt x="926820" y="123012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09352" y="4262721"/>
              <a:ext cx="134620" cy="126364"/>
            </a:xfrm>
            <a:custGeom>
              <a:avLst/>
              <a:gdLst/>
              <a:ahLst/>
              <a:cxnLst/>
              <a:rect l="l" t="t" r="r" b="b"/>
              <a:pathLst>
                <a:path w="134620" h="126364">
                  <a:moveTo>
                    <a:pt x="16713" y="0"/>
                  </a:moveTo>
                  <a:lnTo>
                    <a:pt x="0" y="125895"/>
                  </a:lnTo>
                  <a:lnTo>
                    <a:pt x="134251" y="79667"/>
                  </a:lnTo>
                  <a:lnTo>
                    <a:pt x="1671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59789" y="4204334"/>
              <a:ext cx="1144270" cy="125730"/>
            </a:xfrm>
            <a:custGeom>
              <a:avLst/>
              <a:gdLst/>
              <a:ahLst/>
              <a:cxnLst/>
              <a:rect l="l" t="t" r="r" b="b"/>
              <a:pathLst>
                <a:path w="1144270" h="125729">
                  <a:moveTo>
                    <a:pt x="1143812" y="0"/>
                  </a:moveTo>
                  <a:lnTo>
                    <a:pt x="0" y="125577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46176" y="4265399"/>
              <a:ext cx="133350" cy="126364"/>
            </a:xfrm>
            <a:custGeom>
              <a:avLst/>
              <a:gdLst/>
              <a:ahLst/>
              <a:cxnLst/>
              <a:rect l="l" t="t" r="r" b="b"/>
              <a:pathLst>
                <a:path w="133350" h="126364">
                  <a:moveTo>
                    <a:pt x="119303" y="0"/>
                  </a:moveTo>
                  <a:lnTo>
                    <a:pt x="0" y="76987"/>
                  </a:lnTo>
                  <a:lnTo>
                    <a:pt x="133172" y="126238"/>
                  </a:lnTo>
                  <a:lnTo>
                    <a:pt x="119303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5585" y="4686300"/>
              <a:ext cx="367283" cy="24155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38515" y="4445126"/>
              <a:ext cx="648335" cy="207010"/>
            </a:xfrm>
            <a:custGeom>
              <a:avLst/>
              <a:gdLst/>
              <a:ahLst/>
              <a:cxnLst/>
              <a:rect l="l" t="t" r="r" b="b"/>
              <a:pathLst>
                <a:path w="648335" h="207010">
                  <a:moveTo>
                    <a:pt x="648246" y="0"/>
                  </a:moveTo>
                  <a:lnTo>
                    <a:pt x="0" y="206590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29611" y="4587359"/>
              <a:ext cx="140335" cy="121285"/>
            </a:xfrm>
            <a:custGeom>
              <a:avLst/>
              <a:gdLst/>
              <a:ahLst/>
              <a:cxnLst/>
              <a:rect l="l" t="t" r="r" b="b"/>
              <a:pathLst>
                <a:path w="140335" h="121285">
                  <a:moveTo>
                    <a:pt x="101714" y="0"/>
                  </a:moveTo>
                  <a:lnTo>
                    <a:pt x="0" y="99072"/>
                  </a:lnTo>
                  <a:lnTo>
                    <a:pt x="140284" y="121005"/>
                  </a:lnTo>
                  <a:lnTo>
                    <a:pt x="10171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86275" y="4445126"/>
              <a:ext cx="768350" cy="211454"/>
            </a:xfrm>
            <a:custGeom>
              <a:avLst/>
              <a:gdLst/>
              <a:ahLst/>
              <a:cxnLst/>
              <a:rect l="l" t="t" r="r" b="b"/>
              <a:pathLst>
                <a:path w="768350" h="211454">
                  <a:moveTo>
                    <a:pt x="0" y="0"/>
                  </a:moveTo>
                  <a:lnTo>
                    <a:pt x="768172" y="211023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25389" y="4591551"/>
              <a:ext cx="139700" cy="122555"/>
            </a:xfrm>
            <a:custGeom>
              <a:avLst/>
              <a:gdLst/>
              <a:ahLst/>
              <a:cxnLst/>
              <a:rect l="l" t="t" r="r" b="b"/>
              <a:pathLst>
                <a:path w="139700" h="122554">
                  <a:moveTo>
                    <a:pt x="33642" y="0"/>
                  </a:moveTo>
                  <a:lnTo>
                    <a:pt x="0" y="122466"/>
                  </a:lnTo>
                  <a:lnTo>
                    <a:pt x="139280" y="94881"/>
                  </a:lnTo>
                  <a:lnTo>
                    <a:pt x="3364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429" y="4686300"/>
              <a:ext cx="367283" cy="24155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01918" y="4445126"/>
              <a:ext cx="1905" cy="127000"/>
            </a:xfrm>
            <a:custGeom>
              <a:avLst/>
              <a:gdLst/>
              <a:ahLst/>
              <a:cxnLst/>
              <a:rect l="l" t="t" r="r" b="b"/>
              <a:pathLst>
                <a:path w="1905" h="127000">
                  <a:moveTo>
                    <a:pt x="1612" y="0"/>
                  </a:moveTo>
                  <a:lnTo>
                    <a:pt x="0" y="126746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38574" y="4558361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0" y="0"/>
                  </a:moveTo>
                  <a:lnTo>
                    <a:pt x="61874" y="127800"/>
                  </a:lnTo>
                  <a:lnTo>
                    <a:pt x="126987" y="1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9547" y="5440680"/>
              <a:ext cx="401573" cy="25298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2204" y="5065775"/>
              <a:ext cx="146304" cy="14630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30017" y="5065775"/>
              <a:ext cx="146304" cy="14630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00452" y="4928235"/>
              <a:ext cx="256540" cy="120014"/>
            </a:xfrm>
            <a:custGeom>
              <a:avLst/>
              <a:gdLst/>
              <a:ahLst/>
              <a:cxnLst/>
              <a:rect l="l" t="t" r="r" b="b"/>
              <a:pathLst>
                <a:path w="256539" h="120014">
                  <a:moveTo>
                    <a:pt x="0" y="0"/>
                  </a:moveTo>
                  <a:lnTo>
                    <a:pt x="256413" y="119824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18478" y="4985148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39" h="115570">
                  <a:moveTo>
                    <a:pt x="53771" y="0"/>
                  </a:moveTo>
                  <a:lnTo>
                    <a:pt x="0" y="115049"/>
                  </a:lnTo>
                  <a:lnTo>
                    <a:pt x="141935" y="111302"/>
                  </a:lnTo>
                  <a:lnTo>
                    <a:pt x="5377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50810" y="4928235"/>
              <a:ext cx="249554" cy="119380"/>
            </a:xfrm>
            <a:custGeom>
              <a:avLst/>
              <a:gdLst/>
              <a:ahLst/>
              <a:cxnLst/>
              <a:rect l="l" t="t" r="r" b="b"/>
              <a:pathLst>
                <a:path w="249555" h="119379">
                  <a:moveTo>
                    <a:pt x="249377" y="0"/>
                  </a:moveTo>
                  <a:lnTo>
                    <a:pt x="0" y="11898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47643" y="4984442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39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7983" y="5440680"/>
              <a:ext cx="367283" cy="24155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42004" y="5193030"/>
              <a:ext cx="338766" cy="2480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0" y="5439917"/>
              <a:ext cx="368045" cy="24155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705737" y="5199507"/>
              <a:ext cx="1905" cy="127000"/>
            </a:xfrm>
            <a:custGeom>
              <a:avLst/>
              <a:gdLst/>
              <a:ahLst/>
              <a:cxnLst/>
              <a:rect l="l" t="t" r="r" b="b"/>
              <a:pathLst>
                <a:path w="1905" h="127000">
                  <a:moveTo>
                    <a:pt x="0" y="0"/>
                  </a:moveTo>
                  <a:lnTo>
                    <a:pt x="1612" y="126746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43707" y="5312741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55264" y="5065775"/>
              <a:ext cx="145542" cy="14630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473870" y="4928235"/>
              <a:ext cx="249554" cy="119380"/>
            </a:xfrm>
            <a:custGeom>
              <a:avLst/>
              <a:gdLst/>
              <a:ahLst/>
              <a:cxnLst/>
              <a:rect l="l" t="t" r="r" b="b"/>
              <a:pathLst>
                <a:path w="249554" h="119379">
                  <a:moveTo>
                    <a:pt x="249377" y="0"/>
                  </a:moveTo>
                  <a:lnTo>
                    <a:pt x="0" y="11898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70703" y="4984442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39" h="114935">
                  <a:moveTo>
                    <a:pt x="87274" y="0"/>
                  </a:moveTo>
                  <a:lnTo>
                    <a:pt x="0" y="112001"/>
                  </a:lnTo>
                  <a:lnTo>
                    <a:pt x="141973" y="114617"/>
                  </a:lnTo>
                  <a:lnTo>
                    <a:pt x="8727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7060" y="5439917"/>
              <a:ext cx="367283" cy="24155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328035" y="5199507"/>
              <a:ext cx="1905" cy="127000"/>
            </a:xfrm>
            <a:custGeom>
              <a:avLst/>
              <a:gdLst/>
              <a:ahLst/>
              <a:cxnLst/>
              <a:rect l="l" t="t" r="r" b="b"/>
              <a:pathLst>
                <a:path w="1904" h="127000">
                  <a:moveTo>
                    <a:pt x="0" y="0"/>
                  </a:moveTo>
                  <a:lnTo>
                    <a:pt x="1612" y="126746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66005" y="5312741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2" y="5440680"/>
              <a:ext cx="401573" cy="25298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59173" y="5065775"/>
              <a:ext cx="145542" cy="14630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729608" y="4928235"/>
              <a:ext cx="256540" cy="120014"/>
            </a:xfrm>
            <a:custGeom>
              <a:avLst/>
              <a:gdLst/>
              <a:ahLst/>
              <a:cxnLst/>
              <a:rect l="l" t="t" r="r" b="b"/>
              <a:pathLst>
                <a:path w="256539" h="120014">
                  <a:moveTo>
                    <a:pt x="0" y="0"/>
                  </a:moveTo>
                  <a:lnTo>
                    <a:pt x="256387" y="11962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947642" y="4984931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39" h="115570">
                  <a:moveTo>
                    <a:pt x="53695" y="0"/>
                  </a:moveTo>
                  <a:lnTo>
                    <a:pt x="0" y="115087"/>
                  </a:lnTo>
                  <a:lnTo>
                    <a:pt x="141935" y="111239"/>
                  </a:lnTo>
                  <a:lnTo>
                    <a:pt x="536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6377" y="5440680"/>
              <a:ext cx="367283" cy="24155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70399" y="5193030"/>
              <a:ext cx="338766" cy="24805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2520" y="5439917"/>
              <a:ext cx="401573" cy="25298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73752" y="5065775"/>
              <a:ext cx="145542" cy="14554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094743" y="4939664"/>
              <a:ext cx="270510" cy="112395"/>
            </a:xfrm>
            <a:custGeom>
              <a:avLst/>
              <a:gdLst/>
              <a:ahLst/>
              <a:cxnLst/>
              <a:rect l="l" t="t" r="r" b="b"/>
              <a:pathLst>
                <a:path w="270510" h="112395">
                  <a:moveTo>
                    <a:pt x="270319" y="0"/>
                  </a:moveTo>
                  <a:lnTo>
                    <a:pt x="0" y="11230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989192" y="4988459"/>
              <a:ext cx="142240" cy="117475"/>
            </a:xfrm>
            <a:custGeom>
              <a:avLst/>
              <a:gdLst/>
              <a:ahLst/>
              <a:cxnLst/>
              <a:rect l="l" t="t" r="r" b="b"/>
              <a:pathLst>
                <a:path w="142239" h="117475">
                  <a:moveTo>
                    <a:pt x="92913" y="0"/>
                  </a:moveTo>
                  <a:lnTo>
                    <a:pt x="0" y="107365"/>
                  </a:lnTo>
                  <a:lnTo>
                    <a:pt x="141643" y="117271"/>
                  </a:lnTo>
                  <a:lnTo>
                    <a:pt x="92913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0955" y="5439917"/>
              <a:ext cx="367283" cy="24155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84977" y="5192267"/>
              <a:ext cx="338764" cy="24805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31764" y="5065775"/>
              <a:ext cx="145542" cy="14630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364860" y="4939664"/>
              <a:ext cx="290830" cy="114935"/>
            </a:xfrm>
            <a:custGeom>
              <a:avLst/>
              <a:gdLst/>
              <a:ahLst/>
              <a:cxnLst/>
              <a:rect l="l" t="t" r="r" b="b"/>
              <a:pathLst>
                <a:path w="290829" h="114935">
                  <a:moveTo>
                    <a:pt x="0" y="0"/>
                  </a:moveTo>
                  <a:lnTo>
                    <a:pt x="290537" y="114528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20294" y="4990449"/>
              <a:ext cx="141605" cy="118745"/>
            </a:xfrm>
            <a:custGeom>
              <a:avLst/>
              <a:gdLst/>
              <a:ahLst/>
              <a:cxnLst/>
              <a:rect l="l" t="t" r="r" b="b"/>
              <a:pathLst>
                <a:path w="141604" h="118745">
                  <a:moveTo>
                    <a:pt x="46583" y="0"/>
                  </a:moveTo>
                  <a:lnTo>
                    <a:pt x="0" y="118148"/>
                  </a:lnTo>
                  <a:lnTo>
                    <a:pt x="141439" y="105651"/>
                  </a:lnTo>
                  <a:lnTo>
                    <a:pt x="465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804534" y="5199507"/>
              <a:ext cx="1905" cy="127000"/>
            </a:xfrm>
            <a:custGeom>
              <a:avLst/>
              <a:gdLst/>
              <a:ahLst/>
              <a:cxnLst/>
              <a:rect l="l" t="t" r="r" b="b"/>
              <a:pathLst>
                <a:path w="1904" h="127000">
                  <a:moveTo>
                    <a:pt x="0" y="0"/>
                  </a:moveTo>
                  <a:lnTo>
                    <a:pt x="1612" y="126746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742504" y="5312741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6617207" y="4331208"/>
            <a:ext cx="1016000" cy="939800"/>
            <a:chOff x="6617207" y="4331208"/>
            <a:chExt cx="1016000" cy="939800"/>
          </a:xfrm>
        </p:grpSpPr>
        <p:sp>
          <p:nvSpPr>
            <p:cNvPr id="60" name="object 60"/>
            <p:cNvSpPr/>
            <p:nvPr/>
          </p:nvSpPr>
          <p:spPr>
            <a:xfrm>
              <a:off x="6629780" y="4343781"/>
              <a:ext cx="990600" cy="914400"/>
            </a:xfrm>
            <a:custGeom>
              <a:avLst/>
              <a:gdLst/>
              <a:ahLst/>
              <a:cxnLst/>
              <a:rect l="l" t="t" r="r" b="b"/>
              <a:pathLst>
                <a:path w="990600" h="914400">
                  <a:moveTo>
                    <a:pt x="533400" y="0"/>
                  </a:moveTo>
                  <a:lnTo>
                    <a:pt x="533400" y="228600"/>
                  </a:lnTo>
                  <a:lnTo>
                    <a:pt x="0" y="228600"/>
                  </a:lnTo>
                  <a:lnTo>
                    <a:pt x="0" y="685800"/>
                  </a:lnTo>
                  <a:lnTo>
                    <a:pt x="533400" y="685800"/>
                  </a:lnTo>
                  <a:lnTo>
                    <a:pt x="533400" y="914400"/>
                  </a:lnTo>
                  <a:lnTo>
                    <a:pt x="990600" y="4572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629780" y="4343781"/>
              <a:ext cx="990600" cy="914400"/>
            </a:xfrm>
            <a:custGeom>
              <a:avLst/>
              <a:gdLst/>
              <a:ahLst/>
              <a:cxnLst/>
              <a:rect l="l" t="t" r="r" b="b"/>
              <a:pathLst>
                <a:path w="990600" h="9144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990600" y="457200"/>
                  </a:lnTo>
                  <a:lnTo>
                    <a:pt x="533400" y="914400"/>
                  </a:lnTo>
                  <a:lnTo>
                    <a:pt x="533400" y="685800"/>
                  </a:lnTo>
                  <a:lnTo>
                    <a:pt x="0" y="685800"/>
                  </a:lnTo>
                  <a:lnTo>
                    <a:pt x="0" y="22860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8217407" y="3962400"/>
            <a:ext cx="2082800" cy="1765935"/>
            <a:chOff x="8217407" y="3962400"/>
            <a:chExt cx="2082800" cy="1765935"/>
          </a:xfrm>
        </p:grpSpPr>
        <p:sp>
          <p:nvSpPr>
            <p:cNvPr id="63" name="object 63"/>
            <p:cNvSpPr/>
            <p:nvPr/>
          </p:nvSpPr>
          <p:spPr>
            <a:xfrm>
              <a:off x="8229980" y="4267581"/>
              <a:ext cx="2057400" cy="1447800"/>
            </a:xfrm>
            <a:custGeom>
              <a:avLst/>
              <a:gdLst/>
              <a:ahLst/>
              <a:cxnLst/>
              <a:rect l="l" t="t" r="r" b="b"/>
              <a:pathLst>
                <a:path w="2057400" h="1447800">
                  <a:moveTo>
                    <a:pt x="1028700" y="0"/>
                  </a:moveTo>
                  <a:lnTo>
                    <a:pt x="0" y="1447800"/>
                  </a:lnTo>
                  <a:lnTo>
                    <a:pt x="2057400" y="1447800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8F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229980" y="4267581"/>
              <a:ext cx="2057400" cy="1447800"/>
            </a:xfrm>
            <a:custGeom>
              <a:avLst/>
              <a:gdLst/>
              <a:ahLst/>
              <a:cxnLst/>
              <a:rect l="l" t="t" r="r" b="b"/>
              <a:pathLst>
                <a:path w="2057400" h="1447800">
                  <a:moveTo>
                    <a:pt x="0" y="1447800"/>
                  </a:moveTo>
                  <a:lnTo>
                    <a:pt x="1028700" y="0"/>
                  </a:lnTo>
                  <a:lnTo>
                    <a:pt x="2057400" y="1447800"/>
                  </a:lnTo>
                  <a:lnTo>
                    <a:pt x="0" y="1447800"/>
                  </a:lnTo>
                  <a:close/>
                </a:path>
              </a:pathLst>
            </a:custGeom>
            <a:ln w="25146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69084" y="3968462"/>
              <a:ext cx="858022" cy="26070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9" y="3962400"/>
              <a:ext cx="368045" cy="2415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k=0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3135" y="1143000"/>
            <a:ext cx="6205727" cy="5714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k=1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7614" y="1143000"/>
            <a:ext cx="6176759" cy="5714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k=2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2373" y="1143000"/>
            <a:ext cx="6207251" cy="5714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k=3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6852" y="1143000"/>
            <a:ext cx="6178295" cy="5714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k=4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9900" y="1157477"/>
            <a:ext cx="6172199" cy="56461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k=5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2279" y="1143000"/>
            <a:ext cx="6187439" cy="5714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k=6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9044" y="1173480"/>
            <a:ext cx="6153911" cy="56845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k=7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9900" y="1148333"/>
            <a:ext cx="6172199" cy="57096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k=8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9900" y="1175003"/>
            <a:ext cx="6172199" cy="56376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534" y="162306"/>
            <a:ext cx="840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k=9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6089" y="1157478"/>
            <a:ext cx="6179819" cy="57005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288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k=10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7707" y="1143000"/>
            <a:ext cx="6196571" cy="5714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9900" y="1138428"/>
            <a:ext cx="6172187" cy="57195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288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k=11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288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k=12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7707" y="1143000"/>
            <a:ext cx="6196571" cy="5714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5" y="1130045"/>
            <a:ext cx="6190475" cy="57279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127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k=100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84740" y="6010361"/>
            <a:ext cx="160274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Noise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0.2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Discount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0.9 </a:t>
            </a:r>
            <a:r>
              <a:rPr sz="1800" dirty="0">
                <a:latin typeface="Calibri"/>
                <a:cs typeface="Calibri"/>
              </a:rPr>
              <a:t>Living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reward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3657600"/>
            <a:ext cx="5802629" cy="282244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940808" y="1359406"/>
            <a:ext cx="6807200" cy="2936875"/>
            <a:chOff x="4940808" y="1359406"/>
            <a:chExt cx="6807200" cy="2936875"/>
          </a:xfrm>
        </p:grpSpPr>
        <p:sp>
          <p:nvSpPr>
            <p:cNvPr id="4" name="object 4"/>
            <p:cNvSpPr/>
            <p:nvPr/>
          </p:nvSpPr>
          <p:spPr>
            <a:xfrm>
              <a:off x="7749921" y="1843659"/>
              <a:ext cx="1452880" cy="382270"/>
            </a:xfrm>
            <a:custGeom>
              <a:avLst/>
              <a:gdLst/>
              <a:ahLst/>
              <a:cxnLst/>
              <a:rect l="l" t="t" r="r" b="b"/>
              <a:pathLst>
                <a:path w="1452879" h="382269">
                  <a:moveTo>
                    <a:pt x="0" y="0"/>
                  </a:moveTo>
                  <a:lnTo>
                    <a:pt x="1452765" y="381850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74253" y="2160860"/>
              <a:ext cx="139065" cy="123189"/>
            </a:xfrm>
            <a:custGeom>
              <a:avLst/>
              <a:gdLst/>
              <a:ahLst/>
              <a:cxnLst/>
              <a:rect l="l" t="t" r="r" b="b"/>
              <a:pathLst>
                <a:path w="139065" h="123189">
                  <a:moveTo>
                    <a:pt x="32296" y="0"/>
                  </a:moveTo>
                  <a:lnTo>
                    <a:pt x="0" y="122821"/>
                  </a:lnTo>
                  <a:lnTo>
                    <a:pt x="138976" y="93700"/>
                  </a:lnTo>
                  <a:lnTo>
                    <a:pt x="322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7224" y="1524000"/>
              <a:ext cx="484631" cy="3192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06919" y="2700451"/>
              <a:ext cx="389475" cy="2467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90326" y="3658361"/>
              <a:ext cx="515111" cy="3649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0552" y="2218182"/>
              <a:ext cx="184404" cy="1844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289923" y="2230755"/>
              <a:ext cx="159385" cy="159385"/>
            </a:xfrm>
            <a:custGeom>
              <a:avLst/>
              <a:gdLst/>
              <a:ahLst/>
              <a:cxnLst/>
              <a:rect l="l" t="t" r="r" b="b"/>
              <a:pathLst>
                <a:path w="159384" h="159385">
                  <a:moveTo>
                    <a:pt x="79629" y="0"/>
                  </a:moveTo>
                  <a:lnTo>
                    <a:pt x="48632" y="6257"/>
                  </a:lnTo>
                  <a:lnTo>
                    <a:pt x="23321" y="23321"/>
                  </a:lnTo>
                  <a:lnTo>
                    <a:pt x="6257" y="48632"/>
                  </a:lnTo>
                  <a:lnTo>
                    <a:pt x="0" y="79628"/>
                  </a:lnTo>
                  <a:lnTo>
                    <a:pt x="6257" y="110625"/>
                  </a:lnTo>
                  <a:lnTo>
                    <a:pt x="23321" y="135936"/>
                  </a:lnTo>
                  <a:lnTo>
                    <a:pt x="48632" y="153000"/>
                  </a:lnTo>
                  <a:lnTo>
                    <a:pt x="79629" y="159257"/>
                  </a:lnTo>
                  <a:lnTo>
                    <a:pt x="110625" y="153000"/>
                  </a:lnTo>
                  <a:lnTo>
                    <a:pt x="135936" y="135936"/>
                  </a:lnTo>
                  <a:lnTo>
                    <a:pt x="153000" y="110625"/>
                  </a:lnTo>
                  <a:lnTo>
                    <a:pt x="159258" y="79628"/>
                  </a:lnTo>
                  <a:lnTo>
                    <a:pt x="153000" y="48632"/>
                  </a:lnTo>
                  <a:lnTo>
                    <a:pt x="135936" y="23321"/>
                  </a:lnTo>
                  <a:lnTo>
                    <a:pt x="110625" y="6257"/>
                  </a:lnTo>
                  <a:lnTo>
                    <a:pt x="79629" y="0"/>
                  </a:lnTo>
                  <a:close/>
                </a:path>
              </a:pathLst>
            </a:custGeom>
            <a:solidFill>
              <a:srgbClr val="B8EA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89923" y="2230755"/>
              <a:ext cx="159385" cy="159385"/>
            </a:xfrm>
            <a:custGeom>
              <a:avLst/>
              <a:gdLst/>
              <a:ahLst/>
              <a:cxnLst/>
              <a:rect l="l" t="t" r="r" b="b"/>
              <a:pathLst>
                <a:path w="159384" h="159385">
                  <a:moveTo>
                    <a:pt x="0" y="79628"/>
                  </a:moveTo>
                  <a:lnTo>
                    <a:pt x="6257" y="48632"/>
                  </a:lnTo>
                  <a:lnTo>
                    <a:pt x="23321" y="23321"/>
                  </a:lnTo>
                  <a:lnTo>
                    <a:pt x="48632" y="6257"/>
                  </a:lnTo>
                  <a:lnTo>
                    <a:pt x="79629" y="0"/>
                  </a:lnTo>
                  <a:lnTo>
                    <a:pt x="110625" y="6257"/>
                  </a:lnTo>
                  <a:lnTo>
                    <a:pt x="135936" y="23321"/>
                  </a:lnTo>
                  <a:lnTo>
                    <a:pt x="153000" y="48632"/>
                  </a:lnTo>
                  <a:lnTo>
                    <a:pt x="159258" y="79628"/>
                  </a:lnTo>
                  <a:lnTo>
                    <a:pt x="153000" y="110625"/>
                  </a:lnTo>
                  <a:lnTo>
                    <a:pt x="135936" y="135936"/>
                  </a:lnTo>
                  <a:lnTo>
                    <a:pt x="110625" y="153000"/>
                  </a:lnTo>
                  <a:lnTo>
                    <a:pt x="79629" y="159257"/>
                  </a:lnTo>
                  <a:lnTo>
                    <a:pt x="48632" y="153000"/>
                  </a:lnTo>
                  <a:lnTo>
                    <a:pt x="23321" y="135936"/>
                  </a:lnTo>
                  <a:lnTo>
                    <a:pt x="6257" y="110625"/>
                  </a:lnTo>
                  <a:lnTo>
                    <a:pt x="0" y="79628"/>
                  </a:lnTo>
                  <a:close/>
                </a:path>
              </a:pathLst>
            </a:custGeom>
            <a:ln w="2514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00476" y="1843659"/>
              <a:ext cx="1550035" cy="383540"/>
            </a:xfrm>
            <a:custGeom>
              <a:avLst/>
              <a:gdLst/>
              <a:ahLst/>
              <a:cxnLst/>
              <a:rect l="l" t="t" r="r" b="b"/>
              <a:pathLst>
                <a:path w="1550034" h="383539">
                  <a:moveTo>
                    <a:pt x="1549577" y="0"/>
                  </a:moveTo>
                  <a:lnTo>
                    <a:pt x="0" y="383451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89520" y="2162411"/>
              <a:ext cx="139065" cy="123825"/>
            </a:xfrm>
            <a:custGeom>
              <a:avLst/>
              <a:gdLst/>
              <a:ahLst/>
              <a:cxnLst/>
              <a:rect l="l" t="t" r="r" b="b"/>
              <a:pathLst>
                <a:path w="139064" h="123825">
                  <a:moveTo>
                    <a:pt x="108026" y="0"/>
                  </a:moveTo>
                  <a:lnTo>
                    <a:pt x="0" y="92151"/>
                  </a:lnTo>
                  <a:lnTo>
                    <a:pt x="138544" y="123278"/>
                  </a:lnTo>
                  <a:lnTo>
                    <a:pt x="108026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6992" y="2667000"/>
              <a:ext cx="485393" cy="31927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290100" y="2390013"/>
              <a:ext cx="1079500" cy="289560"/>
            </a:xfrm>
            <a:custGeom>
              <a:avLst/>
              <a:gdLst/>
              <a:ahLst/>
              <a:cxnLst/>
              <a:rect l="l" t="t" r="r" b="b"/>
              <a:pathLst>
                <a:path w="1079500" h="289560">
                  <a:moveTo>
                    <a:pt x="1079207" y="0"/>
                  </a:moveTo>
                  <a:lnTo>
                    <a:pt x="0" y="289090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79694" y="2614469"/>
              <a:ext cx="139700" cy="123189"/>
            </a:xfrm>
            <a:custGeom>
              <a:avLst/>
              <a:gdLst/>
              <a:ahLst/>
              <a:cxnLst/>
              <a:rect l="l" t="t" r="r" b="b"/>
              <a:pathLst>
                <a:path w="139700" h="123189">
                  <a:moveTo>
                    <a:pt x="106235" y="0"/>
                  </a:moveTo>
                  <a:lnTo>
                    <a:pt x="0" y="94208"/>
                  </a:lnTo>
                  <a:lnTo>
                    <a:pt x="139103" y="122669"/>
                  </a:lnTo>
                  <a:lnTo>
                    <a:pt x="10623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69171" y="2390013"/>
              <a:ext cx="1151255" cy="290830"/>
            </a:xfrm>
            <a:custGeom>
              <a:avLst/>
              <a:gdLst/>
              <a:ahLst/>
              <a:cxnLst/>
              <a:rect l="l" t="t" r="r" b="b"/>
              <a:pathLst>
                <a:path w="1151254" h="290830">
                  <a:moveTo>
                    <a:pt x="0" y="0"/>
                  </a:moveTo>
                  <a:lnTo>
                    <a:pt x="1150797" y="290664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92107" y="2615999"/>
              <a:ext cx="139065" cy="123189"/>
            </a:xfrm>
            <a:custGeom>
              <a:avLst/>
              <a:gdLst/>
              <a:ahLst/>
              <a:cxnLst/>
              <a:rect l="l" t="t" r="r" b="b"/>
              <a:pathLst>
                <a:path w="139065" h="123189">
                  <a:moveTo>
                    <a:pt x="31102" y="0"/>
                  </a:moveTo>
                  <a:lnTo>
                    <a:pt x="0" y="123126"/>
                  </a:lnTo>
                  <a:lnTo>
                    <a:pt x="138683" y="92671"/>
                  </a:lnTo>
                  <a:lnTo>
                    <a:pt x="3110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5866" y="2667000"/>
              <a:ext cx="485393" cy="31927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30024" y="2348865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69">
                  <a:moveTo>
                    <a:pt x="2603" y="0"/>
                  </a:moveTo>
                  <a:lnTo>
                    <a:pt x="0" y="204012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66684" y="253937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69">
                  <a:moveTo>
                    <a:pt x="0" y="0"/>
                  </a:moveTo>
                  <a:lnTo>
                    <a:pt x="61874" y="127800"/>
                  </a:lnTo>
                  <a:lnTo>
                    <a:pt x="126987" y="1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41592" y="3704082"/>
              <a:ext cx="530350" cy="33451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14772" y="3214116"/>
              <a:ext cx="184404" cy="1844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67856" y="3214116"/>
              <a:ext cx="184403" cy="18440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028563" y="2986658"/>
              <a:ext cx="375285" cy="208279"/>
            </a:xfrm>
            <a:custGeom>
              <a:avLst/>
              <a:gdLst/>
              <a:ahLst/>
              <a:cxnLst/>
              <a:rect l="l" t="t" r="r" b="b"/>
              <a:pathLst>
                <a:path w="375285" h="208280">
                  <a:moveTo>
                    <a:pt x="0" y="0"/>
                  </a:moveTo>
                  <a:lnTo>
                    <a:pt x="374764" y="20791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61417" y="3132875"/>
              <a:ext cx="142240" cy="117475"/>
            </a:xfrm>
            <a:custGeom>
              <a:avLst/>
              <a:gdLst/>
              <a:ahLst/>
              <a:cxnLst/>
              <a:rect l="l" t="t" r="r" b="b"/>
              <a:pathLst>
                <a:path w="142240" h="117475">
                  <a:moveTo>
                    <a:pt x="61620" y="0"/>
                  </a:moveTo>
                  <a:lnTo>
                    <a:pt x="0" y="111048"/>
                  </a:lnTo>
                  <a:lnTo>
                    <a:pt x="141858" y="117144"/>
                  </a:lnTo>
                  <a:lnTo>
                    <a:pt x="6162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63233" y="2986658"/>
              <a:ext cx="366395" cy="207645"/>
            </a:xfrm>
            <a:custGeom>
              <a:avLst/>
              <a:gdLst/>
              <a:ahLst/>
              <a:cxnLst/>
              <a:rect l="l" t="t" r="r" b="b"/>
              <a:pathLst>
                <a:path w="366395" h="207644">
                  <a:moveTo>
                    <a:pt x="366064" y="0"/>
                  </a:moveTo>
                  <a:lnTo>
                    <a:pt x="0" y="207086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63738" y="3132213"/>
              <a:ext cx="142240" cy="118110"/>
            </a:xfrm>
            <a:custGeom>
              <a:avLst/>
              <a:gdLst/>
              <a:ahLst/>
              <a:cxnLst/>
              <a:rect l="l" t="t" r="r" b="b"/>
              <a:pathLst>
                <a:path w="142239" h="118110">
                  <a:moveTo>
                    <a:pt x="79273" y="0"/>
                  </a:moveTo>
                  <a:lnTo>
                    <a:pt x="0" y="117805"/>
                  </a:lnTo>
                  <a:lnTo>
                    <a:pt x="141808" y="110540"/>
                  </a:lnTo>
                  <a:lnTo>
                    <a:pt x="79273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268" y="3704082"/>
              <a:ext cx="484631" cy="31927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282823" y="3385947"/>
              <a:ext cx="277495" cy="243840"/>
            </a:xfrm>
            <a:custGeom>
              <a:avLst/>
              <a:gdLst/>
              <a:ahLst/>
              <a:cxnLst/>
              <a:rect l="l" t="t" r="r" b="b"/>
              <a:pathLst>
                <a:path w="277495" h="243839">
                  <a:moveTo>
                    <a:pt x="277215" y="0"/>
                  </a:moveTo>
                  <a:lnTo>
                    <a:pt x="0" y="243573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96968" y="3573433"/>
              <a:ext cx="137795" cy="132080"/>
            </a:xfrm>
            <a:custGeom>
              <a:avLst/>
              <a:gdLst/>
              <a:ahLst/>
              <a:cxnLst/>
              <a:rect l="l" t="t" r="r" b="b"/>
              <a:pathLst>
                <a:path w="137795" h="132079">
                  <a:moveTo>
                    <a:pt x="53479" y="0"/>
                  </a:moveTo>
                  <a:lnTo>
                    <a:pt x="0" y="131533"/>
                  </a:lnTo>
                  <a:lnTo>
                    <a:pt x="137312" y="95402"/>
                  </a:lnTo>
                  <a:lnTo>
                    <a:pt x="5347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59677" y="3385947"/>
              <a:ext cx="263525" cy="241935"/>
            </a:xfrm>
            <a:custGeom>
              <a:avLst/>
              <a:gdLst/>
              <a:ahLst/>
              <a:cxnLst/>
              <a:rect l="l" t="t" r="r" b="b"/>
              <a:pathLst>
                <a:path w="263525" h="241935">
                  <a:moveTo>
                    <a:pt x="0" y="0"/>
                  </a:moveTo>
                  <a:lnTo>
                    <a:pt x="263055" y="24168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70414" y="3572277"/>
              <a:ext cx="136525" cy="132715"/>
            </a:xfrm>
            <a:custGeom>
              <a:avLst/>
              <a:gdLst/>
              <a:ahLst/>
              <a:cxnLst/>
              <a:rect l="l" t="t" r="r" b="b"/>
              <a:pathLst>
                <a:path w="136525" h="132714">
                  <a:moveTo>
                    <a:pt x="85928" y="0"/>
                  </a:moveTo>
                  <a:lnTo>
                    <a:pt x="0" y="93510"/>
                  </a:lnTo>
                  <a:lnTo>
                    <a:pt x="136474" y="132689"/>
                  </a:lnTo>
                  <a:lnTo>
                    <a:pt x="8592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8468" y="3703320"/>
              <a:ext cx="484631" cy="31927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507355" y="3385947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70">
                  <a:moveTo>
                    <a:pt x="0" y="0"/>
                  </a:moveTo>
                  <a:lnTo>
                    <a:pt x="2603" y="204012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46312" y="357645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7516" y="3214116"/>
              <a:ext cx="184403" cy="18440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806389" y="2986658"/>
              <a:ext cx="374015" cy="208279"/>
            </a:xfrm>
            <a:custGeom>
              <a:avLst/>
              <a:gdLst/>
              <a:ahLst/>
              <a:cxnLst/>
              <a:rect l="l" t="t" r="r" b="b"/>
              <a:pathLst>
                <a:path w="374015" h="208280">
                  <a:moveTo>
                    <a:pt x="373786" y="0"/>
                  </a:moveTo>
                  <a:lnTo>
                    <a:pt x="0" y="207822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06485" y="3132801"/>
              <a:ext cx="142240" cy="117475"/>
            </a:xfrm>
            <a:custGeom>
              <a:avLst/>
              <a:gdLst/>
              <a:ahLst/>
              <a:cxnLst/>
              <a:rect l="l" t="t" r="r" b="b"/>
              <a:pathLst>
                <a:path w="142240" h="117475">
                  <a:moveTo>
                    <a:pt x="80136" y="0"/>
                  </a:moveTo>
                  <a:lnTo>
                    <a:pt x="0" y="117221"/>
                  </a:lnTo>
                  <a:lnTo>
                    <a:pt x="141858" y="110998"/>
                  </a:lnTo>
                  <a:lnTo>
                    <a:pt x="80136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11212" y="3703320"/>
              <a:ext cx="484631" cy="31927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650099" y="3385947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70">
                  <a:moveTo>
                    <a:pt x="0" y="0"/>
                  </a:moveTo>
                  <a:lnTo>
                    <a:pt x="2603" y="204012"/>
                  </a:lnTo>
                </a:path>
              </a:pathLst>
            </a:custGeom>
            <a:ln w="1295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89056" y="357645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75192" y="3704082"/>
              <a:ext cx="530350" cy="33451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18982" y="3214116"/>
              <a:ext cx="185166" cy="18440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179689" y="2986658"/>
              <a:ext cx="375920" cy="208279"/>
            </a:xfrm>
            <a:custGeom>
              <a:avLst/>
              <a:gdLst/>
              <a:ahLst/>
              <a:cxnLst/>
              <a:rect l="l" t="t" r="r" b="b"/>
              <a:pathLst>
                <a:path w="375920" h="208280">
                  <a:moveTo>
                    <a:pt x="0" y="0"/>
                  </a:moveTo>
                  <a:lnTo>
                    <a:pt x="375386" y="207962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513197" y="3132922"/>
              <a:ext cx="142240" cy="117475"/>
            </a:xfrm>
            <a:custGeom>
              <a:avLst/>
              <a:gdLst/>
              <a:ahLst/>
              <a:cxnLst/>
              <a:rect l="l" t="t" r="r" b="b"/>
              <a:pathLst>
                <a:path w="142240" h="117475">
                  <a:moveTo>
                    <a:pt x="61544" y="0"/>
                  </a:moveTo>
                  <a:lnTo>
                    <a:pt x="0" y="111086"/>
                  </a:lnTo>
                  <a:lnTo>
                    <a:pt x="141859" y="117094"/>
                  </a:lnTo>
                  <a:lnTo>
                    <a:pt x="6154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4068" y="3704082"/>
              <a:ext cx="484631" cy="31927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485729" y="3385947"/>
              <a:ext cx="226060" cy="236854"/>
            </a:xfrm>
            <a:custGeom>
              <a:avLst/>
              <a:gdLst/>
              <a:ahLst/>
              <a:cxnLst/>
              <a:rect l="l" t="t" r="r" b="b"/>
              <a:pathLst>
                <a:path w="226059" h="236854">
                  <a:moveTo>
                    <a:pt x="225907" y="0"/>
                  </a:moveTo>
                  <a:lnTo>
                    <a:pt x="0" y="236385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406761" y="3569275"/>
              <a:ext cx="133985" cy="135890"/>
            </a:xfrm>
            <a:custGeom>
              <a:avLst/>
              <a:gdLst/>
              <a:ahLst/>
              <a:cxnLst/>
              <a:rect l="l" t="t" r="r" b="b"/>
              <a:pathLst>
                <a:path w="133984" h="135889">
                  <a:moveTo>
                    <a:pt x="41833" y="0"/>
                  </a:moveTo>
                  <a:lnTo>
                    <a:pt x="0" y="135686"/>
                  </a:lnTo>
                  <a:lnTo>
                    <a:pt x="133654" y="87744"/>
                  </a:lnTo>
                  <a:lnTo>
                    <a:pt x="4183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711565" y="3385947"/>
              <a:ext cx="247650" cy="240029"/>
            </a:xfrm>
            <a:custGeom>
              <a:avLst/>
              <a:gdLst/>
              <a:ahLst/>
              <a:cxnLst/>
              <a:rect l="l" t="t" r="r" b="b"/>
              <a:pathLst>
                <a:path w="247650" h="240029">
                  <a:moveTo>
                    <a:pt x="0" y="0"/>
                  </a:moveTo>
                  <a:lnTo>
                    <a:pt x="247129" y="23947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905396" y="3570982"/>
              <a:ext cx="135890" cy="133985"/>
            </a:xfrm>
            <a:custGeom>
              <a:avLst/>
              <a:gdLst/>
              <a:ahLst/>
              <a:cxnLst/>
              <a:rect l="l" t="t" r="r" b="b"/>
              <a:pathLst>
                <a:path w="135890" h="133985">
                  <a:moveTo>
                    <a:pt x="88379" y="0"/>
                  </a:moveTo>
                  <a:lnTo>
                    <a:pt x="0" y="91198"/>
                  </a:lnTo>
                  <a:lnTo>
                    <a:pt x="135381" y="133985"/>
                  </a:lnTo>
                  <a:lnTo>
                    <a:pt x="8837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13086" y="3704082"/>
              <a:ext cx="530351" cy="33451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70008" y="3213354"/>
              <a:ext cx="184403" cy="18440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0221118" y="3001898"/>
              <a:ext cx="410209" cy="198120"/>
            </a:xfrm>
            <a:custGeom>
              <a:avLst/>
              <a:gdLst/>
              <a:ahLst/>
              <a:cxnLst/>
              <a:rect l="l" t="t" r="r" b="b"/>
              <a:pathLst>
                <a:path w="410209" h="198119">
                  <a:moveTo>
                    <a:pt x="409651" y="0"/>
                  </a:moveTo>
                  <a:lnTo>
                    <a:pt x="0" y="19805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118218" y="3137255"/>
              <a:ext cx="142240" cy="114935"/>
            </a:xfrm>
            <a:custGeom>
              <a:avLst/>
              <a:gdLst/>
              <a:ahLst/>
              <a:cxnLst/>
              <a:rect l="l" t="t" r="r" b="b"/>
              <a:pathLst>
                <a:path w="142240" h="114935">
                  <a:moveTo>
                    <a:pt x="86690" y="0"/>
                  </a:moveTo>
                  <a:lnTo>
                    <a:pt x="0" y="112458"/>
                  </a:lnTo>
                  <a:lnTo>
                    <a:pt x="141973" y="114338"/>
                  </a:lnTo>
                  <a:lnTo>
                    <a:pt x="8669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6805" y="3704082"/>
              <a:ext cx="484631" cy="31927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820789" y="3385185"/>
              <a:ext cx="241935" cy="238760"/>
            </a:xfrm>
            <a:custGeom>
              <a:avLst/>
              <a:gdLst/>
              <a:ahLst/>
              <a:cxnLst/>
              <a:rect l="l" t="t" r="r" b="b"/>
              <a:pathLst>
                <a:path w="241934" h="238760">
                  <a:moveTo>
                    <a:pt x="241439" y="0"/>
                  </a:moveTo>
                  <a:lnTo>
                    <a:pt x="0" y="238658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739507" y="3569757"/>
              <a:ext cx="135255" cy="134620"/>
            </a:xfrm>
            <a:custGeom>
              <a:avLst/>
              <a:gdLst/>
              <a:ahLst/>
              <a:cxnLst/>
              <a:rect l="l" t="t" r="r" b="b"/>
              <a:pathLst>
                <a:path w="135254" h="134620">
                  <a:moveTo>
                    <a:pt x="45669" y="0"/>
                  </a:moveTo>
                  <a:lnTo>
                    <a:pt x="0" y="134442"/>
                  </a:lnTo>
                  <a:lnTo>
                    <a:pt x="134950" y="90309"/>
                  </a:lnTo>
                  <a:lnTo>
                    <a:pt x="45669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062591" y="3385185"/>
              <a:ext cx="325755" cy="249554"/>
            </a:xfrm>
            <a:custGeom>
              <a:avLst/>
              <a:gdLst/>
              <a:ahLst/>
              <a:cxnLst/>
              <a:rect l="l" t="t" r="r" b="b"/>
              <a:pathLst>
                <a:path w="325754" h="249554">
                  <a:moveTo>
                    <a:pt x="0" y="0"/>
                  </a:moveTo>
                  <a:lnTo>
                    <a:pt x="325742" y="249516"/>
                  </a:lnTo>
                </a:path>
              </a:pathLst>
            </a:custGeom>
            <a:ln w="1295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339646" y="3576562"/>
              <a:ext cx="139700" cy="127635"/>
            </a:xfrm>
            <a:custGeom>
              <a:avLst/>
              <a:gdLst/>
              <a:ahLst/>
              <a:cxnLst/>
              <a:rect l="l" t="t" r="r" b="b"/>
              <a:pathLst>
                <a:path w="139700" h="127635">
                  <a:moveTo>
                    <a:pt x="77228" y="0"/>
                  </a:moveTo>
                  <a:lnTo>
                    <a:pt x="0" y="100812"/>
                  </a:lnTo>
                  <a:lnTo>
                    <a:pt x="139433" y="127635"/>
                  </a:lnTo>
                  <a:lnTo>
                    <a:pt x="77228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06150" y="3214116"/>
              <a:ext cx="184403" cy="18440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0631042" y="3001898"/>
              <a:ext cx="408305" cy="198755"/>
            </a:xfrm>
            <a:custGeom>
              <a:avLst/>
              <a:gdLst/>
              <a:ahLst/>
              <a:cxnLst/>
              <a:rect l="l" t="t" r="r" b="b"/>
              <a:pathLst>
                <a:path w="408304" h="198755">
                  <a:moveTo>
                    <a:pt x="0" y="0"/>
                  </a:moveTo>
                  <a:lnTo>
                    <a:pt x="408038" y="198221"/>
                  </a:lnTo>
                </a:path>
              </a:pathLst>
            </a:custGeom>
            <a:ln w="1295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999913" y="3137451"/>
              <a:ext cx="142240" cy="114300"/>
            </a:xfrm>
            <a:custGeom>
              <a:avLst/>
              <a:gdLst/>
              <a:ahLst/>
              <a:cxnLst/>
              <a:rect l="l" t="t" r="r" b="b"/>
              <a:pathLst>
                <a:path w="142240" h="114300">
                  <a:moveTo>
                    <a:pt x="55499" y="0"/>
                  </a:moveTo>
                  <a:lnTo>
                    <a:pt x="0" y="114236"/>
                  </a:lnTo>
                  <a:lnTo>
                    <a:pt x="141986" y="112610"/>
                  </a:lnTo>
                  <a:lnTo>
                    <a:pt x="5549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1197971" y="3385947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70">
                  <a:moveTo>
                    <a:pt x="0" y="0"/>
                  </a:moveTo>
                  <a:lnTo>
                    <a:pt x="2603" y="204012"/>
                  </a:lnTo>
                </a:path>
              </a:pathLst>
            </a:custGeom>
            <a:ln w="129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1136927" y="3576450"/>
              <a:ext cx="127000" cy="128270"/>
            </a:xfrm>
            <a:custGeom>
              <a:avLst/>
              <a:gdLst/>
              <a:ahLst/>
              <a:cxnLst/>
              <a:rect l="l" t="t" r="r" b="b"/>
              <a:pathLst>
                <a:path w="127000" h="128270">
                  <a:moveTo>
                    <a:pt x="126987" y="0"/>
                  </a:moveTo>
                  <a:lnTo>
                    <a:pt x="0" y="1612"/>
                  </a:lnTo>
                  <a:lnTo>
                    <a:pt x="65112" y="127800"/>
                  </a:lnTo>
                  <a:lnTo>
                    <a:pt x="1269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953381" y="3597781"/>
              <a:ext cx="6781800" cy="685800"/>
            </a:xfrm>
            <a:custGeom>
              <a:avLst/>
              <a:gdLst/>
              <a:ahLst/>
              <a:cxnLst/>
              <a:rect l="l" t="t" r="r" b="b"/>
              <a:pathLst>
                <a:path w="6781800" h="685800">
                  <a:moveTo>
                    <a:pt x="0" y="114300"/>
                  </a:moveTo>
                  <a:lnTo>
                    <a:pt x="8981" y="69806"/>
                  </a:lnTo>
                  <a:lnTo>
                    <a:pt x="33475" y="33475"/>
                  </a:lnTo>
                  <a:lnTo>
                    <a:pt x="69806" y="8981"/>
                  </a:lnTo>
                  <a:lnTo>
                    <a:pt x="114300" y="0"/>
                  </a:lnTo>
                  <a:lnTo>
                    <a:pt x="6667500" y="0"/>
                  </a:lnTo>
                  <a:lnTo>
                    <a:pt x="6711993" y="8981"/>
                  </a:lnTo>
                  <a:lnTo>
                    <a:pt x="6748324" y="33475"/>
                  </a:lnTo>
                  <a:lnTo>
                    <a:pt x="6772818" y="69806"/>
                  </a:lnTo>
                  <a:lnTo>
                    <a:pt x="6781800" y="114300"/>
                  </a:lnTo>
                  <a:lnTo>
                    <a:pt x="6781800" y="571500"/>
                  </a:lnTo>
                  <a:lnTo>
                    <a:pt x="6772818" y="615993"/>
                  </a:lnTo>
                  <a:lnTo>
                    <a:pt x="6748324" y="652324"/>
                  </a:lnTo>
                  <a:lnTo>
                    <a:pt x="6711993" y="676818"/>
                  </a:lnTo>
                  <a:lnTo>
                    <a:pt x="6667500" y="685800"/>
                  </a:lnTo>
                  <a:lnTo>
                    <a:pt x="114300" y="685800"/>
                  </a:lnTo>
                  <a:lnTo>
                    <a:pt x="69806" y="676818"/>
                  </a:lnTo>
                  <a:lnTo>
                    <a:pt x="33475" y="652324"/>
                  </a:lnTo>
                  <a:lnTo>
                    <a:pt x="8981" y="615993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953381" y="2475355"/>
              <a:ext cx="6781800" cy="685800"/>
            </a:xfrm>
            <a:custGeom>
              <a:avLst/>
              <a:gdLst/>
              <a:ahLst/>
              <a:cxnLst/>
              <a:rect l="l" t="t" r="r" b="b"/>
              <a:pathLst>
                <a:path w="6781800" h="685800">
                  <a:moveTo>
                    <a:pt x="0" y="114300"/>
                  </a:moveTo>
                  <a:lnTo>
                    <a:pt x="8981" y="69806"/>
                  </a:lnTo>
                  <a:lnTo>
                    <a:pt x="33475" y="33475"/>
                  </a:lnTo>
                  <a:lnTo>
                    <a:pt x="69806" y="8981"/>
                  </a:lnTo>
                  <a:lnTo>
                    <a:pt x="114300" y="0"/>
                  </a:lnTo>
                  <a:lnTo>
                    <a:pt x="6667500" y="0"/>
                  </a:lnTo>
                  <a:lnTo>
                    <a:pt x="6711993" y="8981"/>
                  </a:lnTo>
                  <a:lnTo>
                    <a:pt x="6748324" y="33475"/>
                  </a:lnTo>
                  <a:lnTo>
                    <a:pt x="6772818" y="69806"/>
                  </a:lnTo>
                  <a:lnTo>
                    <a:pt x="6781800" y="114300"/>
                  </a:lnTo>
                  <a:lnTo>
                    <a:pt x="6781800" y="571500"/>
                  </a:lnTo>
                  <a:lnTo>
                    <a:pt x="6772818" y="615993"/>
                  </a:lnTo>
                  <a:lnTo>
                    <a:pt x="6748324" y="652324"/>
                  </a:lnTo>
                  <a:lnTo>
                    <a:pt x="6711993" y="676818"/>
                  </a:lnTo>
                  <a:lnTo>
                    <a:pt x="6667500" y="685800"/>
                  </a:lnTo>
                  <a:lnTo>
                    <a:pt x="114300" y="685800"/>
                  </a:lnTo>
                  <a:lnTo>
                    <a:pt x="69806" y="676818"/>
                  </a:lnTo>
                  <a:lnTo>
                    <a:pt x="33475" y="652324"/>
                  </a:lnTo>
                  <a:lnTo>
                    <a:pt x="8981" y="615993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953381" y="1371979"/>
              <a:ext cx="6781800" cy="685800"/>
            </a:xfrm>
            <a:custGeom>
              <a:avLst/>
              <a:gdLst/>
              <a:ahLst/>
              <a:cxnLst/>
              <a:rect l="l" t="t" r="r" b="b"/>
              <a:pathLst>
                <a:path w="6781800" h="685800">
                  <a:moveTo>
                    <a:pt x="0" y="114300"/>
                  </a:moveTo>
                  <a:lnTo>
                    <a:pt x="8981" y="69806"/>
                  </a:lnTo>
                  <a:lnTo>
                    <a:pt x="33475" y="33475"/>
                  </a:lnTo>
                  <a:lnTo>
                    <a:pt x="69806" y="8981"/>
                  </a:lnTo>
                  <a:lnTo>
                    <a:pt x="114300" y="0"/>
                  </a:lnTo>
                  <a:lnTo>
                    <a:pt x="6667500" y="0"/>
                  </a:lnTo>
                  <a:lnTo>
                    <a:pt x="6711993" y="8981"/>
                  </a:lnTo>
                  <a:lnTo>
                    <a:pt x="6748324" y="33475"/>
                  </a:lnTo>
                  <a:lnTo>
                    <a:pt x="6772818" y="69806"/>
                  </a:lnTo>
                  <a:lnTo>
                    <a:pt x="6781800" y="114300"/>
                  </a:lnTo>
                  <a:lnTo>
                    <a:pt x="6781800" y="571500"/>
                  </a:lnTo>
                  <a:lnTo>
                    <a:pt x="6772818" y="615993"/>
                  </a:lnTo>
                  <a:lnTo>
                    <a:pt x="6748324" y="652324"/>
                  </a:lnTo>
                  <a:lnTo>
                    <a:pt x="6711993" y="676818"/>
                  </a:lnTo>
                  <a:lnTo>
                    <a:pt x="6667500" y="685800"/>
                  </a:lnTo>
                  <a:lnTo>
                    <a:pt x="114300" y="685800"/>
                  </a:lnTo>
                  <a:lnTo>
                    <a:pt x="69806" y="676818"/>
                  </a:lnTo>
                  <a:lnTo>
                    <a:pt x="33475" y="652324"/>
                  </a:lnTo>
                  <a:lnTo>
                    <a:pt x="8981" y="615993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6310">
              <a:lnSpc>
                <a:spcPct val="100000"/>
              </a:lnSpc>
              <a:spcBef>
                <a:spcPts val="95"/>
              </a:spcBef>
            </a:pPr>
            <a:r>
              <a:rPr dirty="0"/>
              <a:t>Computing</a:t>
            </a:r>
            <a:r>
              <a:rPr spc="-125" dirty="0"/>
              <a:t> </a:t>
            </a:r>
            <a:r>
              <a:rPr spc="-30" dirty="0"/>
              <a:t>Time-</a:t>
            </a:r>
            <a:r>
              <a:rPr dirty="0"/>
              <a:t>Limited</a:t>
            </a:r>
            <a:r>
              <a:rPr spc="-130" dirty="0"/>
              <a:t> </a:t>
            </a:r>
            <a:r>
              <a:rPr spc="-10" dirty="0"/>
              <a:t>Values</a:t>
            </a:r>
          </a:p>
        </p:txBody>
      </p:sp>
      <p:sp>
        <p:nvSpPr>
          <p:cNvPr id="70" name="object 70"/>
          <p:cNvSpPr/>
          <p:nvPr/>
        </p:nvSpPr>
        <p:spPr>
          <a:xfrm>
            <a:off x="4953380" y="5867779"/>
            <a:ext cx="6781800" cy="685800"/>
          </a:xfrm>
          <a:custGeom>
            <a:avLst/>
            <a:gdLst/>
            <a:ahLst/>
            <a:cxnLst/>
            <a:rect l="l" t="t" r="r" b="b"/>
            <a:pathLst>
              <a:path w="6781800" h="685800">
                <a:moveTo>
                  <a:pt x="0" y="114300"/>
                </a:moveTo>
                <a:lnTo>
                  <a:pt x="8981" y="69806"/>
                </a:lnTo>
                <a:lnTo>
                  <a:pt x="33475" y="33475"/>
                </a:lnTo>
                <a:lnTo>
                  <a:pt x="69806" y="8981"/>
                </a:lnTo>
                <a:lnTo>
                  <a:pt x="114300" y="0"/>
                </a:lnTo>
                <a:lnTo>
                  <a:pt x="6667500" y="0"/>
                </a:lnTo>
                <a:lnTo>
                  <a:pt x="6711993" y="8981"/>
                </a:lnTo>
                <a:lnTo>
                  <a:pt x="6748324" y="33475"/>
                </a:lnTo>
                <a:lnTo>
                  <a:pt x="6772818" y="69806"/>
                </a:lnTo>
                <a:lnTo>
                  <a:pt x="6781800" y="114300"/>
                </a:lnTo>
                <a:lnTo>
                  <a:pt x="6781800" y="571500"/>
                </a:lnTo>
                <a:lnTo>
                  <a:pt x="6772818" y="615993"/>
                </a:lnTo>
                <a:lnTo>
                  <a:pt x="6748324" y="652324"/>
                </a:lnTo>
                <a:lnTo>
                  <a:pt x="6711993" y="676818"/>
                </a:lnTo>
                <a:lnTo>
                  <a:pt x="6667500" y="685800"/>
                </a:lnTo>
                <a:lnTo>
                  <a:pt x="114300" y="685800"/>
                </a:lnTo>
                <a:lnTo>
                  <a:pt x="69806" y="676818"/>
                </a:lnTo>
                <a:lnTo>
                  <a:pt x="33475" y="652324"/>
                </a:lnTo>
                <a:lnTo>
                  <a:pt x="8981" y="615993"/>
                </a:lnTo>
                <a:lnTo>
                  <a:pt x="0" y="571500"/>
                </a:lnTo>
                <a:lnTo>
                  <a:pt x="0" y="11430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1" name="object 71"/>
          <p:cNvGrpSpPr/>
          <p:nvPr/>
        </p:nvGrpSpPr>
        <p:grpSpPr>
          <a:xfrm>
            <a:off x="4026408" y="6013703"/>
            <a:ext cx="711200" cy="447675"/>
            <a:chOff x="4026408" y="6013703"/>
            <a:chExt cx="711200" cy="447675"/>
          </a:xfrm>
        </p:grpSpPr>
        <p:sp>
          <p:nvSpPr>
            <p:cNvPr id="72" name="object 72"/>
            <p:cNvSpPr/>
            <p:nvPr/>
          </p:nvSpPr>
          <p:spPr>
            <a:xfrm>
              <a:off x="4038981" y="6026276"/>
              <a:ext cx="685800" cy="422275"/>
            </a:xfrm>
            <a:custGeom>
              <a:avLst/>
              <a:gdLst/>
              <a:ahLst/>
              <a:cxnLst/>
              <a:rect l="l" t="t" r="r" b="b"/>
              <a:pathLst>
                <a:path w="685800" h="422275">
                  <a:moveTo>
                    <a:pt x="211073" y="0"/>
                  </a:moveTo>
                  <a:lnTo>
                    <a:pt x="0" y="211074"/>
                  </a:lnTo>
                  <a:lnTo>
                    <a:pt x="211073" y="422148"/>
                  </a:lnTo>
                  <a:lnTo>
                    <a:pt x="211073" y="316611"/>
                  </a:lnTo>
                  <a:lnTo>
                    <a:pt x="685800" y="316611"/>
                  </a:lnTo>
                  <a:lnTo>
                    <a:pt x="685800" y="105537"/>
                  </a:lnTo>
                  <a:lnTo>
                    <a:pt x="211073" y="105537"/>
                  </a:lnTo>
                  <a:lnTo>
                    <a:pt x="211073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038981" y="6026276"/>
              <a:ext cx="685800" cy="422275"/>
            </a:xfrm>
            <a:custGeom>
              <a:avLst/>
              <a:gdLst/>
              <a:ahLst/>
              <a:cxnLst/>
              <a:rect l="l" t="t" r="r" b="b"/>
              <a:pathLst>
                <a:path w="685800" h="422275">
                  <a:moveTo>
                    <a:pt x="685800" y="105537"/>
                  </a:moveTo>
                  <a:lnTo>
                    <a:pt x="211073" y="105537"/>
                  </a:lnTo>
                  <a:lnTo>
                    <a:pt x="211073" y="0"/>
                  </a:lnTo>
                  <a:lnTo>
                    <a:pt x="0" y="211074"/>
                  </a:lnTo>
                  <a:lnTo>
                    <a:pt x="211073" y="422148"/>
                  </a:lnTo>
                  <a:lnTo>
                    <a:pt x="211073" y="316611"/>
                  </a:lnTo>
                  <a:lnTo>
                    <a:pt x="685800" y="316611"/>
                  </a:lnTo>
                  <a:lnTo>
                    <a:pt x="685800" y="105537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368808" y="5855211"/>
            <a:ext cx="3454400" cy="711200"/>
            <a:chOff x="368808" y="5855211"/>
            <a:chExt cx="3454400" cy="711200"/>
          </a:xfrm>
        </p:grpSpPr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9490" y="6102063"/>
              <a:ext cx="858779" cy="26070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5162" y="6096000"/>
              <a:ext cx="367283" cy="24155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55820" y="6102063"/>
              <a:ext cx="858779" cy="260703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98820" y="6102063"/>
              <a:ext cx="858779" cy="26070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75253" y="6051804"/>
              <a:ext cx="389381" cy="275843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42160" y="6087618"/>
              <a:ext cx="401573" cy="252983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381381" y="5867784"/>
              <a:ext cx="3429000" cy="685800"/>
            </a:xfrm>
            <a:custGeom>
              <a:avLst/>
              <a:gdLst/>
              <a:ahLst/>
              <a:cxnLst/>
              <a:rect l="l" t="t" r="r" b="b"/>
              <a:pathLst>
                <a:path w="3429000" h="685800">
                  <a:moveTo>
                    <a:pt x="0" y="114299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300" y="0"/>
                  </a:lnTo>
                  <a:lnTo>
                    <a:pt x="3314700" y="0"/>
                  </a:lnTo>
                  <a:lnTo>
                    <a:pt x="3359187" y="8981"/>
                  </a:lnTo>
                  <a:lnTo>
                    <a:pt x="3395519" y="33475"/>
                  </a:lnTo>
                  <a:lnTo>
                    <a:pt x="3420016" y="69806"/>
                  </a:lnTo>
                  <a:lnTo>
                    <a:pt x="3429000" y="114299"/>
                  </a:lnTo>
                  <a:lnTo>
                    <a:pt x="3429000" y="571487"/>
                  </a:lnTo>
                  <a:lnTo>
                    <a:pt x="3420016" y="615982"/>
                  </a:lnTo>
                  <a:lnTo>
                    <a:pt x="3395519" y="652318"/>
                  </a:lnTo>
                  <a:lnTo>
                    <a:pt x="3359187" y="676816"/>
                  </a:lnTo>
                  <a:lnTo>
                    <a:pt x="3314700" y="685799"/>
                  </a:lnTo>
                  <a:lnTo>
                    <a:pt x="114300" y="685799"/>
                  </a:lnTo>
                  <a:lnTo>
                    <a:pt x="69812" y="676816"/>
                  </a:lnTo>
                  <a:lnTo>
                    <a:pt x="33480" y="652318"/>
                  </a:lnTo>
                  <a:lnTo>
                    <a:pt x="8983" y="615982"/>
                  </a:lnTo>
                  <a:lnTo>
                    <a:pt x="0" y="571487"/>
                  </a:lnTo>
                  <a:lnTo>
                    <a:pt x="0" y="114299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/>
          <p:nvPr/>
        </p:nvSpPr>
        <p:spPr>
          <a:xfrm>
            <a:off x="4953380" y="4724779"/>
            <a:ext cx="6781800" cy="685800"/>
          </a:xfrm>
          <a:custGeom>
            <a:avLst/>
            <a:gdLst/>
            <a:ahLst/>
            <a:cxnLst/>
            <a:rect l="l" t="t" r="r" b="b"/>
            <a:pathLst>
              <a:path w="6781800" h="685800">
                <a:moveTo>
                  <a:pt x="0" y="114300"/>
                </a:moveTo>
                <a:lnTo>
                  <a:pt x="8981" y="69806"/>
                </a:lnTo>
                <a:lnTo>
                  <a:pt x="33475" y="33475"/>
                </a:lnTo>
                <a:lnTo>
                  <a:pt x="69806" y="8981"/>
                </a:lnTo>
                <a:lnTo>
                  <a:pt x="114300" y="0"/>
                </a:lnTo>
                <a:lnTo>
                  <a:pt x="6667500" y="0"/>
                </a:lnTo>
                <a:lnTo>
                  <a:pt x="6711993" y="8981"/>
                </a:lnTo>
                <a:lnTo>
                  <a:pt x="6748324" y="33475"/>
                </a:lnTo>
                <a:lnTo>
                  <a:pt x="6772818" y="69806"/>
                </a:lnTo>
                <a:lnTo>
                  <a:pt x="6781800" y="114300"/>
                </a:lnTo>
                <a:lnTo>
                  <a:pt x="6781800" y="571500"/>
                </a:lnTo>
                <a:lnTo>
                  <a:pt x="6772818" y="615993"/>
                </a:lnTo>
                <a:lnTo>
                  <a:pt x="6748324" y="652324"/>
                </a:lnTo>
                <a:lnTo>
                  <a:pt x="6711993" y="676818"/>
                </a:lnTo>
                <a:lnTo>
                  <a:pt x="6667500" y="685800"/>
                </a:lnTo>
                <a:lnTo>
                  <a:pt x="114300" y="685800"/>
                </a:lnTo>
                <a:lnTo>
                  <a:pt x="69806" y="676818"/>
                </a:lnTo>
                <a:lnTo>
                  <a:pt x="33475" y="652324"/>
                </a:lnTo>
                <a:lnTo>
                  <a:pt x="8981" y="615993"/>
                </a:lnTo>
                <a:lnTo>
                  <a:pt x="0" y="571500"/>
                </a:lnTo>
                <a:lnTo>
                  <a:pt x="0" y="11430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3" name="object 83"/>
          <p:cNvGrpSpPr/>
          <p:nvPr/>
        </p:nvGrpSpPr>
        <p:grpSpPr>
          <a:xfrm>
            <a:off x="4026408" y="4870703"/>
            <a:ext cx="711200" cy="447675"/>
            <a:chOff x="4026408" y="4870703"/>
            <a:chExt cx="711200" cy="447675"/>
          </a:xfrm>
        </p:grpSpPr>
        <p:sp>
          <p:nvSpPr>
            <p:cNvPr id="84" name="object 84"/>
            <p:cNvSpPr/>
            <p:nvPr/>
          </p:nvSpPr>
          <p:spPr>
            <a:xfrm>
              <a:off x="4038981" y="4883276"/>
              <a:ext cx="685800" cy="422275"/>
            </a:xfrm>
            <a:custGeom>
              <a:avLst/>
              <a:gdLst/>
              <a:ahLst/>
              <a:cxnLst/>
              <a:rect l="l" t="t" r="r" b="b"/>
              <a:pathLst>
                <a:path w="685800" h="422275">
                  <a:moveTo>
                    <a:pt x="211073" y="0"/>
                  </a:moveTo>
                  <a:lnTo>
                    <a:pt x="0" y="211074"/>
                  </a:lnTo>
                  <a:lnTo>
                    <a:pt x="211073" y="422148"/>
                  </a:lnTo>
                  <a:lnTo>
                    <a:pt x="211073" y="316611"/>
                  </a:lnTo>
                  <a:lnTo>
                    <a:pt x="685800" y="316611"/>
                  </a:lnTo>
                  <a:lnTo>
                    <a:pt x="685800" y="105537"/>
                  </a:lnTo>
                  <a:lnTo>
                    <a:pt x="211073" y="105537"/>
                  </a:lnTo>
                  <a:lnTo>
                    <a:pt x="211073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038981" y="4883276"/>
              <a:ext cx="685800" cy="422275"/>
            </a:xfrm>
            <a:custGeom>
              <a:avLst/>
              <a:gdLst/>
              <a:ahLst/>
              <a:cxnLst/>
              <a:rect l="l" t="t" r="r" b="b"/>
              <a:pathLst>
                <a:path w="685800" h="422275">
                  <a:moveTo>
                    <a:pt x="685800" y="105537"/>
                  </a:moveTo>
                  <a:lnTo>
                    <a:pt x="211073" y="105537"/>
                  </a:lnTo>
                  <a:lnTo>
                    <a:pt x="211073" y="0"/>
                  </a:lnTo>
                  <a:lnTo>
                    <a:pt x="0" y="211074"/>
                  </a:lnTo>
                  <a:lnTo>
                    <a:pt x="211073" y="422148"/>
                  </a:lnTo>
                  <a:lnTo>
                    <a:pt x="211073" y="316611"/>
                  </a:lnTo>
                  <a:lnTo>
                    <a:pt x="685800" y="316611"/>
                  </a:lnTo>
                  <a:lnTo>
                    <a:pt x="685800" y="105537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368808" y="4712211"/>
            <a:ext cx="3454400" cy="711200"/>
            <a:chOff x="368808" y="4712211"/>
            <a:chExt cx="3454400" cy="711200"/>
          </a:xfrm>
        </p:grpSpPr>
        <p:pic>
          <p:nvPicPr>
            <p:cNvPr id="87" name="object 8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9490" y="4959063"/>
              <a:ext cx="858779" cy="260703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5162" y="4953000"/>
              <a:ext cx="367283" cy="241553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55820" y="4959063"/>
              <a:ext cx="858779" cy="26070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98820" y="4959063"/>
              <a:ext cx="858779" cy="260703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75253" y="4908804"/>
              <a:ext cx="389381" cy="275843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42160" y="4944618"/>
              <a:ext cx="401573" cy="252983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381381" y="4724784"/>
              <a:ext cx="3429000" cy="685800"/>
            </a:xfrm>
            <a:custGeom>
              <a:avLst/>
              <a:gdLst/>
              <a:ahLst/>
              <a:cxnLst/>
              <a:rect l="l" t="t" r="r" b="b"/>
              <a:pathLst>
                <a:path w="3429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300" y="0"/>
                  </a:lnTo>
                  <a:lnTo>
                    <a:pt x="3314700" y="0"/>
                  </a:lnTo>
                  <a:lnTo>
                    <a:pt x="3359187" y="8981"/>
                  </a:lnTo>
                  <a:lnTo>
                    <a:pt x="3395519" y="33475"/>
                  </a:lnTo>
                  <a:lnTo>
                    <a:pt x="3420016" y="69806"/>
                  </a:lnTo>
                  <a:lnTo>
                    <a:pt x="3429000" y="114300"/>
                  </a:lnTo>
                  <a:lnTo>
                    <a:pt x="3429000" y="571487"/>
                  </a:lnTo>
                  <a:lnTo>
                    <a:pt x="3420016" y="615982"/>
                  </a:lnTo>
                  <a:lnTo>
                    <a:pt x="3395519" y="652318"/>
                  </a:lnTo>
                  <a:lnTo>
                    <a:pt x="3359187" y="676816"/>
                  </a:lnTo>
                  <a:lnTo>
                    <a:pt x="3314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8"/>
                  </a:lnTo>
                  <a:lnTo>
                    <a:pt x="8983" y="615982"/>
                  </a:lnTo>
                  <a:lnTo>
                    <a:pt x="0" y="571487"/>
                  </a:lnTo>
                  <a:lnTo>
                    <a:pt x="0" y="11430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4026408" y="3743705"/>
            <a:ext cx="711200" cy="447040"/>
            <a:chOff x="4026408" y="3743705"/>
            <a:chExt cx="711200" cy="447040"/>
          </a:xfrm>
        </p:grpSpPr>
        <p:sp>
          <p:nvSpPr>
            <p:cNvPr id="95" name="object 95"/>
            <p:cNvSpPr/>
            <p:nvPr/>
          </p:nvSpPr>
          <p:spPr>
            <a:xfrm>
              <a:off x="4038981" y="3756278"/>
              <a:ext cx="685800" cy="421640"/>
            </a:xfrm>
            <a:custGeom>
              <a:avLst/>
              <a:gdLst/>
              <a:ahLst/>
              <a:cxnLst/>
              <a:rect l="l" t="t" r="r" b="b"/>
              <a:pathLst>
                <a:path w="685800" h="421639">
                  <a:moveTo>
                    <a:pt x="210693" y="0"/>
                  </a:moveTo>
                  <a:lnTo>
                    <a:pt x="0" y="210693"/>
                  </a:lnTo>
                  <a:lnTo>
                    <a:pt x="210693" y="421386"/>
                  </a:lnTo>
                  <a:lnTo>
                    <a:pt x="210693" y="316039"/>
                  </a:lnTo>
                  <a:lnTo>
                    <a:pt x="685800" y="316039"/>
                  </a:lnTo>
                  <a:lnTo>
                    <a:pt x="685800" y="105346"/>
                  </a:lnTo>
                  <a:lnTo>
                    <a:pt x="210693" y="105346"/>
                  </a:lnTo>
                  <a:lnTo>
                    <a:pt x="210693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038981" y="3756278"/>
              <a:ext cx="685800" cy="421640"/>
            </a:xfrm>
            <a:custGeom>
              <a:avLst/>
              <a:gdLst/>
              <a:ahLst/>
              <a:cxnLst/>
              <a:rect l="l" t="t" r="r" b="b"/>
              <a:pathLst>
                <a:path w="685800" h="421639">
                  <a:moveTo>
                    <a:pt x="685800" y="105346"/>
                  </a:moveTo>
                  <a:lnTo>
                    <a:pt x="210693" y="105346"/>
                  </a:lnTo>
                  <a:lnTo>
                    <a:pt x="210693" y="0"/>
                  </a:lnTo>
                  <a:lnTo>
                    <a:pt x="0" y="210693"/>
                  </a:lnTo>
                  <a:lnTo>
                    <a:pt x="210693" y="421386"/>
                  </a:lnTo>
                  <a:lnTo>
                    <a:pt x="210693" y="316039"/>
                  </a:lnTo>
                  <a:lnTo>
                    <a:pt x="685800" y="316039"/>
                  </a:lnTo>
                  <a:lnTo>
                    <a:pt x="685800" y="105346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97"/>
          <p:cNvGrpSpPr/>
          <p:nvPr/>
        </p:nvGrpSpPr>
        <p:grpSpPr>
          <a:xfrm>
            <a:off x="368808" y="3585213"/>
            <a:ext cx="3454400" cy="711200"/>
            <a:chOff x="368808" y="3585213"/>
            <a:chExt cx="3454400" cy="711200"/>
          </a:xfrm>
        </p:grpSpPr>
        <p:pic>
          <p:nvPicPr>
            <p:cNvPr id="98" name="object 9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8734" y="3832081"/>
              <a:ext cx="859535" cy="26141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5162" y="3826001"/>
              <a:ext cx="367283" cy="241553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5825" y="3832081"/>
              <a:ext cx="859535" cy="26141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98825" y="3832081"/>
              <a:ext cx="859535" cy="261415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75253" y="3781805"/>
              <a:ext cx="389381" cy="275843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42160" y="3817619"/>
              <a:ext cx="401573" cy="252983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81381" y="3597786"/>
              <a:ext cx="3429000" cy="685800"/>
            </a:xfrm>
            <a:custGeom>
              <a:avLst/>
              <a:gdLst/>
              <a:ahLst/>
              <a:cxnLst/>
              <a:rect l="l" t="t" r="r" b="b"/>
              <a:pathLst>
                <a:path w="3429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300" y="0"/>
                  </a:lnTo>
                  <a:lnTo>
                    <a:pt x="3314700" y="0"/>
                  </a:lnTo>
                  <a:lnTo>
                    <a:pt x="3359187" y="8981"/>
                  </a:lnTo>
                  <a:lnTo>
                    <a:pt x="3395519" y="33475"/>
                  </a:lnTo>
                  <a:lnTo>
                    <a:pt x="3420016" y="69806"/>
                  </a:lnTo>
                  <a:lnTo>
                    <a:pt x="3429000" y="114300"/>
                  </a:lnTo>
                  <a:lnTo>
                    <a:pt x="3429000" y="571487"/>
                  </a:lnTo>
                  <a:lnTo>
                    <a:pt x="3420016" y="615982"/>
                  </a:lnTo>
                  <a:lnTo>
                    <a:pt x="3395519" y="652318"/>
                  </a:lnTo>
                  <a:lnTo>
                    <a:pt x="3359187" y="676816"/>
                  </a:lnTo>
                  <a:lnTo>
                    <a:pt x="3314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8"/>
                  </a:lnTo>
                  <a:lnTo>
                    <a:pt x="8983" y="615982"/>
                  </a:lnTo>
                  <a:lnTo>
                    <a:pt x="0" y="571487"/>
                  </a:lnTo>
                  <a:lnTo>
                    <a:pt x="0" y="11430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4026408" y="2621281"/>
            <a:ext cx="711200" cy="447040"/>
            <a:chOff x="4026408" y="2621281"/>
            <a:chExt cx="711200" cy="447040"/>
          </a:xfrm>
        </p:grpSpPr>
        <p:sp>
          <p:nvSpPr>
            <p:cNvPr id="106" name="object 106"/>
            <p:cNvSpPr/>
            <p:nvPr/>
          </p:nvSpPr>
          <p:spPr>
            <a:xfrm>
              <a:off x="4038981" y="2633853"/>
              <a:ext cx="685800" cy="421640"/>
            </a:xfrm>
            <a:custGeom>
              <a:avLst/>
              <a:gdLst/>
              <a:ahLst/>
              <a:cxnLst/>
              <a:rect l="l" t="t" r="r" b="b"/>
              <a:pathLst>
                <a:path w="685800" h="421639">
                  <a:moveTo>
                    <a:pt x="210693" y="0"/>
                  </a:moveTo>
                  <a:lnTo>
                    <a:pt x="0" y="210693"/>
                  </a:lnTo>
                  <a:lnTo>
                    <a:pt x="210693" y="421386"/>
                  </a:lnTo>
                  <a:lnTo>
                    <a:pt x="210693" y="316039"/>
                  </a:lnTo>
                  <a:lnTo>
                    <a:pt x="685800" y="316039"/>
                  </a:lnTo>
                  <a:lnTo>
                    <a:pt x="685800" y="105346"/>
                  </a:lnTo>
                  <a:lnTo>
                    <a:pt x="210693" y="105346"/>
                  </a:lnTo>
                  <a:lnTo>
                    <a:pt x="210693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038981" y="2633854"/>
              <a:ext cx="685800" cy="421640"/>
            </a:xfrm>
            <a:custGeom>
              <a:avLst/>
              <a:gdLst/>
              <a:ahLst/>
              <a:cxnLst/>
              <a:rect l="l" t="t" r="r" b="b"/>
              <a:pathLst>
                <a:path w="685800" h="421639">
                  <a:moveTo>
                    <a:pt x="685800" y="105346"/>
                  </a:moveTo>
                  <a:lnTo>
                    <a:pt x="210693" y="105346"/>
                  </a:lnTo>
                  <a:lnTo>
                    <a:pt x="210693" y="0"/>
                  </a:lnTo>
                  <a:lnTo>
                    <a:pt x="0" y="210693"/>
                  </a:lnTo>
                  <a:lnTo>
                    <a:pt x="210693" y="421386"/>
                  </a:lnTo>
                  <a:lnTo>
                    <a:pt x="210693" y="316039"/>
                  </a:lnTo>
                  <a:lnTo>
                    <a:pt x="685800" y="316039"/>
                  </a:lnTo>
                  <a:lnTo>
                    <a:pt x="685800" y="105346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368808" y="2462787"/>
            <a:ext cx="3454400" cy="711200"/>
            <a:chOff x="368808" y="2462787"/>
            <a:chExt cx="3454400" cy="711200"/>
          </a:xfrm>
        </p:grpSpPr>
        <p:pic>
          <p:nvPicPr>
            <p:cNvPr id="109" name="object 10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8696" y="2709655"/>
              <a:ext cx="860335" cy="261415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5162" y="2703576"/>
              <a:ext cx="367283" cy="241553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55026" y="2709655"/>
              <a:ext cx="860335" cy="261415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98026" y="2709655"/>
              <a:ext cx="860335" cy="261415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75253" y="2659380"/>
              <a:ext cx="389381" cy="27584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42160" y="2695194"/>
              <a:ext cx="401573" cy="252983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381381" y="2475360"/>
              <a:ext cx="3429000" cy="685800"/>
            </a:xfrm>
            <a:custGeom>
              <a:avLst/>
              <a:gdLst/>
              <a:ahLst/>
              <a:cxnLst/>
              <a:rect l="l" t="t" r="r" b="b"/>
              <a:pathLst>
                <a:path w="3429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300" y="0"/>
                  </a:lnTo>
                  <a:lnTo>
                    <a:pt x="3314700" y="0"/>
                  </a:lnTo>
                  <a:lnTo>
                    <a:pt x="3359187" y="8981"/>
                  </a:lnTo>
                  <a:lnTo>
                    <a:pt x="3395519" y="33475"/>
                  </a:lnTo>
                  <a:lnTo>
                    <a:pt x="3420016" y="69806"/>
                  </a:lnTo>
                  <a:lnTo>
                    <a:pt x="3429000" y="114300"/>
                  </a:lnTo>
                  <a:lnTo>
                    <a:pt x="3429000" y="571487"/>
                  </a:lnTo>
                  <a:lnTo>
                    <a:pt x="3420016" y="615982"/>
                  </a:lnTo>
                  <a:lnTo>
                    <a:pt x="3395519" y="652318"/>
                  </a:lnTo>
                  <a:lnTo>
                    <a:pt x="3359187" y="676816"/>
                  </a:lnTo>
                  <a:lnTo>
                    <a:pt x="3314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8"/>
                  </a:lnTo>
                  <a:lnTo>
                    <a:pt x="8983" y="615982"/>
                  </a:lnTo>
                  <a:lnTo>
                    <a:pt x="0" y="571487"/>
                  </a:lnTo>
                  <a:lnTo>
                    <a:pt x="0" y="11430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4026408" y="1517903"/>
            <a:ext cx="711200" cy="447675"/>
            <a:chOff x="4026408" y="1517903"/>
            <a:chExt cx="711200" cy="447675"/>
          </a:xfrm>
        </p:grpSpPr>
        <p:sp>
          <p:nvSpPr>
            <p:cNvPr id="117" name="object 117"/>
            <p:cNvSpPr/>
            <p:nvPr/>
          </p:nvSpPr>
          <p:spPr>
            <a:xfrm>
              <a:off x="4038981" y="1530476"/>
              <a:ext cx="685800" cy="422275"/>
            </a:xfrm>
            <a:custGeom>
              <a:avLst/>
              <a:gdLst/>
              <a:ahLst/>
              <a:cxnLst/>
              <a:rect l="l" t="t" r="r" b="b"/>
              <a:pathLst>
                <a:path w="685800" h="422275">
                  <a:moveTo>
                    <a:pt x="211073" y="0"/>
                  </a:moveTo>
                  <a:lnTo>
                    <a:pt x="0" y="211074"/>
                  </a:lnTo>
                  <a:lnTo>
                    <a:pt x="211073" y="422148"/>
                  </a:lnTo>
                  <a:lnTo>
                    <a:pt x="211073" y="316611"/>
                  </a:lnTo>
                  <a:lnTo>
                    <a:pt x="685800" y="316611"/>
                  </a:lnTo>
                  <a:lnTo>
                    <a:pt x="685800" y="105537"/>
                  </a:lnTo>
                  <a:lnTo>
                    <a:pt x="211073" y="105537"/>
                  </a:lnTo>
                  <a:lnTo>
                    <a:pt x="211073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038981" y="1530476"/>
              <a:ext cx="685800" cy="422275"/>
            </a:xfrm>
            <a:custGeom>
              <a:avLst/>
              <a:gdLst/>
              <a:ahLst/>
              <a:cxnLst/>
              <a:rect l="l" t="t" r="r" b="b"/>
              <a:pathLst>
                <a:path w="685800" h="422275">
                  <a:moveTo>
                    <a:pt x="685800" y="105537"/>
                  </a:moveTo>
                  <a:lnTo>
                    <a:pt x="211073" y="105537"/>
                  </a:lnTo>
                  <a:lnTo>
                    <a:pt x="211073" y="0"/>
                  </a:lnTo>
                  <a:lnTo>
                    <a:pt x="0" y="211074"/>
                  </a:lnTo>
                  <a:lnTo>
                    <a:pt x="211073" y="422148"/>
                  </a:lnTo>
                  <a:lnTo>
                    <a:pt x="211073" y="316611"/>
                  </a:lnTo>
                  <a:lnTo>
                    <a:pt x="685800" y="316611"/>
                  </a:lnTo>
                  <a:lnTo>
                    <a:pt x="685800" y="105537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9" name="object 119"/>
          <p:cNvGrpSpPr/>
          <p:nvPr/>
        </p:nvGrpSpPr>
        <p:grpSpPr>
          <a:xfrm>
            <a:off x="368808" y="1359411"/>
            <a:ext cx="3454400" cy="711200"/>
            <a:chOff x="368808" y="1359411"/>
            <a:chExt cx="3454400" cy="711200"/>
          </a:xfrm>
        </p:grpSpPr>
        <p:pic>
          <p:nvPicPr>
            <p:cNvPr id="120" name="object 1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8696" y="1606279"/>
              <a:ext cx="860335" cy="261415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15162" y="1600200"/>
              <a:ext cx="367283" cy="241553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55026" y="1606279"/>
              <a:ext cx="860335" cy="26141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98026" y="1606279"/>
              <a:ext cx="860335" cy="261415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75253" y="1556003"/>
              <a:ext cx="389381" cy="275843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42160" y="1591817"/>
              <a:ext cx="401573" cy="252983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381381" y="1371984"/>
              <a:ext cx="3429000" cy="685800"/>
            </a:xfrm>
            <a:custGeom>
              <a:avLst/>
              <a:gdLst/>
              <a:ahLst/>
              <a:cxnLst/>
              <a:rect l="l" t="t" r="r" b="b"/>
              <a:pathLst>
                <a:path w="3429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300" y="0"/>
                  </a:lnTo>
                  <a:lnTo>
                    <a:pt x="3314700" y="0"/>
                  </a:lnTo>
                  <a:lnTo>
                    <a:pt x="3359187" y="8981"/>
                  </a:lnTo>
                  <a:lnTo>
                    <a:pt x="3395519" y="33475"/>
                  </a:lnTo>
                  <a:lnTo>
                    <a:pt x="3420016" y="69806"/>
                  </a:lnTo>
                  <a:lnTo>
                    <a:pt x="3429000" y="114300"/>
                  </a:lnTo>
                  <a:lnTo>
                    <a:pt x="3429000" y="571487"/>
                  </a:lnTo>
                  <a:lnTo>
                    <a:pt x="3420016" y="615982"/>
                  </a:lnTo>
                  <a:lnTo>
                    <a:pt x="3395519" y="652318"/>
                  </a:lnTo>
                  <a:lnTo>
                    <a:pt x="3359187" y="676816"/>
                  </a:lnTo>
                  <a:lnTo>
                    <a:pt x="3314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8"/>
                  </a:lnTo>
                  <a:lnTo>
                    <a:pt x="8983" y="615982"/>
                  </a:lnTo>
                  <a:lnTo>
                    <a:pt x="0" y="571487"/>
                  </a:lnTo>
                  <a:lnTo>
                    <a:pt x="0" y="11430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9250">
              <a:lnSpc>
                <a:spcPct val="100000"/>
              </a:lnSpc>
              <a:spcBef>
                <a:spcPts val="95"/>
              </a:spcBef>
            </a:pPr>
            <a:r>
              <a:rPr dirty="0"/>
              <a:t>Value</a:t>
            </a:r>
            <a:r>
              <a:rPr spc="-85" dirty="0"/>
              <a:t> </a:t>
            </a:r>
            <a:r>
              <a:rPr spc="-10" dirty="0"/>
              <a:t>Iteration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1386" y="1666881"/>
            <a:ext cx="5753461" cy="40103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9250">
              <a:lnSpc>
                <a:spcPct val="100000"/>
              </a:lnSpc>
              <a:spcBef>
                <a:spcPts val="95"/>
              </a:spcBef>
            </a:pPr>
            <a:r>
              <a:rPr dirty="0"/>
              <a:t>Value</a:t>
            </a:r>
            <a:r>
              <a:rPr spc="-85" dirty="0"/>
              <a:t> </a:t>
            </a:r>
            <a:r>
              <a:rPr spc="-10" dirty="0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36" y="1395473"/>
            <a:ext cx="999553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803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Start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</a:t>
            </a:r>
            <a:r>
              <a:rPr sz="2400" baseline="-20833" dirty="0">
                <a:solidFill>
                  <a:srgbClr val="333399"/>
                </a:solidFill>
                <a:latin typeface="Calibri"/>
                <a:cs typeface="Calibri"/>
              </a:rPr>
              <a:t>0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(s)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=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0: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no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time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steps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left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means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expected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reward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sum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zero</a:t>
            </a:r>
            <a:endParaRPr sz="2400"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spcBef>
                <a:spcPts val="1920"/>
              </a:spcBef>
              <a:buFont typeface="Wingdings"/>
              <a:buChar char=""/>
              <a:tabLst>
                <a:tab pos="3803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Given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vector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</a:t>
            </a:r>
            <a:r>
              <a:rPr sz="2400" baseline="-20833" dirty="0">
                <a:solidFill>
                  <a:srgbClr val="333399"/>
                </a:solidFill>
                <a:latin typeface="Calibri"/>
                <a:cs typeface="Calibri"/>
              </a:rPr>
              <a:t>k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(s)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values,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one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ply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expectimax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from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state: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6" y="3590033"/>
            <a:ext cx="35261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Repeat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until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convergence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6" y="4565394"/>
            <a:ext cx="7253605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057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Complexity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iteration: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O(S</a:t>
            </a:r>
            <a:r>
              <a:rPr sz="2400" spc="-15" baseline="24305" dirty="0">
                <a:solidFill>
                  <a:srgbClr val="333399"/>
                </a:solidFill>
                <a:latin typeface="Calibri"/>
                <a:cs typeface="Calibri"/>
              </a:rPr>
              <a:t>2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A)</a:t>
            </a:r>
            <a:endParaRPr sz="24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2400"/>
              </a:spcBef>
              <a:buFont typeface="Wingdings"/>
              <a:buChar char=""/>
              <a:tabLst>
                <a:tab pos="4057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Theorem: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will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converge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unique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optimal</a:t>
            </a:r>
            <a:r>
              <a:rPr sz="24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endParaRPr sz="2400">
              <a:latin typeface="Calibri"/>
              <a:cs typeface="Calibri"/>
            </a:endParaRPr>
          </a:p>
          <a:p>
            <a:pPr marL="805815" lvl="1" indent="-28511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805815" algn="l"/>
              </a:tabLst>
            </a:pPr>
            <a:r>
              <a:rPr sz="2000" dirty="0">
                <a:latin typeface="Calibri"/>
                <a:cs typeface="Calibri"/>
              </a:rPr>
              <a:t>Basic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idea: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approximations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refined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towards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  <a:p>
            <a:pPr marL="805815" lvl="1" indent="-285115">
              <a:lnSpc>
                <a:spcPct val="100000"/>
              </a:lnSpc>
              <a:buFont typeface="Wingdings"/>
              <a:buChar char=""/>
              <a:tabLst>
                <a:tab pos="805815" algn="l"/>
              </a:tabLst>
            </a:pPr>
            <a:r>
              <a:rPr sz="2000" dirty="0">
                <a:latin typeface="Calibri"/>
                <a:cs typeface="Calibri"/>
              </a:rPr>
              <a:t>Policy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converge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before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do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157" y="2679490"/>
            <a:ext cx="7249803" cy="67447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220586" y="2419350"/>
            <a:ext cx="2209800" cy="1600835"/>
            <a:chOff x="9220586" y="2419350"/>
            <a:chExt cx="2209800" cy="1600835"/>
          </a:xfrm>
        </p:grpSpPr>
        <p:sp>
          <p:nvSpPr>
            <p:cNvPr id="8" name="object 8"/>
            <p:cNvSpPr/>
            <p:nvPr/>
          </p:nvSpPr>
          <p:spPr>
            <a:xfrm>
              <a:off x="10284332" y="2424302"/>
              <a:ext cx="246379" cy="197485"/>
            </a:xfrm>
            <a:custGeom>
              <a:avLst/>
              <a:gdLst/>
              <a:ahLst/>
              <a:cxnLst/>
              <a:rect l="l" t="t" r="r" b="b"/>
              <a:pathLst>
                <a:path w="246379" h="197485">
                  <a:moveTo>
                    <a:pt x="123063" y="0"/>
                  </a:moveTo>
                  <a:lnTo>
                    <a:pt x="0" y="197358"/>
                  </a:lnTo>
                  <a:lnTo>
                    <a:pt x="246126" y="197358"/>
                  </a:lnTo>
                  <a:lnTo>
                    <a:pt x="1230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284331" y="2424302"/>
              <a:ext cx="246379" cy="197485"/>
            </a:xfrm>
            <a:custGeom>
              <a:avLst/>
              <a:gdLst/>
              <a:ahLst/>
              <a:cxnLst/>
              <a:rect l="l" t="t" r="r" b="b"/>
              <a:pathLst>
                <a:path w="246379" h="197485">
                  <a:moveTo>
                    <a:pt x="0" y="197358"/>
                  </a:moveTo>
                  <a:lnTo>
                    <a:pt x="123063" y="0"/>
                  </a:lnTo>
                  <a:lnTo>
                    <a:pt x="246126" y="197358"/>
                  </a:lnTo>
                  <a:lnTo>
                    <a:pt x="0" y="19735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80410" y="2629281"/>
              <a:ext cx="927735" cy="541020"/>
            </a:xfrm>
            <a:custGeom>
              <a:avLst/>
              <a:gdLst/>
              <a:ahLst/>
              <a:cxnLst/>
              <a:rect l="l" t="t" r="r" b="b"/>
              <a:pathLst>
                <a:path w="927734" h="541019">
                  <a:moveTo>
                    <a:pt x="927366" y="0"/>
                  </a:moveTo>
                  <a:lnTo>
                    <a:pt x="0" y="54102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25552" y="3130995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90" h="71755">
                  <a:moveTo>
                    <a:pt x="46621" y="0"/>
                  </a:moveTo>
                  <a:lnTo>
                    <a:pt x="0" y="71310"/>
                  </a:lnTo>
                  <a:lnTo>
                    <a:pt x="85026" y="65811"/>
                  </a:lnTo>
                  <a:lnTo>
                    <a:pt x="466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07776" y="2629281"/>
              <a:ext cx="965835" cy="464184"/>
            </a:xfrm>
            <a:custGeom>
              <a:avLst/>
              <a:gdLst/>
              <a:ahLst/>
              <a:cxnLst/>
              <a:rect l="l" t="t" r="r" b="b"/>
              <a:pathLst>
                <a:path w="965834" h="464185">
                  <a:moveTo>
                    <a:pt x="0" y="0"/>
                  </a:moveTo>
                  <a:lnTo>
                    <a:pt x="965365" y="463981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345202" y="3053420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3007" y="0"/>
                  </a:moveTo>
                  <a:lnTo>
                    <a:pt x="0" y="68681"/>
                  </a:lnTo>
                  <a:lnTo>
                    <a:pt x="85178" y="67348"/>
                  </a:lnTo>
                  <a:lnTo>
                    <a:pt x="33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77767" y="2628900"/>
              <a:ext cx="330200" cy="512445"/>
            </a:xfrm>
            <a:custGeom>
              <a:avLst/>
              <a:gdLst/>
              <a:ahLst/>
              <a:cxnLst/>
              <a:rect l="l" t="t" r="r" b="b"/>
              <a:pathLst>
                <a:path w="330200" h="512444">
                  <a:moveTo>
                    <a:pt x="329628" y="0"/>
                  </a:moveTo>
                  <a:lnTo>
                    <a:pt x="0" y="512152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38582" y="3105370"/>
              <a:ext cx="83820" cy="97155"/>
            </a:xfrm>
            <a:custGeom>
              <a:avLst/>
              <a:gdLst/>
              <a:ahLst/>
              <a:cxnLst/>
              <a:rect l="l" t="t" r="r" b="b"/>
              <a:pathLst>
                <a:path w="83820" h="97155">
                  <a:moveTo>
                    <a:pt x="10490" y="0"/>
                  </a:moveTo>
                  <a:lnTo>
                    <a:pt x="0" y="96558"/>
                  </a:lnTo>
                  <a:lnTo>
                    <a:pt x="83540" y="47015"/>
                  </a:lnTo>
                  <a:lnTo>
                    <a:pt x="104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407776" y="2629281"/>
              <a:ext cx="330200" cy="440690"/>
            </a:xfrm>
            <a:custGeom>
              <a:avLst/>
              <a:gdLst/>
              <a:ahLst/>
              <a:cxnLst/>
              <a:rect l="l" t="t" r="r" b="b"/>
              <a:pathLst>
                <a:path w="330200" h="440689">
                  <a:moveTo>
                    <a:pt x="0" y="0"/>
                  </a:moveTo>
                  <a:lnTo>
                    <a:pt x="329984" y="440664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99650" y="3036939"/>
              <a:ext cx="76200" cy="84455"/>
            </a:xfrm>
            <a:custGeom>
              <a:avLst/>
              <a:gdLst/>
              <a:ahLst/>
              <a:cxnLst/>
              <a:rect l="l" t="t" r="r" b="b"/>
              <a:pathLst>
                <a:path w="76200" h="84455">
                  <a:moveTo>
                    <a:pt x="60998" y="0"/>
                  </a:moveTo>
                  <a:lnTo>
                    <a:pt x="0" y="45669"/>
                  </a:lnTo>
                  <a:lnTo>
                    <a:pt x="76174" y="83832"/>
                  </a:lnTo>
                  <a:lnTo>
                    <a:pt x="609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2481" y="3197351"/>
              <a:ext cx="214122" cy="2148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71495" y="3407283"/>
              <a:ext cx="771525" cy="575310"/>
            </a:xfrm>
            <a:custGeom>
              <a:avLst/>
              <a:gdLst/>
              <a:ahLst/>
              <a:cxnLst/>
              <a:rect l="l" t="t" r="r" b="b"/>
              <a:pathLst>
                <a:path w="771525" h="575310">
                  <a:moveTo>
                    <a:pt x="771283" y="0"/>
                  </a:moveTo>
                  <a:lnTo>
                    <a:pt x="0" y="574713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20586" y="3943849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38328" y="0"/>
                  </a:moveTo>
                  <a:lnTo>
                    <a:pt x="0" y="76085"/>
                  </a:lnTo>
                  <a:lnTo>
                    <a:pt x="83858" y="61099"/>
                  </a:lnTo>
                  <a:lnTo>
                    <a:pt x="38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42778" y="3407283"/>
              <a:ext cx="804545" cy="575945"/>
            </a:xfrm>
            <a:custGeom>
              <a:avLst/>
              <a:gdLst/>
              <a:ahLst/>
              <a:cxnLst/>
              <a:rect l="l" t="t" r="r" b="b"/>
              <a:pathLst>
                <a:path w="804545" h="575945">
                  <a:moveTo>
                    <a:pt x="0" y="0"/>
                  </a:moveTo>
                  <a:lnTo>
                    <a:pt x="804100" y="575678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814368" y="3944592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4361" y="0"/>
                  </a:moveTo>
                  <a:lnTo>
                    <a:pt x="0" y="61950"/>
                  </a:lnTo>
                  <a:lnTo>
                    <a:pt x="84137" y="75336"/>
                  </a:lnTo>
                  <a:lnTo>
                    <a:pt x="443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62731" y="3407283"/>
              <a:ext cx="280670" cy="556260"/>
            </a:xfrm>
            <a:custGeom>
              <a:avLst/>
              <a:gdLst/>
              <a:ahLst/>
              <a:cxnLst/>
              <a:rect l="l" t="t" r="r" b="b"/>
              <a:pathLst>
                <a:path w="280670" h="556260">
                  <a:moveTo>
                    <a:pt x="280047" y="0"/>
                  </a:moveTo>
                  <a:lnTo>
                    <a:pt x="0" y="555942"/>
                  </a:lnTo>
                </a:path>
              </a:pathLst>
            </a:custGeom>
            <a:ln w="1269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34163" y="3934736"/>
              <a:ext cx="68580" cy="85725"/>
            </a:xfrm>
            <a:custGeom>
              <a:avLst/>
              <a:gdLst/>
              <a:ahLst/>
              <a:cxnLst/>
              <a:rect l="l" t="t" r="r" b="b"/>
              <a:pathLst>
                <a:path w="68579" h="85725">
                  <a:moveTo>
                    <a:pt x="253" y="0"/>
                  </a:moveTo>
                  <a:lnTo>
                    <a:pt x="0" y="85191"/>
                  </a:lnTo>
                  <a:lnTo>
                    <a:pt x="68313" y="34277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42397" y="3406902"/>
              <a:ext cx="265430" cy="548005"/>
            </a:xfrm>
            <a:custGeom>
              <a:avLst/>
              <a:gdLst/>
              <a:ahLst/>
              <a:cxnLst/>
              <a:rect l="l" t="t" r="r" b="b"/>
              <a:pathLst>
                <a:path w="265429" h="548004">
                  <a:moveTo>
                    <a:pt x="0" y="0"/>
                  </a:moveTo>
                  <a:lnTo>
                    <a:pt x="264883" y="54748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61890" y="3922436"/>
              <a:ext cx="78740" cy="97155"/>
            </a:xfrm>
            <a:custGeom>
              <a:avLst/>
              <a:gdLst/>
              <a:ahLst/>
              <a:cxnLst/>
              <a:rect l="l" t="t" r="r" b="b"/>
              <a:pathLst>
                <a:path w="78740" h="97154">
                  <a:moveTo>
                    <a:pt x="78193" y="0"/>
                  </a:moveTo>
                  <a:lnTo>
                    <a:pt x="0" y="37833"/>
                  </a:lnTo>
                  <a:lnTo>
                    <a:pt x="76923" y="97116"/>
                  </a:lnTo>
                  <a:lnTo>
                    <a:pt x="781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200563" y="2304656"/>
            <a:ext cx="103695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1800" spc="-15" baseline="-20833" dirty="0">
                <a:solidFill>
                  <a:srgbClr val="0000FF"/>
                </a:solidFill>
                <a:latin typeface="Calibri"/>
                <a:cs typeface="Calibri"/>
              </a:rPr>
              <a:t>k+1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(s)</a:t>
            </a:r>
            <a:endParaRPr sz="1800">
              <a:latin typeface="Calibri"/>
              <a:cs typeface="Calibri"/>
            </a:endParaRPr>
          </a:p>
          <a:p>
            <a:pPr marL="25400" marR="695960" indent="76200">
              <a:lnSpc>
                <a:spcPct val="138900"/>
              </a:lnSpc>
              <a:spcBef>
                <a:spcPts val="484"/>
              </a:spcBef>
            </a:pP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1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03587" y="3680714"/>
            <a:ext cx="542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s,a,s</a:t>
            </a:r>
            <a:r>
              <a:rPr sz="1800" spc="-10" dirty="0">
                <a:latin typeface="MS PGothic"/>
                <a:cs typeface="MS PGothic"/>
              </a:rPr>
              <a:t>’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82504" y="4057218"/>
            <a:ext cx="560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1800" spc="-15" baseline="-20833" dirty="0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(s’)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589007" y="4483608"/>
            <a:ext cx="1625600" cy="1778000"/>
            <a:chOff x="9589007" y="4483608"/>
            <a:chExt cx="1625600" cy="1778000"/>
          </a:xfrm>
        </p:grpSpPr>
        <p:sp>
          <p:nvSpPr>
            <p:cNvPr id="31" name="object 31"/>
            <p:cNvSpPr/>
            <p:nvPr/>
          </p:nvSpPr>
          <p:spPr>
            <a:xfrm>
              <a:off x="9601580" y="4496181"/>
              <a:ext cx="1600200" cy="1752600"/>
            </a:xfrm>
            <a:custGeom>
              <a:avLst/>
              <a:gdLst/>
              <a:ahLst/>
              <a:cxnLst/>
              <a:rect l="l" t="t" r="r" b="b"/>
              <a:pathLst>
                <a:path w="1600200" h="1752600">
                  <a:moveTo>
                    <a:pt x="800100" y="0"/>
                  </a:moveTo>
                  <a:lnTo>
                    <a:pt x="0" y="1752600"/>
                  </a:lnTo>
                  <a:lnTo>
                    <a:pt x="1600200" y="175260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8F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601580" y="4496181"/>
              <a:ext cx="1600200" cy="1752600"/>
            </a:xfrm>
            <a:custGeom>
              <a:avLst/>
              <a:gdLst/>
              <a:ahLst/>
              <a:cxnLst/>
              <a:rect l="l" t="t" r="r" b="b"/>
              <a:pathLst>
                <a:path w="1600200" h="1752600">
                  <a:moveTo>
                    <a:pt x="0" y="1752600"/>
                  </a:moveTo>
                  <a:lnTo>
                    <a:pt x="800100" y="0"/>
                  </a:lnTo>
                  <a:lnTo>
                    <a:pt x="1600200" y="1752600"/>
                  </a:lnTo>
                  <a:lnTo>
                    <a:pt x="0" y="175260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625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10" dirty="0"/>
              <a:t> </a:t>
            </a:r>
            <a:r>
              <a:rPr dirty="0"/>
              <a:t>Value</a:t>
            </a:r>
            <a:r>
              <a:rPr spc="-95" dirty="0"/>
              <a:t> </a:t>
            </a:r>
            <a:r>
              <a:rPr spc="-10" dirty="0"/>
              <a:t>Iteration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859" y="5256130"/>
            <a:ext cx="230269" cy="218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2985" y="1685874"/>
            <a:ext cx="494504" cy="344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4018" y="1683201"/>
            <a:ext cx="618151" cy="377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5232" y="1681624"/>
            <a:ext cx="531460" cy="34000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19580" y="493738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7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7"/>
                </a:lnTo>
                <a:lnTo>
                  <a:pt x="3657600" y="711835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2"/>
                </a:lnTo>
                <a:lnTo>
                  <a:pt x="142367" y="854202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5"/>
                </a:lnTo>
                <a:lnTo>
                  <a:pt x="0" y="142367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580" y="356578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6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6"/>
                </a:lnTo>
                <a:lnTo>
                  <a:pt x="3657600" y="711834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1"/>
                </a:lnTo>
                <a:lnTo>
                  <a:pt x="142367" y="854201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4"/>
                </a:lnTo>
                <a:lnTo>
                  <a:pt x="0" y="142366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580" y="2210184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0"/>
                </a:moveTo>
                <a:lnTo>
                  <a:pt x="7122" y="95544"/>
                </a:lnTo>
                <a:lnTo>
                  <a:pt x="26954" y="57195"/>
                </a:lnTo>
                <a:lnTo>
                  <a:pt x="57195" y="26954"/>
                </a:lnTo>
                <a:lnTo>
                  <a:pt x="95544" y="7122"/>
                </a:lnTo>
                <a:lnTo>
                  <a:pt x="139700" y="0"/>
                </a:lnTo>
                <a:lnTo>
                  <a:pt x="3517900" y="0"/>
                </a:lnTo>
                <a:lnTo>
                  <a:pt x="3562055" y="7122"/>
                </a:lnTo>
                <a:lnTo>
                  <a:pt x="3600404" y="26954"/>
                </a:lnTo>
                <a:lnTo>
                  <a:pt x="3630645" y="57195"/>
                </a:lnTo>
                <a:lnTo>
                  <a:pt x="3650477" y="95544"/>
                </a:lnTo>
                <a:lnTo>
                  <a:pt x="3657600" y="139700"/>
                </a:lnTo>
                <a:lnTo>
                  <a:pt x="3657600" y="698487"/>
                </a:lnTo>
                <a:lnTo>
                  <a:pt x="3650477" y="742648"/>
                </a:lnTo>
                <a:lnTo>
                  <a:pt x="3630645" y="781001"/>
                </a:lnTo>
                <a:lnTo>
                  <a:pt x="3600404" y="811244"/>
                </a:lnTo>
                <a:lnTo>
                  <a:pt x="3562055" y="831077"/>
                </a:lnTo>
                <a:lnTo>
                  <a:pt x="3517900" y="838200"/>
                </a:lnTo>
                <a:lnTo>
                  <a:pt x="139700" y="838200"/>
                </a:lnTo>
                <a:lnTo>
                  <a:pt x="95544" y="831077"/>
                </a:lnTo>
                <a:lnTo>
                  <a:pt x="57195" y="811244"/>
                </a:lnTo>
                <a:lnTo>
                  <a:pt x="26954" y="781001"/>
                </a:lnTo>
                <a:lnTo>
                  <a:pt x="7122" y="742648"/>
                </a:lnTo>
                <a:lnTo>
                  <a:pt x="0" y="698487"/>
                </a:lnTo>
                <a:lnTo>
                  <a:pt x="0" y="13970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4789" y="3899916"/>
            <a:ext cx="223326" cy="2194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8923" y="2528316"/>
            <a:ext cx="230958" cy="21945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50339" y="3543306"/>
            <a:ext cx="1661160" cy="7302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latin typeface="Arial MT"/>
                <a:cs typeface="Arial MT"/>
              </a:rPr>
              <a:t>S: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dirty="0">
                <a:latin typeface="Arial MT"/>
                <a:cs typeface="Arial MT"/>
              </a:rPr>
              <a:t>F:</a:t>
            </a:r>
            <a:r>
              <a:rPr sz="2000" spc="-10" dirty="0">
                <a:latin typeface="Arial MT"/>
                <a:cs typeface="Arial MT"/>
              </a:rPr>
              <a:t> .5*2+.5*2=2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03768" y="4598923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Assume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no</a:t>
            </a:r>
            <a:r>
              <a:rPr sz="1800" i="1" spc="-10" dirty="0">
                <a:latin typeface="Arial"/>
                <a:cs typeface="Arial"/>
              </a:rPr>
              <a:t> discount!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58967" y="1876044"/>
            <a:ext cx="6428231" cy="234391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9155" y="5342287"/>
            <a:ext cx="5959326" cy="55525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23898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04972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84974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625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10" dirty="0"/>
              <a:t> </a:t>
            </a:r>
            <a:r>
              <a:rPr dirty="0"/>
              <a:t>Value</a:t>
            </a:r>
            <a:r>
              <a:rPr spc="-95" dirty="0"/>
              <a:t> </a:t>
            </a:r>
            <a:r>
              <a:rPr spc="-10" dirty="0"/>
              <a:t>Iteration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859" y="5256130"/>
            <a:ext cx="230269" cy="218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2985" y="1685874"/>
            <a:ext cx="494504" cy="344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4018" y="1683201"/>
            <a:ext cx="618151" cy="377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5232" y="1681624"/>
            <a:ext cx="531460" cy="34000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19580" y="493738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7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7"/>
                </a:lnTo>
                <a:lnTo>
                  <a:pt x="3657600" y="711835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2"/>
                </a:lnTo>
                <a:lnTo>
                  <a:pt x="142367" y="854202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5"/>
                </a:lnTo>
                <a:lnTo>
                  <a:pt x="0" y="142367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580" y="356578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6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6"/>
                </a:lnTo>
                <a:lnTo>
                  <a:pt x="3657600" y="711834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1"/>
                </a:lnTo>
                <a:lnTo>
                  <a:pt x="142367" y="854201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4"/>
                </a:lnTo>
                <a:lnTo>
                  <a:pt x="0" y="142366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580" y="2210184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0"/>
                </a:moveTo>
                <a:lnTo>
                  <a:pt x="7122" y="95544"/>
                </a:lnTo>
                <a:lnTo>
                  <a:pt x="26954" y="57195"/>
                </a:lnTo>
                <a:lnTo>
                  <a:pt x="57195" y="26954"/>
                </a:lnTo>
                <a:lnTo>
                  <a:pt x="95544" y="7122"/>
                </a:lnTo>
                <a:lnTo>
                  <a:pt x="139700" y="0"/>
                </a:lnTo>
                <a:lnTo>
                  <a:pt x="3517900" y="0"/>
                </a:lnTo>
                <a:lnTo>
                  <a:pt x="3562055" y="7122"/>
                </a:lnTo>
                <a:lnTo>
                  <a:pt x="3600404" y="26954"/>
                </a:lnTo>
                <a:lnTo>
                  <a:pt x="3630645" y="57195"/>
                </a:lnTo>
                <a:lnTo>
                  <a:pt x="3650477" y="95544"/>
                </a:lnTo>
                <a:lnTo>
                  <a:pt x="3657600" y="139700"/>
                </a:lnTo>
                <a:lnTo>
                  <a:pt x="3657600" y="698487"/>
                </a:lnTo>
                <a:lnTo>
                  <a:pt x="3650477" y="742648"/>
                </a:lnTo>
                <a:lnTo>
                  <a:pt x="3630645" y="781001"/>
                </a:lnTo>
                <a:lnTo>
                  <a:pt x="3600404" y="811244"/>
                </a:lnTo>
                <a:lnTo>
                  <a:pt x="3562055" y="831077"/>
                </a:lnTo>
                <a:lnTo>
                  <a:pt x="3517900" y="838200"/>
                </a:lnTo>
                <a:lnTo>
                  <a:pt x="139700" y="838200"/>
                </a:lnTo>
                <a:lnTo>
                  <a:pt x="95544" y="831077"/>
                </a:lnTo>
                <a:lnTo>
                  <a:pt x="57195" y="811244"/>
                </a:lnTo>
                <a:lnTo>
                  <a:pt x="26954" y="781001"/>
                </a:lnTo>
                <a:lnTo>
                  <a:pt x="7122" y="742648"/>
                </a:lnTo>
                <a:lnTo>
                  <a:pt x="0" y="698487"/>
                </a:lnTo>
                <a:lnTo>
                  <a:pt x="0" y="13970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4789" y="3899916"/>
            <a:ext cx="223326" cy="2194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8923" y="2528316"/>
            <a:ext cx="230958" cy="21945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02907" y="3754205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 MT"/>
                <a:cs typeface="Arial MT"/>
              </a:rPr>
              <a:t>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03768" y="4598923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Assume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no</a:t>
            </a:r>
            <a:r>
              <a:rPr sz="1800" i="1" spc="-10" dirty="0">
                <a:latin typeface="Arial"/>
                <a:cs typeface="Arial"/>
              </a:rPr>
              <a:t> discount!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58967" y="1876044"/>
            <a:ext cx="6428231" cy="234391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9155" y="5342287"/>
            <a:ext cx="5959326" cy="55525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184920" y="3560398"/>
            <a:ext cx="1675764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199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S: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.5*1+.5*1=1 </a:t>
            </a:r>
            <a:r>
              <a:rPr sz="2000" dirty="0">
                <a:latin typeface="Arial MT"/>
                <a:cs typeface="Arial MT"/>
              </a:rPr>
              <a:t>F: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25" dirty="0">
                <a:latin typeface="Arial MT"/>
                <a:cs typeface="Arial MT"/>
              </a:rPr>
              <a:t>10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3898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04972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84974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625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10" dirty="0"/>
              <a:t> </a:t>
            </a:r>
            <a:r>
              <a:rPr dirty="0"/>
              <a:t>Value</a:t>
            </a:r>
            <a:r>
              <a:rPr spc="-95" dirty="0"/>
              <a:t> </a:t>
            </a:r>
            <a:r>
              <a:rPr spc="-10" dirty="0"/>
              <a:t>Iteration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859" y="5256130"/>
            <a:ext cx="230269" cy="218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2985" y="1685874"/>
            <a:ext cx="494504" cy="344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4018" y="1683201"/>
            <a:ext cx="618151" cy="377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5232" y="1681624"/>
            <a:ext cx="531460" cy="34000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19580" y="496786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7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7"/>
                </a:lnTo>
                <a:lnTo>
                  <a:pt x="3657600" y="711835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2"/>
                </a:lnTo>
                <a:lnTo>
                  <a:pt x="142367" y="854202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5"/>
                </a:lnTo>
                <a:lnTo>
                  <a:pt x="0" y="142367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580" y="356578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6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6"/>
                </a:lnTo>
                <a:lnTo>
                  <a:pt x="3657600" y="711834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1"/>
                </a:lnTo>
                <a:lnTo>
                  <a:pt x="142367" y="854201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4"/>
                </a:lnTo>
                <a:lnTo>
                  <a:pt x="0" y="142366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580" y="2210184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0"/>
                </a:moveTo>
                <a:lnTo>
                  <a:pt x="7122" y="95544"/>
                </a:lnTo>
                <a:lnTo>
                  <a:pt x="26954" y="57195"/>
                </a:lnTo>
                <a:lnTo>
                  <a:pt x="57195" y="26954"/>
                </a:lnTo>
                <a:lnTo>
                  <a:pt x="95544" y="7122"/>
                </a:lnTo>
                <a:lnTo>
                  <a:pt x="139700" y="0"/>
                </a:lnTo>
                <a:lnTo>
                  <a:pt x="3517900" y="0"/>
                </a:lnTo>
                <a:lnTo>
                  <a:pt x="3562055" y="7122"/>
                </a:lnTo>
                <a:lnTo>
                  <a:pt x="3600404" y="26954"/>
                </a:lnTo>
                <a:lnTo>
                  <a:pt x="3630645" y="57195"/>
                </a:lnTo>
                <a:lnTo>
                  <a:pt x="3650477" y="95544"/>
                </a:lnTo>
                <a:lnTo>
                  <a:pt x="3657600" y="139700"/>
                </a:lnTo>
                <a:lnTo>
                  <a:pt x="3657600" y="698487"/>
                </a:lnTo>
                <a:lnTo>
                  <a:pt x="3650477" y="742648"/>
                </a:lnTo>
                <a:lnTo>
                  <a:pt x="3630645" y="781001"/>
                </a:lnTo>
                <a:lnTo>
                  <a:pt x="3600404" y="811244"/>
                </a:lnTo>
                <a:lnTo>
                  <a:pt x="3562055" y="831077"/>
                </a:lnTo>
                <a:lnTo>
                  <a:pt x="3517900" y="838200"/>
                </a:lnTo>
                <a:lnTo>
                  <a:pt x="139700" y="838200"/>
                </a:lnTo>
                <a:lnTo>
                  <a:pt x="95544" y="831077"/>
                </a:lnTo>
                <a:lnTo>
                  <a:pt x="57195" y="811244"/>
                </a:lnTo>
                <a:lnTo>
                  <a:pt x="26954" y="781001"/>
                </a:lnTo>
                <a:lnTo>
                  <a:pt x="7122" y="742648"/>
                </a:lnTo>
                <a:lnTo>
                  <a:pt x="0" y="698487"/>
                </a:lnTo>
                <a:lnTo>
                  <a:pt x="0" y="13970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4789" y="3899916"/>
            <a:ext cx="223326" cy="2194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8923" y="2528316"/>
            <a:ext cx="230958" cy="21945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02813" y="3754020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 MT"/>
                <a:cs typeface="Arial MT"/>
              </a:rPr>
              <a:t>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03768" y="4598923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Assume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no</a:t>
            </a:r>
            <a:r>
              <a:rPr sz="1800" i="1" spc="-10" dirty="0">
                <a:latin typeface="Arial"/>
                <a:cs typeface="Arial"/>
              </a:rPr>
              <a:t> discount!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58967" y="1876044"/>
            <a:ext cx="6428231" cy="234391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9155" y="5342287"/>
            <a:ext cx="5959326" cy="55525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898139" y="3756914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 MT"/>
                <a:cs typeface="Arial MT"/>
              </a:rPr>
              <a:t>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24838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03945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84130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70317" y="3765098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625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10" dirty="0"/>
              <a:t> </a:t>
            </a:r>
            <a:r>
              <a:rPr dirty="0"/>
              <a:t>Value</a:t>
            </a:r>
            <a:r>
              <a:rPr spc="-95" dirty="0"/>
              <a:t> </a:t>
            </a:r>
            <a:r>
              <a:rPr spc="-10" dirty="0"/>
              <a:t>Iteration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859" y="5256130"/>
            <a:ext cx="230269" cy="218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2985" y="1685874"/>
            <a:ext cx="494504" cy="344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4018" y="1683201"/>
            <a:ext cx="618151" cy="377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5232" y="1681624"/>
            <a:ext cx="531460" cy="34000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19580" y="496786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7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7"/>
                </a:lnTo>
                <a:lnTo>
                  <a:pt x="3657600" y="711835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2"/>
                </a:lnTo>
                <a:lnTo>
                  <a:pt x="142367" y="854202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5"/>
                </a:lnTo>
                <a:lnTo>
                  <a:pt x="0" y="142367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580" y="356578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6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6"/>
                </a:lnTo>
                <a:lnTo>
                  <a:pt x="3657600" y="711834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1"/>
                </a:lnTo>
                <a:lnTo>
                  <a:pt x="142367" y="854201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4"/>
                </a:lnTo>
                <a:lnTo>
                  <a:pt x="0" y="142366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580" y="2210184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0"/>
                </a:moveTo>
                <a:lnTo>
                  <a:pt x="7122" y="95544"/>
                </a:lnTo>
                <a:lnTo>
                  <a:pt x="26954" y="57195"/>
                </a:lnTo>
                <a:lnTo>
                  <a:pt x="57195" y="26954"/>
                </a:lnTo>
                <a:lnTo>
                  <a:pt x="95544" y="7122"/>
                </a:lnTo>
                <a:lnTo>
                  <a:pt x="139700" y="0"/>
                </a:lnTo>
                <a:lnTo>
                  <a:pt x="3517900" y="0"/>
                </a:lnTo>
                <a:lnTo>
                  <a:pt x="3562055" y="7122"/>
                </a:lnTo>
                <a:lnTo>
                  <a:pt x="3600404" y="26954"/>
                </a:lnTo>
                <a:lnTo>
                  <a:pt x="3630645" y="57195"/>
                </a:lnTo>
                <a:lnTo>
                  <a:pt x="3650477" y="95544"/>
                </a:lnTo>
                <a:lnTo>
                  <a:pt x="3657600" y="139700"/>
                </a:lnTo>
                <a:lnTo>
                  <a:pt x="3657600" y="698487"/>
                </a:lnTo>
                <a:lnTo>
                  <a:pt x="3650477" y="742648"/>
                </a:lnTo>
                <a:lnTo>
                  <a:pt x="3630645" y="781001"/>
                </a:lnTo>
                <a:lnTo>
                  <a:pt x="3600404" y="811244"/>
                </a:lnTo>
                <a:lnTo>
                  <a:pt x="3562055" y="831077"/>
                </a:lnTo>
                <a:lnTo>
                  <a:pt x="3517900" y="838200"/>
                </a:lnTo>
                <a:lnTo>
                  <a:pt x="139700" y="838200"/>
                </a:lnTo>
                <a:lnTo>
                  <a:pt x="95544" y="831077"/>
                </a:lnTo>
                <a:lnTo>
                  <a:pt x="57195" y="811244"/>
                </a:lnTo>
                <a:lnTo>
                  <a:pt x="26954" y="781001"/>
                </a:lnTo>
                <a:lnTo>
                  <a:pt x="7122" y="742648"/>
                </a:lnTo>
                <a:lnTo>
                  <a:pt x="0" y="698487"/>
                </a:lnTo>
                <a:lnTo>
                  <a:pt x="0" y="13970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4789" y="3899916"/>
            <a:ext cx="223326" cy="2194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8923" y="2528316"/>
            <a:ext cx="230958" cy="21945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803768" y="4598923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Assume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no</a:t>
            </a:r>
            <a:r>
              <a:rPr sz="1800" i="1" spc="-10" dirty="0">
                <a:latin typeface="Arial"/>
                <a:cs typeface="Arial"/>
              </a:rPr>
              <a:t> discount!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58967" y="1876044"/>
            <a:ext cx="6428231" cy="234391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9155" y="5342287"/>
            <a:ext cx="5959326" cy="55525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170317" y="3765098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4838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03945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84130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7955" y="2233164"/>
            <a:ext cx="249110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26845" indent="14604">
              <a:lnSpc>
                <a:spcPct val="1053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S:</a:t>
            </a:r>
            <a:r>
              <a:rPr sz="2000" spc="-20" dirty="0">
                <a:latin typeface="Arial MT"/>
                <a:cs typeface="Arial MT"/>
              </a:rPr>
              <a:t> 1+2=3 </a:t>
            </a:r>
            <a:r>
              <a:rPr sz="2000" spc="-25" dirty="0">
                <a:latin typeface="Arial MT"/>
                <a:cs typeface="Arial MT"/>
              </a:rPr>
              <a:t>F: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.5*(2+2)+.5*(2+1)=3.5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45"/>
              </a:spcBef>
            </a:pPr>
            <a:endParaRPr sz="20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tabLst>
                <a:tab pos="1612265" algn="l"/>
              </a:tabLst>
            </a:pPr>
            <a:r>
              <a:rPr sz="2800" spc="-50" dirty="0">
                <a:latin typeface="Arial MT"/>
                <a:cs typeface="Arial MT"/>
              </a:rPr>
              <a:t>2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1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625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10" dirty="0"/>
              <a:t> </a:t>
            </a:r>
            <a:r>
              <a:rPr dirty="0"/>
              <a:t>Value</a:t>
            </a:r>
            <a:r>
              <a:rPr spc="-95" dirty="0"/>
              <a:t> </a:t>
            </a:r>
            <a:r>
              <a:rPr spc="-10" dirty="0"/>
              <a:t>Iteration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859" y="5256130"/>
            <a:ext cx="230269" cy="218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2985" y="1685874"/>
            <a:ext cx="494504" cy="344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4018" y="1683201"/>
            <a:ext cx="618151" cy="377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5232" y="1681624"/>
            <a:ext cx="531460" cy="34000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19580" y="496786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7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7"/>
                </a:lnTo>
                <a:lnTo>
                  <a:pt x="3657600" y="711835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2"/>
                </a:lnTo>
                <a:lnTo>
                  <a:pt x="142367" y="854202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5"/>
                </a:lnTo>
                <a:lnTo>
                  <a:pt x="0" y="142367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580" y="3565780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66"/>
                </a:moveTo>
                <a:lnTo>
                  <a:pt x="7258" y="97368"/>
                </a:lnTo>
                <a:lnTo>
                  <a:pt x="27468" y="58287"/>
                </a:lnTo>
                <a:lnTo>
                  <a:pt x="58287" y="27468"/>
                </a:lnTo>
                <a:lnTo>
                  <a:pt x="97368" y="7258"/>
                </a:lnTo>
                <a:lnTo>
                  <a:pt x="142367" y="0"/>
                </a:lnTo>
                <a:lnTo>
                  <a:pt x="3515233" y="0"/>
                </a:lnTo>
                <a:lnTo>
                  <a:pt x="3560231" y="7258"/>
                </a:lnTo>
                <a:lnTo>
                  <a:pt x="3599312" y="27468"/>
                </a:lnTo>
                <a:lnTo>
                  <a:pt x="3630131" y="58287"/>
                </a:lnTo>
                <a:lnTo>
                  <a:pt x="3650341" y="97368"/>
                </a:lnTo>
                <a:lnTo>
                  <a:pt x="3657600" y="142366"/>
                </a:lnTo>
                <a:lnTo>
                  <a:pt x="3657600" y="711834"/>
                </a:lnTo>
                <a:lnTo>
                  <a:pt x="3650341" y="756833"/>
                </a:lnTo>
                <a:lnTo>
                  <a:pt x="3630131" y="795914"/>
                </a:lnTo>
                <a:lnTo>
                  <a:pt x="3599312" y="826733"/>
                </a:lnTo>
                <a:lnTo>
                  <a:pt x="3560231" y="846943"/>
                </a:lnTo>
                <a:lnTo>
                  <a:pt x="3515233" y="854201"/>
                </a:lnTo>
                <a:lnTo>
                  <a:pt x="142367" y="854201"/>
                </a:lnTo>
                <a:lnTo>
                  <a:pt x="97368" y="846943"/>
                </a:lnTo>
                <a:lnTo>
                  <a:pt x="58287" y="826733"/>
                </a:lnTo>
                <a:lnTo>
                  <a:pt x="27468" y="795914"/>
                </a:lnTo>
                <a:lnTo>
                  <a:pt x="7258" y="756833"/>
                </a:lnTo>
                <a:lnTo>
                  <a:pt x="0" y="711834"/>
                </a:lnTo>
                <a:lnTo>
                  <a:pt x="0" y="142366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580" y="2210184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0"/>
                </a:moveTo>
                <a:lnTo>
                  <a:pt x="7122" y="95544"/>
                </a:lnTo>
                <a:lnTo>
                  <a:pt x="26954" y="57195"/>
                </a:lnTo>
                <a:lnTo>
                  <a:pt x="57195" y="26954"/>
                </a:lnTo>
                <a:lnTo>
                  <a:pt x="95544" y="7122"/>
                </a:lnTo>
                <a:lnTo>
                  <a:pt x="139700" y="0"/>
                </a:lnTo>
                <a:lnTo>
                  <a:pt x="3517900" y="0"/>
                </a:lnTo>
                <a:lnTo>
                  <a:pt x="3562055" y="7122"/>
                </a:lnTo>
                <a:lnTo>
                  <a:pt x="3600404" y="26954"/>
                </a:lnTo>
                <a:lnTo>
                  <a:pt x="3630645" y="57195"/>
                </a:lnTo>
                <a:lnTo>
                  <a:pt x="3650477" y="95544"/>
                </a:lnTo>
                <a:lnTo>
                  <a:pt x="3657600" y="139700"/>
                </a:lnTo>
                <a:lnTo>
                  <a:pt x="3657600" y="698487"/>
                </a:lnTo>
                <a:lnTo>
                  <a:pt x="3650477" y="742648"/>
                </a:lnTo>
                <a:lnTo>
                  <a:pt x="3630645" y="781001"/>
                </a:lnTo>
                <a:lnTo>
                  <a:pt x="3600404" y="811244"/>
                </a:lnTo>
                <a:lnTo>
                  <a:pt x="3562055" y="831077"/>
                </a:lnTo>
                <a:lnTo>
                  <a:pt x="3517900" y="838200"/>
                </a:lnTo>
                <a:lnTo>
                  <a:pt x="139700" y="838200"/>
                </a:lnTo>
                <a:lnTo>
                  <a:pt x="95544" y="831077"/>
                </a:lnTo>
                <a:lnTo>
                  <a:pt x="57195" y="811244"/>
                </a:lnTo>
                <a:lnTo>
                  <a:pt x="26954" y="781001"/>
                </a:lnTo>
                <a:lnTo>
                  <a:pt x="7122" y="742648"/>
                </a:lnTo>
                <a:lnTo>
                  <a:pt x="0" y="698487"/>
                </a:lnTo>
                <a:lnTo>
                  <a:pt x="0" y="13970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4789" y="3899916"/>
            <a:ext cx="223326" cy="2194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8923" y="2528316"/>
            <a:ext cx="230958" cy="21945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02775" y="3754205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 MT"/>
                <a:cs typeface="Arial MT"/>
              </a:rPr>
              <a:t>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03768" y="4598923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Assume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no</a:t>
            </a:r>
            <a:r>
              <a:rPr sz="1800" i="1" spc="-10" dirty="0">
                <a:latin typeface="Arial"/>
                <a:cs typeface="Arial"/>
              </a:rPr>
              <a:t> discount!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58967" y="1876044"/>
            <a:ext cx="6428231" cy="234391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9155" y="5342287"/>
            <a:ext cx="5959326" cy="55525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898139" y="3756914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 MT"/>
                <a:cs typeface="Arial MT"/>
              </a:rPr>
              <a:t>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4838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03945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84130" y="5162222"/>
            <a:ext cx="22352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70317" y="3765098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26678" y="2399330"/>
            <a:ext cx="5207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Arial MT"/>
                <a:cs typeface="Arial MT"/>
              </a:rPr>
              <a:t>3.5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98856" y="2395772"/>
            <a:ext cx="5207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Arial MT"/>
                <a:cs typeface="Arial MT"/>
              </a:rPr>
              <a:t>2.5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70317" y="2382961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6291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Convergence*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636" y="1414016"/>
            <a:ext cx="6343015" cy="4806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84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418465" algn="l"/>
              </a:tabLst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How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do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0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know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0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V</a:t>
            </a:r>
            <a:r>
              <a:rPr sz="1950" baseline="-21367" dirty="0">
                <a:solidFill>
                  <a:srgbClr val="333399"/>
                </a:solidFill>
                <a:latin typeface="Calibri"/>
                <a:cs typeface="Calibri"/>
              </a:rPr>
              <a:t>k</a:t>
            </a:r>
            <a:r>
              <a:rPr sz="1950" spc="202" baseline="-21367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vectors</a:t>
            </a:r>
            <a:r>
              <a:rPr sz="20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going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converge?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Clr>
                <a:srgbClr val="333399"/>
              </a:buClr>
              <a:buFont typeface="Wingdings"/>
              <a:buChar char=""/>
            </a:pPr>
            <a:endParaRPr sz="2000">
              <a:latin typeface="Calibri"/>
              <a:cs typeface="Calibri"/>
            </a:endParaRPr>
          </a:p>
          <a:p>
            <a:pPr marL="418465" marR="81280" indent="-342900">
              <a:lnSpc>
                <a:spcPct val="100000"/>
              </a:lnSpc>
              <a:buFont typeface="Wingdings"/>
              <a:buChar char=""/>
              <a:tabLst>
                <a:tab pos="418465" algn="l"/>
              </a:tabLst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Case</a:t>
            </a:r>
            <a:r>
              <a:rPr sz="20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1: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If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tree</a:t>
            </a:r>
            <a:r>
              <a:rPr sz="20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has</a:t>
            </a:r>
            <a:r>
              <a:rPr sz="20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maximum</a:t>
            </a:r>
            <a:r>
              <a:rPr sz="20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depth</a:t>
            </a:r>
            <a:r>
              <a:rPr sz="20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M,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then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V</a:t>
            </a:r>
            <a:r>
              <a:rPr sz="1950" baseline="-21367" dirty="0">
                <a:solidFill>
                  <a:srgbClr val="333399"/>
                </a:solidFill>
                <a:latin typeface="Calibri"/>
                <a:cs typeface="Calibri"/>
              </a:rPr>
              <a:t>M</a:t>
            </a:r>
            <a:r>
              <a:rPr sz="1950" spc="195" baseline="-21367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holds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actual</a:t>
            </a:r>
            <a:r>
              <a:rPr sz="20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untruncated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Clr>
                <a:srgbClr val="333399"/>
              </a:buClr>
              <a:buFont typeface="Wingdings"/>
              <a:buChar char=""/>
            </a:pPr>
            <a:endParaRPr sz="2000">
              <a:latin typeface="Calibri"/>
              <a:cs typeface="Calibri"/>
            </a:endParaRPr>
          </a:p>
          <a:p>
            <a:pPr marL="418465" indent="-342265">
              <a:lnSpc>
                <a:spcPct val="100000"/>
              </a:lnSpc>
              <a:buFont typeface="Wingdings"/>
              <a:buChar char=""/>
              <a:tabLst>
                <a:tab pos="418465" algn="l"/>
              </a:tabLst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Case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2: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If</a:t>
            </a:r>
            <a:r>
              <a:rPr sz="20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discount</a:t>
            </a:r>
            <a:r>
              <a:rPr sz="20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less</a:t>
            </a:r>
            <a:r>
              <a:rPr sz="20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than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333399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819150" marR="274320" lvl="1" indent="-286385">
              <a:lnSpc>
                <a:spcPct val="100000"/>
              </a:lnSpc>
              <a:spcBef>
                <a:spcPts val="450"/>
              </a:spcBef>
              <a:buFont typeface="Wingdings"/>
              <a:buChar char=""/>
              <a:tabLst>
                <a:tab pos="819150" algn="l"/>
              </a:tabLst>
            </a:pPr>
            <a:r>
              <a:rPr sz="1800" dirty="0">
                <a:latin typeface="Calibri"/>
                <a:cs typeface="Calibri"/>
              </a:rPr>
              <a:t>Sketch: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</a:t>
            </a:r>
            <a:r>
              <a:rPr sz="1800" baseline="-20833" dirty="0">
                <a:latin typeface="Calibri"/>
                <a:cs typeface="Calibri"/>
              </a:rPr>
              <a:t>k</a:t>
            </a:r>
            <a:r>
              <a:rPr sz="1800" spc="187" baseline="-2083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</a:t>
            </a:r>
            <a:r>
              <a:rPr sz="1800" baseline="-20833" dirty="0">
                <a:latin typeface="Calibri"/>
                <a:cs typeface="Calibri"/>
              </a:rPr>
              <a:t>k+1</a:t>
            </a:r>
            <a:r>
              <a:rPr sz="1800" spc="195" baseline="-2083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viewed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depth </a:t>
            </a:r>
            <a:r>
              <a:rPr sz="1800" dirty="0">
                <a:latin typeface="Calibri"/>
                <a:cs typeface="Calibri"/>
              </a:rPr>
              <a:t>k+1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expectimax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nearly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identical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  <a:p>
            <a:pPr marL="818515" marR="165735" lvl="1" indent="-285750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81851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difference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bottom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</a:t>
            </a:r>
            <a:r>
              <a:rPr sz="1800" baseline="-20833" dirty="0">
                <a:latin typeface="Calibri"/>
                <a:cs typeface="Calibri"/>
              </a:rPr>
              <a:t>k+1</a:t>
            </a:r>
            <a:r>
              <a:rPr sz="1800" spc="195" baseline="-2083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actual </a:t>
            </a:r>
            <a:r>
              <a:rPr sz="1800" dirty="0">
                <a:latin typeface="Calibri"/>
                <a:cs typeface="Calibri"/>
              </a:rPr>
              <a:t>rewards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</a:t>
            </a:r>
            <a:r>
              <a:rPr sz="1800" baseline="-20833" dirty="0">
                <a:latin typeface="Calibri"/>
                <a:cs typeface="Calibri"/>
              </a:rPr>
              <a:t>k</a:t>
            </a:r>
            <a:r>
              <a:rPr sz="1800" spc="165" baseline="-2083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zeros</a:t>
            </a:r>
            <a:endParaRPr sz="1800">
              <a:latin typeface="Calibri"/>
              <a:cs typeface="Calibri"/>
            </a:endParaRPr>
          </a:p>
          <a:p>
            <a:pPr marL="818515" lvl="1" indent="-285115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818515" algn="l"/>
              </a:tabLst>
            </a:pPr>
            <a:r>
              <a:rPr sz="1800" dirty="0">
                <a:latin typeface="Calibri"/>
                <a:cs typeface="Calibri"/>
              </a:rPr>
              <a:t>That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best all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30" baseline="-20833" dirty="0">
                <a:latin typeface="Calibri"/>
                <a:cs typeface="Calibri"/>
              </a:rPr>
              <a:t>MAX</a:t>
            </a:r>
            <a:endParaRPr sz="1800" baseline="-20833">
              <a:latin typeface="Calibri"/>
              <a:cs typeface="Calibri"/>
            </a:endParaRPr>
          </a:p>
          <a:p>
            <a:pPr marL="818515" lvl="1" indent="-285115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81851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worst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30" baseline="-20833" dirty="0">
                <a:latin typeface="Calibri"/>
                <a:cs typeface="Calibri"/>
              </a:rPr>
              <a:t>MIN</a:t>
            </a:r>
            <a:endParaRPr sz="1800" baseline="-20833">
              <a:latin typeface="Calibri"/>
              <a:cs typeface="Calibri"/>
            </a:endParaRPr>
          </a:p>
          <a:p>
            <a:pPr marL="818515" lvl="1" indent="-285115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818515" algn="l"/>
              </a:tabLst>
            </a:pPr>
            <a:r>
              <a:rPr sz="1800" dirty="0">
                <a:latin typeface="Calibri"/>
                <a:cs typeface="Calibri"/>
              </a:rPr>
              <a:t>But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everything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discounted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γ</a:t>
            </a:r>
            <a:r>
              <a:rPr sz="1800" baseline="25462" dirty="0">
                <a:latin typeface="Calibri"/>
                <a:cs typeface="Calibri"/>
              </a:rPr>
              <a:t>k</a:t>
            </a:r>
            <a:r>
              <a:rPr sz="1800" spc="172" baseline="25462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out</a:t>
            </a:r>
            <a:endParaRPr sz="1800">
              <a:latin typeface="Calibri"/>
              <a:cs typeface="Calibri"/>
            </a:endParaRPr>
          </a:p>
          <a:p>
            <a:pPr marL="818515" lvl="1" indent="-285115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Wingdings"/>
              <a:buChar char=""/>
              <a:tabLst>
                <a:tab pos="818515" algn="l"/>
              </a:tabLst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So</a:t>
            </a:r>
            <a:r>
              <a:rPr sz="1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aseline="-20833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1800" spc="195" baseline="-2083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aseline="-20833" dirty="0">
                <a:solidFill>
                  <a:srgbClr val="C00000"/>
                </a:solidFill>
                <a:latin typeface="Calibri"/>
                <a:cs typeface="Calibri"/>
              </a:rPr>
              <a:t>k+1</a:t>
            </a:r>
            <a:r>
              <a:rPr sz="1800" spc="202" baseline="-2083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most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γ</a:t>
            </a:r>
            <a:r>
              <a:rPr sz="1800" baseline="25462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1800" spc="195" baseline="25462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max|R|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endParaRPr sz="1800">
              <a:latin typeface="Calibri"/>
              <a:cs typeface="Calibri"/>
            </a:endParaRPr>
          </a:p>
          <a:p>
            <a:pPr marL="818515" lvl="1" indent="-285115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818515" algn="l"/>
              </a:tabLst>
            </a:pPr>
            <a:r>
              <a:rPr sz="1800" dirty="0">
                <a:latin typeface="Calibri"/>
                <a:cs typeface="Calibri"/>
              </a:rPr>
              <a:t>So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increases,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converge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26807" y="2292857"/>
            <a:ext cx="2160270" cy="3130550"/>
            <a:chOff x="7226807" y="2292857"/>
            <a:chExt cx="2160270" cy="3130550"/>
          </a:xfrm>
        </p:grpSpPr>
        <p:sp>
          <p:nvSpPr>
            <p:cNvPr id="5" name="object 5"/>
            <p:cNvSpPr/>
            <p:nvPr/>
          </p:nvSpPr>
          <p:spPr>
            <a:xfrm>
              <a:off x="7239380" y="2305430"/>
              <a:ext cx="2135505" cy="3105150"/>
            </a:xfrm>
            <a:custGeom>
              <a:avLst/>
              <a:gdLst/>
              <a:ahLst/>
              <a:cxnLst/>
              <a:rect l="l" t="t" r="r" b="b"/>
              <a:pathLst>
                <a:path w="2135504" h="3105150">
                  <a:moveTo>
                    <a:pt x="0" y="3105150"/>
                  </a:moveTo>
                  <a:lnTo>
                    <a:pt x="1067562" y="0"/>
                  </a:lnTo>
                  <a:lnTo>
                    <a:pt x="2135124" y="3105150"/>
                  </a:lnTo>
                  <a:lnTo>
                    <a:pt x="0" y="310515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68920" y="2305430"/>
              <a:ext cx="1876425" cy="2717800"/>
            </a:xfrm>
            <a:custGeom>
              <a:avLst/>
              <a:gdLst/>
              <a:ahLst/>
              <a:cxnLst/>
              <a:rect l="l" t="t" r="r" b="b"/>
              <a:pathLst>
                <a:path w="1876425" h="2717800">
                  <a:moveTo>
                    <a:pt x="938022" y="0"/>
                  </a:moveTo>
                  <a:lnTo>
                    <a:pt x="0" y="2717292"/>
                  </a:lnTo>
                  <a:lnTo>
                    <a:pt x="1876044" y="2717292"/>
                  </a:lnTo>
                  <a:lnTo>
                    <a:pt x="938022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68920" y="2305430"/>
              <a:ext cx="1876425" cy="2717800"/>
            </a:xfrm>
            <a:custGeom>
              <a:avLst/>
              <a:gdLst/>
              <a:ahLst/>
              <a:cxnLst/>
              <a:rect l="l" t="t" r="r" b="b"/>
              <a:pathLst>
                <a:path w="1876425" h="2717800">
                  <a:moveTo>
                    <a:pt x="0" y="2717292"/>
                  </a:moveTo>
                  <a:lnTo>
                    <a:pt x="938022" y="0"/>
                  </a:lnTo>
                  <a:lnTo>
                    <a:pt x="1876044" y="2717292"/>
                  </a:lnTo>
                  <a:lnTo>
                    <a:pt x="0" y="2717292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685019" y="2292857"/>
            <a:ext cx="2160270" cy="3130550"/>
            <a:chOff x="9685019" y="2292857"/>
            <a:chExt cx="2160270" cy="3130550"/>
          </a:xfrm>
        </p:grpSpPr>
        <p:sp>
          <p:nvSpPr>
            <p:cNvPr id="9" name="object 9"/>
            <p:cNvSpPr/>
            <p:nvPr/>
          </p:nvSpPr>
          <p:spPr>
            <a:xfrm>
              <a:off x="9697592" y="2305430"/>
              <a:ext cx="2135505" cy="3105150"/>
            </a:xfrm>
            <a:custGeom>
              <a:avLst/>
              <a:gdLst/>
              <a:ahLst/>
              <a:cxnLst/>
              <a:rect l="l" t="t" r="r" b="b"/>
              <a:pathLst>
                <a:path w="2135504" h="3105150">
                  <a:moveTo>
                    <a:pt x="1067562" y="0"/>
                  </a:moveTo>
                  <a:lnTo>
                    <a:pt x="0" y="3105150"/>
                  </a:lnTo>
                  <a:lnTo>
                    <a:pt x="2135124" y="3105150"/>
                  </a:lnTo>
                  <a:lnTo>
                    <a:pt x="1067562" y="0"/>
                  </a:lnTo>
                  <a:close/>
                </a:path>
              </a:pathLst>
            </a:custGeom>
            <a:solidFill>
              <a:srgbClr val="A7A8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97592" y="2305430"/>
              <a:ext cx="2135505" cy="3105150"/>
            </a:xfrm>
            <a:custGeom>
              <a:avLst/>
              <a:gdLst/>
              <a:ahLst/>
              <a:cxnLst/>
              <a:rect l="l" t="t" r="r" b="b"/>
              <a:pathLst>
                <a:path w="2135504" h="3105150">
                  <a:moveTo>
                    <a:pt x="0" y="3105150"/>
                  </a:moveTo>
                  <a:lnTo>
                    <a:pt x="1067562" y="0"/>
                  </a:lnTo>
                  <a:lnTo>
                    <a:pt x="2135124" y="3105150"/>
                  </a:lnTo>
                  <a:lnTo>
                    <a:pt x="0" y="3105150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27132" y="2305430"/>
              <a:ext cx="1876425" cy="2717800"/>
            </a:xfrm>
            <a:custGeom>
              <a:avLst/>
              <a:gdLst/>
              <a:ahLst/>
              <a:cxnLst/>
              <a:rect l="l" t="t" r="r" b="b"/>
              <a:pathLst>
                <a:path w="1876425" h="2717800">
                  <a:moveTo>
                    <a:pt x="938022" y="0"/>
                  </a:moveTo>
                  <a:lnTo>
                    <a:pt x="0" y="2717292"/>
                  </a:lnTo>
                  <a:lnTo>
                    <a:pt x="1876044" y="2717292"/>
                  </a:lnTo>
                  <a:lnTo>
                    <a:pt x="938022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27131" y="2305430"/>
              <a:ext cx="1876425" cy="2717800"/>
            </a:xfrm>
            <a:custGeom>
              <a:avLst/>
              <a:gdLst/>
              <a:ahLst/>
              <a:cxnLst/>
              <a:rect l="l" t="t" r="r" b="b"/>
              <a:pathLst>
                <a:path w="1876425" h="2717800">
                  <a:moveTo>
                    <a:pt x="0" y="2717292"/>
                  </a:moveTo>
                  <a:lnTo>
                    <a:pt x="938022" y="0"/>
                  </a:lnTo>
                  <a:lnTo>
                    <a:pt x="1876044" y="2717292"/>
                  </a:lnTo>
                  <a:lnTo>
                    <a:pt x="0" y="2717292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6992" y="1840968"/>
            <a:ext cx="774191" cy="35287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6040" y="1840968"/>
            <a:ext cx="1127759" cy="3528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</TotalTime>
  <Words>1844</Words>
  <Application>Microsoft Office PowerPoint</Application>
  <PresentationFormat>Widescreen</PresentationFormat>
  <Paragraphs>320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MS PGothic</vt:lpstr>
      <vt:lpstr>Arial</vt:lpstr>
      <vt:lpstr>Arial MT</vt:lpstr>
      <vt:lpstr>Calibri</vt:lpstr>
      <vt:lpstr>Symbol</vt:lpstr>
      <vt:lpstr>Times New Roman</vt:lpstr>
      <vt:lpstr>Wingdings</vt:lpstr>
      <vt:lpstr>Office Theme</vt:lpstr>
      <vt:lpstr>Math-810: MMAI</vt:lpstr>
      <vt:lpstr>Non-Deterministic Search</vt:lpstr>
      <vt:lpstr>Example: Grid World</vt:lpstr>
      <vt:lpstr>Grid World Actions</vt:lpstr>
      <vt:lpstr>Markov Decision Processes</vt:lpstr>
      <vt:lpstr>What is Markov about MDPs?</vt:lpstr>
      <vt:lpstr>Policies</vt:lpstr>
      <vt:lpstr>Optimal Policies</vt:lpstr>
      <vt:lpstr>Example: Racing</vt:lpstr>
      <vt:lpstr>Example: Racing</vt:lpstr>
      <vt:lpstr>Racing Search Tree</vt:lpstr>
      <vt:lpstr>MDP Search Trees</vt:lpstr>
      <vt:lpstr>Utilities of Sequences</vt:lpstr>
      <vt:lpstr>Utilities of Sequences</vt:lpstr>
      <vt:lpstr>Discounting</vt:lpstr>
      <vt:lpstr>Discounting</vt:lpstr>
      <vt:lpstr>Stationary Preferences</vt:lpstr>
      <vt:lpstr>Infinite Utilities?!</vt:lpstr>
      <vt:lpstr>Solving MDPs</vt:lpstr>
      <vt:lpstr>Recap: Defining MDPs</vt:lpstr>
      <vt:lpstr>Optimal Quantities</vt:lpstr>
      <vt:lpstr>Snapshot of Demo – Gridworld V Values</vt:lpstr>
      <vt:lpstr>Snapshot of Demo – Gridworld Q Values</vt:lpstr>
      <vt:lpstr>Snapshot of Demo – Gridworld V Values</vt:lpstr>
      <vt:lpstr>Snapshot of Demo – Gridworld Q Values</vt:lpstr>
      <vt:lpstr>Values of States</vt:lpstr>
      <vt:lpstr>Racing Search Tree</vt:lpstr>
      <vt:lpstr>Racing Search Tree</vt:lpstr>
      <vt:lpstr>Racing Search Tree</vt:lpstr>
      <vt:lpstr>Time-Limited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k=10</vt:lpstr>
      <vt:lpstr>k=11</vt:lpstr>
      <vt:lpstr>k=12</vt:lpstr>
      <vt:lpstr>k=100</vt:lpstr>
      <vt:lpstr>Computing Time-Limited Values</vt:lpstr>
      <vt:lpstr>Value Iteration</vt:lpstr>
      <vt:lpstr>Value Iteration</vt:lpstr>
      <vt:lpstr>Example: Value Iteration</vt:lpstr>
      <vt:lpstr>Example: Value Iteration</vt:lpstr>
      <vt:lpstr>Example: Value Iteration</vt:lpstr>
      <vt:lpstr>Example: Value Iteration</vt:lpstr>
      <vt:lpstr>Example: Value Iteration</vt:lpstr>
      <vt:lpstr>Convergence*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Dr Soyiba</cp:lastModifiedBy>
  <cp:revision>6</cp:revision>
  <dcterms:created xsi:type="dcterms:W3CDTF">2025-04-17T09:53:03Z</dcterms:created>
  <dcterms:modified xsi:type="dcterms:W3CDTF">2025-09-03T11:00:27Z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2022-04-29T00:00:00Z</vt:filetime>
  </property>
  <property fmtid="{D5CDD505-2E9C-101B-9397-08002B2CF9AE}" pid="3" name="Creator">
    <vt:lpwstr>Acrobat PDFMaker 11 for PowerPoint</vt:lpwstr>
  </property>
  <property fmtid="{D5CDD505-2E9C-101B-9397-08002B2CF9AE}" pid="4" name="LastSaved">
    <vt:filetime>2025-04-17T00:00:00Z</vt:filetime>
  </property>
  <property fmtid="{D5CDD505-2E9C-101B-9397-08002B2CF9AE}" pid="5" name="Producer">
    <vt:lpwstr>Adobe PDF Library 11.0</vt:lpwstr>
  </property>
</Properties>
</file>