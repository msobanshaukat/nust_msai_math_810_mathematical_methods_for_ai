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7"/>
  </p:notesMasterIdLst>
  <p:sldIdLst>
    <p:sldId id="256" r:id="rId2"/>
    <p:sldId id="635" r:id="rId3"/>
    <p:sldId id="633" r:id="rId4"/>
    <p:sldId id="1537" r:id="rId5"/>
    <p:sldId id="1538" r:id="rId6"/>
    <p:sldId id="636" r:id="rId7"/>
    <p:sldId id="638" r:id="rId8"/>
    <p:sldId id="646" r:id="rId9"/>
    <p:sldId id="647" r:id="rId10"/>
    <p:sldId id="648" r:id="rId11"/>
    <p:sldId id="639" r:id="rId12"/>
    <p:sldId id="640" r:id="rId13"/>
    <p:sldId id="641" r:id="rId14"/>
    <p:sldId id="642" r:id="rId15"/>
    <p:sldId id="649" r:id="rId16"/>
    <p:sldId id="650" r:id="rId17"/>
    <p:sldId id="651" r:id="rId18"/>
    <p:sldId id="652" r:id="rId19"/>
    <p:sldId id="654" r:id="rId20"/>
    <p:sldId id="653" r:id="rId21"/>
    <p:sldId id="655" r:id="rId22"/>
    <p:sldId id="656" r:id="rId23"/>
    <p:sldId id="657" r:id="rId24"/>
    <p:sldId id="658" r:id="rId25"/>
    <p:sldId id="659" r:id="rId26"/>
    <p:sldId id="660" r:id="rId27"/>
    <p:sldId id="661" r:id="rId28"/>
    <p:sldId id="1517" r:id="rId29"/>
    <p:sldId id="1519" r:id="rId30"/>
    <p:sldId id="1520" r:id="rId31"/>
    <p:sldId id="1521" r:id="rId32"/>
    <p:sldId id="1518" r:id="rId33"/>
    <p:sldId id="1522" r:id="rId34"/>
    <p:sldId id="1523" r:id="rId35"/>
    <p:sldId id="1524" r:id="rId36"/>
    <p:sldId id="1525" r:id="rId37"/>
    <p:sldId id="1527" r:id="rId38"/>
    <p:sldId id="1470" r:id="rId39"/>
    <p:sldId id="1471" r:id="rId40"/>
    <p:sldId id="1472" r:id="rId41"/>
    <p:sldId id="1473" r:id="rId42"/>
    <p:sldId id="1516" r:id="rId43"/>
    <p:sldId id="1528" r:id="rId44"/>
    <p:sldId id="1529" r:id="rId45"/>
    <p:sldId id="1530" r:id="rId46"/>
    <p:sldId id="1531" r:id="rId47"/>
    <p:sldId id="1532" r:id="rId48"/>
    <p:sldId id="1533" r:id="rId49"/>
    <p:sldId id="1534" r:id="rId50"/>
    <p:sldId id="1535" r:id="rId51"/>
    <p:sldId id="1526" r:id="rId52"/>
    <p:sldId id="1536" r:id="rId53"/>
    <p:sldId id="1539" r:id="rId54"/>
    <p:sldId id="1540" r:id="rId55"/>
    <p:sldId id="1059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5" autoAdjust="0"/>
    <p:restoredTop sz="87920" autoAdjust="0"/>
  </p:normalViewPr>
  <p:slideViewPr>
    <p:cSldViewPr snapToGrid="0">
      <p:cViewPr varScale="1">
        <p:scale>
          <a:sx n="88" d="100"/>
          <a:sy n="88" d="100"/>
        </p:scale>
        <p:origin x="147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D9D42-B03A-43CF-BA29-B98FDB69EB5B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E7E488-E168-4A1B-82F6-428F6053F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782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E488-E168-4A1B-82F6-428F6053FA2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2931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E34A8-4ED9-BB56-EA04-B18AD5E73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696619-455C-ED74-B5A1-72EB7C7CCD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A87E1F-EC38-8EBB-35AE-45A1C902DE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ACFD2-9DF1-66E3-00DD-AD21164CB6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E488-E168-4A1B-82F6-428F6053FA2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756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85C7C-0DBE-A88F-14CE-9C8AE4797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E70E1B-66A4-3E7A-91BC-23A840BFED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2CAB49-194D-10D9-CCF2-39DEDB92EA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A68E90-7304-1FE4-0CEC-14697656CF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E488-E168-4A1B-82F6-428F6053FA2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730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since the non-diagonal elements in this covariance matrix are positive, we should expect that both the x and y variable increase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E488-E168-4A1B-82F6-428F6053FA2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5009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C7B72-5408-9D08-3A4D-FD66F899D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C2AB83-1BF1-D021-1410-7B0E3CBFF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037711-4B9E-242C-C748-99829A4F1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A5700-84D7-BEE8-FD4C-2D56449D99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E488-E168-4A1B-82F6-428F6053FA2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1148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F40FC-E4FF-C5BE-47CC-DDC4C49D7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0D67C7-2008-0B7E-A035-89BF0B401D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A9470-3145-12AC-1432-0C5FF4A87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DE7E6-E4C0-A8F3-EEDB-E1D2C9AF27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E488-E168-4A1B-82F6-428F6053FA2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1729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79682-BD74-EB7D-8F1F-9CABEC126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F7DE2A-6650-0F79-A89E-C2E3348C1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EE9AA9-B74D-EC6B-CF3D-DA84EE904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44537-2951-BEAD-9C7F-49055BD88B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E488-E168-4A1B-82F6-428F6053FA2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85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67497-E27A-32FE-24AC-54AD739E4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9FE821-6AAA-2424-F35A-5674ED5D53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4A2AF2-7398-1C86-D763-860D18104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since the non-diagonal elements in this covariance matrix are positive, we should expect that both the x and y variable increase together.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A9833-099A-8C59-E59E-CE3A73BD40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E488-E168-4A1B-82F6-428F6053FA2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8435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982C0-A578-A6EA-D56B-29522D1DD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1592BE-1C60-9F7D-0257-5AC934272F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D98D4-7CD7-47E7-2441-1E2FAF776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DA86E-4CB0-AE5D-65CB-D005772457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E488-E168-4A1B-82F6-428F6053FA2F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2446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30ED2-79B9-3BEB-BDC8-8F9876FCC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F33BE5-EB78-6A68-CEC6-01EEBDA12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1EBC3D-0445-C945-2F22-AED84D43E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A1AAE-8954-CCE8-5FAC-DD4E6499E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E488-E168-4A1B-82F6-428F6053FA2F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0984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1E6F7-3CF9-0F61-0DC1-0E668A7F5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61C89F-21DB-77CC-8279-B8B3415DB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F8D163-4BF9-E6F8-D8A3-CCF1CF1E4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35B74-7A28-390E-8963-52CE59E4DE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E488-E168-4A1B-82F6-428F6053FA2F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349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E8884-F010-BB2C-B1BE-05EED924A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BCE7AB-9919-7FAA-52D7-9114492F6D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EC2A08-D14A-EAF6-8CDF-F09F33A2AA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09C8F-25B9-2E9A-8D83-8E37D52E5C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E7E488-E168-4A1B-82F6-428F6053FA2F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514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518C4-7406-77D5-FF37-C55EB3013C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0EBC86-0C37-774C-088C-DFA8574E62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C162D-F813-A213-4BDE-4CBA3E4FA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97CBB-3F15-4EF3-B05A-41BBDF4A37CA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59C57-B0BF-D7A5-4FFE-FDE097861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C9508-5886-E030-7783-7585DF137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564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F6892-1C16-2ECC-F26F-F07185ADD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79765-E960-ABDF-91A1-BFD16D238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EC205-FC57-2693-04CC-79EB9D9B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D387D-DD14-4884-ABED-B45479F69182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152C8-536B-0AB3-B2B2-AE2ABB38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55DC4-6C21-AD81-ACAB-EF36DEBEE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580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A5B63-A4DF-436A-BBC6-B63675DBE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E894C-7534-93A9-B528-841D81A7D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2C4C7-C257-93A5-2E67-5CFD7F289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18217-90B1-4A15-AD0D-E2E0B5052F49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31C65-389D-9D74-DF51-27495E307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ABD29-C0BA-098A-57CF-D078E6EF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762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C4874-D457-89BC-0A7E-C0DC46892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26CB3-436D-0916-484B-E77DF3067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E160E-68FA-D188-FA21-3A87808376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CA31E2-6F22-8204-D940-98DF1C91E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BB61B-5724-4281-9812-08CB04E4B41A}" type="datetime1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ACB7D5-0894-89F9-DAA1-7AC12BFE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0E7B2B-E325-23BA-DF48-04B144B35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888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7F1CC-9CE1-2F1A-4E95-EF467403E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6BE6E-EDD4-701C-76A7-B04FF43F2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DDCE3-9271-0E44-FC6B-7E9686979A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3A411B-03E3-1430-D8B9-BB252D1A1A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B506E3-DB1B-2A99-AAE5-42A2FAD99D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624FFD-3A99-993F-280D-0E56A0B74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85CBC-EDC3-4C99-999D-582BD92B7C27}" type="datetime1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43F736-9006-DBE6-67D0-0BD0A3762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993F59-0FA3-4198-F6C0-BEBCA3088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899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B3E93-F3A9-E3CC-0E30-AB237FB92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2572A-28CA-A7A7-B84A-4C036B54F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9C3C8-9F1C-4317-9441-D66D6845DF0E}" type="datetime1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3FDF0B-DF0C-8710-0AB1-034D2D972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182DA8-D8D6-835F-93D4-6C877CD01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E6C049-C03F-8420-3134-46DB61E59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E157C-865C-47CE-9615-A7B3B8C56B66}" type="datetime1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B89A02-122D-35B4-1B5C-A808E2777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A8EA9-7E63-21A9-37A5-0468C0918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5368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E4A54-3A0C-7F9D-8420-74F46F565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284F0-8256-5505-8561-968F092CC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CF15DB-6AE4-6A77-1BCC-1B0F5D053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696F1B-0AE6-B430-33C5-378949D4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22E35-5A75-4084-AF64-53DAAD4E5748}" type="datetime1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DE82C-22E0-0163-8946-57F32D37A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8C8EB-0EE5-7F6D-A4E4-885B5E69C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187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7D512-7161-AB63-919C-018FC0D24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D853E9-583A-9B29-34A6-C61D38917D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B0D196-9934-B252-F0D0-FE6A231F4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92F1-D2D9-A1CB-A0CE-31D4FEEDB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5CC36-3B70-4A5D-ACEE-5EDB98C497AC}" type="datetime1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24FE3F-482D-0FA9-7DBE-29352D2FA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E550BC-A0F5-76E2-9F60-F8332F1E1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266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4FCF2-6A2B-864E-1A20-50F622205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C6C3E-C9B2-61CE-BA56-A670A3303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1AAA1-6B9B-96BF-41B3-CF75D0608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A94A9-85DF-474A-8DE6-25A5A1C80B73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9B57B-14DC-CE93-43DE-C47E86257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7415A-BA61-D7A9-F934-897E6FE12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744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855A19-41E8-7015-5174-AAB9286C6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C9EC40-6AA2-FADE-8795-73EC091CC8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D660E-1B19-18E8-DC84-F01786D45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8B805-38BD-4EF1-8761-8EB3EBC5FD6A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372C0-E304-434E-75AB-B1BA31E26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D984B-56E2-438C-45EB-988E5CFFA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019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9EE5A4-5521-F0E6-7C00-33F9A6C90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9DC26D-AFEE-1506-B719-6163BDE96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D949E-9E6E-75E6-635F-57EA2239DD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780AA-CF05-405F-B633-82E0EEBD4412}" type="datetime1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B2299-061D-170B-3CAD-49FB392EA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664F2-53C3-149C-AF2D-604A580E0E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B034E-4E10-4021-B996-06D2A0F545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28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0.png"/><Relationship Id="rId5" Type="http://schemas.openxmlformats.org/officeDocument/2006/relationships/image" Target="../media/image14.png"/><Relationship Id="rId4" Type="http://schemas.openxmlformats.org/officeDocument/2006/relationships/image" Target="../media/image131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0.png"/><Relationship Id="rId4" Type="http://schemas.openxmlformats.org/officeDocument/2006/relationships/image" Target="../media/image19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7" Type="http://schemas.openxmlformats.org/officeDocument/2006/relationships/image" Target="../media/image25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5" Type="http://schemas.openxmlformats.org/officeDocument/2006/relationships/image" Target="../media/image230.png"/><Relationship Id="rId4" Type="http://schemas.openxmlformats.org/officeDocument/2006/relationships/image" Target="../media/image22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190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7B85704-DACA-EB64-AED4-C835CB158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dirty="0"/>
              <a:t>Mathematical Models for Artificial Intelligence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9A4D3947-8FC0-AB6A-3631-2946257841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/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29474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8AFC5-B042-04B0-4B46-BF03EAEF9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556B0-9770-2479-F3BC-7DFA6FA8C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Typical AI System Pipeline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18DB0068-7B97-A846-FB50-F1E6824C084C}"/>
              </a:ext>
            </a:extLst>
          </p:cNvPr>
          <p:cNvSpPr/>
          <p:nvPr/>
        </p:nvSpPr>
        <p:spPr>
          <a:xfrm>
            <a:off x="230529" y="4631318"/>
            <a:ext cx="1215342" cy="106776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32788A3-7CAD-DB7C-692B-890A59C31F2A}"/>
              </a:ext>
            </a:extLst>
          </p:cNvPr>
          <p:cNvSpPr/>
          <p:nvPr/>
        </p:nvSpPr>
        <p:spPr>
          <a:xfrm>
            <a:off x="2210043" y="4631318"/>
            <a:ext cx="1828800" cy="117193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Feature Engineering &amp; Selection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92905D6-2C0D-8AFD-FFE0-6642BCCC542D}"/>
              </a:ext>
            </a:extLst>
          </p:cNvPr>
          <p:cNvSpPr/>
          <p:nvPr/>
        </p:nvSpPr>
        <p:spPr>
          <a:xfrm>
            <a:off x="4835325" y="4631318"/>
            <a:ext cx="1828800" cy="1171937"/>
          </a:xfrm>
          <a:prstGeom prst="roundRect">
            <a:avLst/>
          </a:prstGeom>
          <a:solidFill>
            <a:schemeClr val="accent2">
              <a:lumMod val="40000"/>
              <a:lumOff val="60000"/>
              <a:alpha val="54000"/>
            </a:schemeClr>
          </a:solidFill>
          <a:ln>
            <a:solidFill>
              <a:schemeClr val="accent1">
                <a:shade val="15000"/>
                <a:alpha val="5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Dimensionality Reduction</a:t>
            </a:r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F8438AEB-C4BC-2A49-668F-FC65C4397DF2}"/>
              </a:ext>
            </a:extLst>
          </p:cNvPr>
          <p:cNvSpPr/>
          <p:nvPr/>
        </p:nvSpPr>
        <p:spPr>
          <a:xfrm>
            <a:off x="7481587" y="4521358"/>
            <a:ext cx="1714981" cy="1412113"/>
          </a:xfrm>
          <a:prstGeom prst="hexagon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Machine Learning Model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C07924F-1069-DB3B-1B2B-813C7ACD3C0D}"/>
              </a:ext>
            </a:extLst>
          </p:cNvPr>
          <p:cNvSpPr/>
          <p:nvPr/>
        </p:nvSpPr>
        <p:spPr>
          <a:xfrm>
            <a:off x="10014030" y="4631318"/>
            <a:ext cx="1907895" cy="1292024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Decision/Action/Intelligence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FA44E08C-8B57-072B-6C3E-B479DCA8480A}"/>
              </a:ext>
            </a:extLst>
          </p:cNvPr>
          <p:cNvSpPr/>
          <p:nvPr/>
        </p:nvSpPr>
        <p:spPr>
          <a:xfrm>
            <a:off x="1558726" y="5035014"/>
            <a:ext cx="57101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ED9B64F-8EFA-02CC-8E14-CE6BF84E9679}"/>
              </a:ext>
            </a:extLst>
          </p:cNvPr>
          <p:cNvSpPr/>
          <p:nvPr/>
        </p:nvSpPr>
        <p:spPr>
          <a:xfrm>
            <a:off x="6750934" y="5035014"/>
            <a:ext cx="57101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80564105-A662-265D-EAD9-AC1957B2F791}"/>
              </a:ext>
            </a:extLst>
          </p:cNvPr>
          <p:cNvSpPr/>
          <p:nvPr/>
        </p:nvSpPr>
        <p:spPr>
          <a:xfrm>
            <a:off x="9324374" y="5035014"/>
            <a:ext cx="57101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AFF3C0E0-7F68-DC36-D664-770F04134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2</a:t>
            </a:fld>
            <a:endParaRPr lang="en-US" dirty="0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A810F5D3-6539-94F2-2081-48E1DD30D0E3}"/>
              </a:ext>
            </a:extLst>
          </p:cNvPr>
          <p:cNvSpPr/>
          <p:nvPr/>
        </p:nvSpPr>
        <p:spPr>
          <a:xfrm>
            <a:off x="4192387" y="2498413"/>
            <a:ext cx="57101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1DD7F408-D788-EDA4-864C-D75CAAFF4B1A}"/>
              </a:ext>
            </a:extLst>
          </p:cNvPr>
          <p:cNvSpPr/>
          <p:nvPr/>
        </p:nvSpPr>
        <p:spPr>
          <a:xfrm>
            <a:off x="7027762" y="2474206"/>
            <a:ext cx="57101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D93CA65-2014-6F43-306A-7F714D9F92F3}"/>
              </a:ext>
            </a:extLst>
          </p:cNvPr>
          <p:cNvSpPr/>
          <p:nvPr/>
        </p:nvSpPr>
        <p:spPr>
          <a:xfrm>
            <a:off x="2207872" y="2070510"/>
            <a:ext cx="1907895" cy="1292024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59540F1-38B1-71A4-596B-D4DF7635E635}"/>
              </a:ext>
            </a:extLst>
          </p:cNvPr>
          <p:cNvSpPr/>
          <p:nvPr/>
        </p:nvSpPr>
        <p:spPr>
          <a:xfrm>
            <a:off x="4883793" y="2070510"/>
            <a:ext cx="1907895" cy="1292024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Model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1115ECA-B867-27CC-27D3-6D6AB9872A65}"/>
              </a:ext>
            </a:extLst>
          </p:cNvPr>
          <p:cNvSpPr/>
          <p:nvPr/>
        </p:nvSpPr>
        <p:spPr>
          <a:xfrm>
            <a:off x="7780116" y="2069876"/>
            <a:ext cx="1907895" cy="1292024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CC46ECB2-0DDF-39E4-FBCD-0B6F538E77DD}"/>
              </a:ext>
            </a:extLst>
          </p:cNvPr>
          <p:cNvSpPr/>
          <p:nvPr/>
        </p:nvSpPr>
        <p:spPr>
          <a:xfrm>
            <a:off x="4145669" y="5035014"/>
            <a:ext cx="57101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508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4051A-9E2D-44F4-3E72-59DA592D7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Data: Many Shapes and Forms</a:t>
            </a:r>
          </a:p>
        </p:txBody>
      </p:sp>
      <p:pic>
        <p:nvPicPr>
          <p:cNvPr id="7" name="Picture 6" descr="A close-up of a human eye&#10;&#10;Description automatically generated">
            <a:extLst>
              <a:ext uri="{FF2B5EF4-FFF2-40B4-BE49-F238E27FC236}">
                <a16:creationId xmlns:a16="http://schemas.microsoft.com/office/drawing/2014/main" id="{137865BC-DE62-28BF-A3A8-A9F322008D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34" r="10987"/>
          <a:stretch/>
        </p:blipFill>
        <p:spPr>
          <a:xfrm>
            <a:off x="269869" y="1455000"/>
            <a:ext cx="2376875" cy="2274424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819E8CE-182B-C4F5-BA24-89E669A0C689}"/>
              </a:ext>
            </a:extLst>
          </p:cNvPr>
          <p:cNvGrpSpPr/>
          <p:nvPr/>
        </p:nvGrpSpPr>
        <p:grpSpPr>
          <a:xfrm>
            <a:off x="6349287" y="1323204"/>
            <a:ext cx="5842713" cy="2745800"/>
            <a:chOff x="5975560" y="1854245"/>
            <a:chExt cx="5842713" cy="274580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DD0121E-887C-EF5F-17AC-FAABA988E3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78315" y="1854246"/>
              <a:ext cx="1919640" cy="1341247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3080175-D248-01D4-45AD-55739A0E1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38474" y="1854245"/>
              <a:ext cx="1955046" cy="1341247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056AC1D-401E-7229-8167-49E0B97E21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98633" y="1854246"/>
              <a:ext cx="1919640" cy="1341803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C207C7A-9DA2-CDE3-E6EE-CD3FD8AB66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893520" y="3208226"/>
              <a:ext cx="1919640" cy="1391819"/>
            </a:xfrm>
            <a:prstGeom prst="rect">
              <a:avLst/>
            </a:prstGeom>
            <a:ln>
              <a:solidFill>
                <a:srgbClr val="FF3399"/>
              </a:solidFill>
            </a:ln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A22FBF2-7C00-298A-94F4-5CFCE4C7EBB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975560" y="3196049"/>
              <a:ext cx="1926563" cy="139572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2637082-BB86-DACB-C6AE-28D49AE0CB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44299" y="3208226"/>
              <a:ext cx="1954334" cy="1383549"/>
            </a:xfrm>
            <a:prstGeom prst="rect">
              <a:avLst/>
            </a:prstGeom>
            <a:ln>
              <a:solidFill>
                <a:srgbClr val="777777"/>
              </a:solidFill>
            </a:ln>
          </p:spPr>
        </p:pic>
      </p:grpSp>
      <p:pic>
        <p:nvPicPr>
          <p:cNvPr id="115714" name="Picture 2" descr="An example of ECG signal. | Download Scientific Diagram">
            <a:extLst>
              <a:ext uri="{FF2B5EF4-FFF2-40B4-BE49-F238E27FC236}">
                <a16:creationId xmlns:a16="http://schemas.microsoft.com/office/drawing/2014/main" id="{B454EEC3-56D8-5C12-78C9-754316D8B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1806" y="1525512"/>
            <a:ext cx="2870523" cy="2303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CA8DBF4-FCEA-706B-1CE0-1CAAB95152F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4106582"/>
            <a:ext cx="12192000" cy="2667990"/>
          </a:xfrm>
          <a:prstGeom prst="rect">
            <a:avLst/>
          </a:prstGeom>
        </p:spPr>
      </p:pic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4B8FB6F5-9374-A573-59C6-BF327A525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19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DD78F-847D-EDFA-B631-737928C68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7A48D-A2FB-51E4-CDDA-31D143BBC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Data: Many Shapes and Forms</a:t>
            </a:r>
          </a:p>
        </p:txBody>
      </p:sp>
      <p:pic>
        <p:nvPicPr>
          <p:cNvPr id="116738" name="Picture 2" descr="Schematic showing principle behind image acquisition in MRI. Voxels,... |  Download Scientific Diagram">
            <a:extLst>
              <a:ext uri="{FF2B5EF4-FFF2-40B4-BE49-F238E27FC236}">
                <a16:creationId xmlns:a16="http://schemas.microsoft.com/office/drawing/2014/main" id="{153C6137-FB4B-1422-6ACA-CFD451DA2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1547" y="1276467"/>
            <a:ext cx="6091528" cy="2538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742" name="Picture 6" descr="A guide to Geospatial Data Analysis, Visualisation &amp; Mapping - Spyrosoft">
            <a:extLst>
              <a:ext uri="{FF2B5EF4-FFF2-40B4-BE49-F238E27FC236}">
                <a16:creationId xmlns:a16="http://schemas.microsoft.com/office/drawing/2014/main" id="{10A64305-7E34-652B-A1B8-019F9F6E9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2349" y="0"/>
            <a:ext cx="3630953" cy="4664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744" name="Picture 8" descr="Sound Signal - an overview | ScienceDirect Topics">
            <a:extLst>
              <a:ext uri="{FF2B5EF4-FFF2-40B4-BE49-F238E27FC236}">
                <a16:creationId xmlns:a16="http://schemas.microsoft.com/office/drawing/2014/main" id="{A3EFE515-23C7-6F5D-93B5-0ABBED083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6573" y="4168016"/>
            <a:ext cx="34575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1825ED-20F2-0FC5-926F-276CD276B7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2901" y="4926629"/>
            <a:ext cx="4524373" cy="1529020"/>
          </a:xfrm>
          <a:prstGeom prst="rect">
            <a:avLst/>
          </a:prstGeom>
        </p:spPr>
      </p:pic>
      <p:pic>
        <p:nvPicPr>
          <p:cNvPr id="116746" name="Picture 10" descr="What Are Genes Made Of? Genes are segments of the DNA sequence | MelixGX">
            <a:extLst>
              <a:ext uri="{FF2B5EF4-FFF2-40B4-BE49-F238E27FC236}">
                <a16:creationId xmlns:a16="http://schemas.microsoft.com/office/drawing/2014/main" id="{AB7AF467-049A-DB69-54FA-634D6F0665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544"/>
          <a:stretch/>
        </p:blipFill>
        <p:spPr bwMode="auto">
          <a:xfrm>
            <a:off x="101373" y="4043309"/>
            <a:ext cx="3720348" cy="2412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EDB56-1807-F0C8-1ABE-F534999C2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755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F97F1-62E9-DE24-7078-DA9117C5C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Data: Many Shapes and 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F890D-C09A-EF70-AE85-D9383B956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Data can be broadly divided into the following categories (that we will be dealing with in this course):</a:t>
            </a:r>
          </a:p>
          <a:p>
            <a:pPr lvl="1"/>
            <a:r>
              <a:rPr lang="en-US" dirty="0"/>
              <a:t>Structured/Tabular Data</a:t>
            </a:r>
          </a:p>
          <a:p>
            <a:pPr lvl="1"/>
            <a:r>
              <a:rPr lang="en-US" dirty="0"/>
              <a:t>Time Series Data</a:t>
            </a:r>
          </a:p>
          <a:p>
            <a:pPr lvl="1"/>
            <a:r>
              <a:rPr lang="en-US" dirty="0"/>
              <a:t>Images</a:t>
            </a:r>
          </a:p>
          <a:p>
            <a:pPr lvl="1"/>
            <a:r>
              <a:rPr lang="en-US" dirty="0"/>
              <a:t>Textual Data</a:t>
            </a:r>
          </a:p>
          <a:p>
            <a:pPr lvl="1"/>
            <a:endParaRPr lang="en-US" dirty="0"/>
          </a:p>
          <a:p>
            <a:r>
              <a:rPr lang="en-US" dirty="0"/>
              <a:t>Sometimes it may be advisable to use the raw data as is. However, other times, that is not the case.</a:t>
            </a:r>
          </a:p>
          <a:p>
            <a:endParaRPr lang="en-US" dirty="0"/>
          </a:p>
          <a:p>
            <a:r>
              <a:rPr lang="en-US" dirty="0"/>
              <a:t>“Reducing” the data to a compressed representation can be beneficial.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FD945-AE3D-ADF5-32D4-D1A386EA4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085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01F1A-976F-0FB7-2025-120A043DD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9B3C2-C9A6-8B78-9D41-EADE72475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Dimensionality Reduction: The Need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944E9-2C9E-427E-560C-1CEB104DA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As discussed earlier, modern data domains involve huge number of features/dimensions.</a:t>
            </a:r>
          </a:p>
          <a:p>
            <a:pPr lvl="1"/>
            <a:r>
              <a:rPr lang="en-US" altLang="en-US" dirty="0"/>
              <a:t>Documents: Thousands of words, millions of bigrams</a:t>
            </a:r>
          </a:p>
          <a:p>
            <a:pPr lvl="1"/>
            <a:r>
              <a:rPr lang="en-US" altLang="en-US" dirty="0"/>
              <a:t>Genomics: Thousands of genes, millions of DNA polymorphisms</a:t>
            </a:r>
          </a:p>
          <a:p>
            <a:pPr lvl="1"/>
            <a:r>
              <a:rPr lang="en-US" altLang="en-US" dirty="0"/>
              <a:t>Videos: Thousands of frames, millions of pixels per frame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From a theoretical point of view, this excess of features should be beneficial because increasing the number of features should lead to better performance (assuming independent features).</a:t>
            </a:r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3E616-FCDF-F957-DBF8-274BF7FA0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503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8476A-54C9-9FDF-18F7-8D3C79708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Dimensionality Reduction: The Need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D8C4FC-AE0C-1765-2812-1A4CD74078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altLang="en-US" dirty="0"/>
                  <a:t>However, high dimensionality of the input data has many costs:</a:t>
                </a:r>
              </a:p>
              <a:p>
                <a:pPr lvl="1"/>
                <a:r>
                  <a:rPr lang="en-US" altLang="en-US" dirty="0"/>
                  <a:t>Redundant and irrelevant features degrade performance of machine learning algorithms</a:t>
                </a:r>
              </a:p>
              <a:p>
                <a:pPr lvl="1"/>
                <a:r>
                  <a:rPr lang="en-US" altLang="en-US" dirty="0"/>
                  <a:t>Difficulty in interpretation and visualization</a:t>
                </a:r>
              </a:p>
              <a:p>
                <a:pPr lvl="1"/>
                <a:r>
                  <a:rPr lang="en-US" altLang="en-US" dirty="0"/>
                  <a:t>Computation costs can increase and become prohibitive</a:t>
                </a:r>
              </a:p>
              <a:p>
                <a:pPr lvl="2"/>
                <a:r>
                  <a:rPr lang="en-US" altLang="en-US" dirty="0"/>
                  <a:t>An algorithm that scales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dirty="0"/>
              </a:p>
              <a:p>
                <a:pPr lvl="1"/>
                <a:r>
                  <a:rPr lang="en-US" altLang="en-US" dirty="0"/>
                  <a:t>A need for an exponential number of training samples as dimensionality increases</a:t>
                </a:r>
              </a:p>
              <a:p>
                <a:r>
                  <a:rPr lang="en-US" altLang="en-US" dirty="0"/>
                  <a:t>In practice, the inclusion  of more features leads to worse performance ( curse of dimensionality).</a:t>
                </a:r>
              </a:p>
              <a:p>
                <a:r>
                  <a:rPr lang="en-US" altLang="en-US" dirty="0"/>
                  <a:t>It becomes important to select the most representative features or reduce dimensionality.</a:t>
                </a:r>
              </a:p>
              <a:p>
                <a:endParaRPr lang="en-US" altLang="en-US" dirty="0"/>
              </a:p>
              <a:p>
                <a:endParaRPr lang="en-US" alt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D8C4FC-AE0C-1765-2812-1A4CD74078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r="-174" b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E0BB5-AE3F-285F-84D6-0854109DF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097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CFBDF-3145-7060-C33D-58750BF91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Dimensionality Reduction: The Need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5F3B7-3373-1681-BC4F-4DA9B39AF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Significant improvements can be achieved by first mapping the data into a lower-dimensional sub-space.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342900" indent="-342900">
              <a:spcBef>
                <a:spcPct val="20000"/>
              </a:spcBef>
              <a:buClr>
                <a:srgbClr val="000000"/>
              </a:buClr>
              <a:buFontTx/>
              <a:buChar char="•"/>
              <a:defRPr/>
            </a:pPr>
            <a:r>
              <a:rPr lang="en-US" kern="0" dirty="0">
                <a:solidFill>
                  <a:srgbClr val="000000"/>
                </a:solidFill>
                <a:latin typeface="Arial"/>
              </a:rPr>
              <a:t>Dimensionality can be reduced by:</a:t>
            </a:r>
          </a:p>
          <a:p>
            <a:pPr marL="742950" lvl="1" indent="-285750">
              <a:spcBef>
                <a:spcPct val="20000"/>
              </a:spcBef>
              <a:buClr>
                <a:srgbClr val="000000"/>
              </a:buClr>
              <a:buFont typeface="Arial" pitchFamily="34" charset="0"/>
              <a:buChar char="−"/>
              <a:defRPr/>
            </a:pPr>
            <a:r>
              <a:rPr lang="en-US" sz="2000" kern="0" dirty="0">
                <a:solidFill>
                  <a:srgbClr val="000000"/>
                </a:solidFill>
                <a:latin typeface="Arial"/>
              </a:rPr>
              <a:t>Combining features </a:t>
            </a:r>
            <a:r>
              <a:rPr lang="en-US" sz="2000" kern="0" dirty="0">
                <a:latin typeface="Arial"/>
              </a:rPr>
              <a:t>(linearly or non-linearly)</a:t>
            </a:r>
          </a:p>
          <a:p>
            <a:pPr marL="342900" indent="-342900">
              <a:spcBef>
                <a:spcPct val="20000"/>
              </a:spcBef>
              <a:buClr>
                <a:srgbClr val="000000"/>
              </a:buClr>
              <a:buFontTx/>
              <a:buChar char="•"/>
              <a:defRPr/>
            </a:pPr>
            <a:endParaRPr lang="en-US" kern="0" dirty="0">
              <a:solidFill>
                <a:srgbClr val="000000"/>
              </a:solidFill>
              <a:latin typeface="Arial"/>
            </a:endParaRPr>
          </a:p>
          <a:p>
            <a:pPr marL="342900" indent="-342900">
              <a:spcBef>
                <a:spcPct val="20000"/>
              </a:spcBef>
              <a:buClr>
                <a:srgbClr val="000000"/>
              </a:buClr>
              <a:buFontTx/>
              <a:buChar char="•"/>
              <a:defRPr/>
            </a:pPr>
            <a:r>
              <a:rPr lang="en-US" kern="0" dirty="0">
                <a:solidFill>
                  <a:srgbClr val="000000"/>
                </a:solidFill>
                <a:latin typeface="Arial"/>
              </a:rPr>
              <a:t>Linear combinations are particularly attractive because they are simple to compute and analytically tractable.</a:t>
            </a:r>
            <a:endParaRPr lang="en-US" dirty="0">
              <a:solidFill>
                <a:srgbClr val="000000"/>
              </a:solidFill>
              <a:latin typeface="Arial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3F404-21C2-4A36-4BD0-C86540321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8</a:t>
            </a:fld>
            <a:endParaRPr lang="en-US" dirty="0"/>
          </a:p>
        </p:txBody>
      </p:sp>
      <p:pic>
        <p:nvPicPr>
          <p:cNvPr id="57349" name="Picture 6">
            <a:extLst>
              <a:ext uri="{FF2B5EF4-FFF2-40B4-BE49-F238E27FC236}">
                <a16:creationId xmlns:a16="http://schemas.microsoft.com/office/drawing/2014/main" id="{18E26150-8F9D-0FE1-BE8A-24F75ED8C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29854" y="2705100"/>
            <a:ext cx="7121525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023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16082-577C-558B-816F-DCCA4D7DB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Dimensionality Reduction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72A39-FFE9-5D62-A438-0AE96CB8E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75358" cy="4351338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600" dirty="0">
                <a:latin typeface="NimbusSanL-Regu"/>
              </a:rPr>
              <a:t>Two classical approaches for finding optimal linear transformations are:</a:t>
            </a:r>
          </a:p>
          <a:p>
            <a:pPr eaLnBrk="1" hangingPunct="1"/>
            <a:endParaRPr lang="en-US" altLang="en-US" sz="2600" dirty="0">
              <a:latin typeface="NimbusSanL-Regu"/>
            </a:endParaRPr>
          </a:p>
          <a:p>
            <a:pPr lvl="1"/>
            <a:r>
              <a:rPr lang="en-US" altLang="en-US" sz="2600" b="1" dirty="0">
                <a:latin typeface="NimbusSanL-ReguItal"/>
              </a:rPr>
              <a:t>Principal Components Analysis (PCA): </a:t>
            </a:r>
            <a:r>
              <a:rPr lang="en-US" altLang="en-US" sz="2600" dirty="0">
                <a:latin typeface="NimbusSanL-Regu"/>
              </a:rPr>
              <a:t>Seeks a projection that preserves as much information in the data as possible (in a least-squares sense).</a:t>
            </a:r>
          </a:p>
          <a:p>
            <a:pPr lvl="1"/>
            <a:endParaRPr lang="en-US" altLang="en-US" sz="2600" dirty="0">
              <a:latin typeface="NimbusSanL-Regu"/>
            </a:endParaRPr>
          </a:p>
          <a:p>
            <a:pPr marL="457200" lvl="1" indent="0">
              <a:buNone/>
            </a:pPr>
            <a:endParaRPr lang="en-US" altLang="en-US" sz="2600" dirty="0">
              <a:latin typeface="NimbusSanL-Regu"/>
            </a:endParaRPr>
          </a:p>
          <a:p>
            <a:pPr lvl="1"/>
            <a:r>
              <a:rPr lang="en-US" altLang="en-US" sz="2600" b="1" dirty="0">
                <a:latin typeface="NimbusSanL-ReguItal"/>
              </a:rPr>
              <a:t>Linear Discriminant Analysis (LDA): </a:t>
            </a:r>
            <a:r>
              <a:rPr lang="en-US" altLang="en-US" sz="2600" dirty="0">
                <a:latin typeface="NimbusSanL-Regu"/>
              </a:rPr>
              <a:t>Seeks a projection that best separates the data (in a least-squares sense).</a:t>
            </a:r>
            <a:endParaRPr lang="en-US" altLang="en-US" sz="26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42A71-DAA6-2C2A-2A86-2950A19A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9</a:t>
            </a:fld>
            <a:endParaRPr lang="en-US" dirty="0"/>
          </a:p>
        </p:txBody>
      </p:sp>
      <p:pic>
        <p:nvPicPr>
          <p:cNvPr id="5" name="Picture 9" descr="dudafigs03_Page_03">
            <a:extLst>
              <a:ext uri="{FF2B5EF4-FFF2-40B4-BE49-F238E27FC236}">
                <a16:creationId xmlns:a16="http://schemas.microsoft.com/office/drawing/2014/main" id="{D91D992A-56AD-80FE-65D4-0F1358BFE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76" t="29980" r="28094" b="40852"/>
          <a:stretch>
            <a:fillRect/>
          </a:stretch>
        </p:blipFill>
        <p:spPr>
          <a:xfrm>
            <a:off x="8213558" y="1825625"/>
            <a:ext cx="3651484" cy="35832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0651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3A9A-A88C-B1D1-A6D0-78AC06208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 Component Analysis (PCA)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EAA26-5735-33B5-F627-E80D583B3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Principal Component Analysis (PCA) is a linear transformation that chooses a new coordinate system such that:</a:t>
            </a:r>
          </a:p>
          <a:p>
            <a:pPr lvl="1"/>
            <a:r>
              <a:rPr lang="en-US" dirty="0"/>
              <a:t>Greatest variance by any projection of the dataset comes to lie on the first axis (usually called the first principal component)</a:t>
            </a:r>
          </a:p>
          <a:p>
            <a:pPr lvl="1"/>
            <a:r>
              <a:rPr lang="en-US" dirty="0"/>
              <a:t>The second variance on the second axis of the new coordinate system (second principal component)</a:t>
            </a:r>
          </a:p>
          <a:p>
            <a:pPr lvl="1"/>
            <a:endParaRPr lang="en-US" dirty="0"/>
          </a:p>
          <a:p>
            <a:r>
              <a:rPr lang="en-US" dirty="0"/>
              <a:t>PCA can be used for reducing dimensionality by eliminating some principal components (the later components).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CE105-2DE1-4BEC-46B6-F67FCBEBE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35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04F62-B611-5D4D-1145-1BC737F39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Dimensionality Reduction as Data Compression: An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088F5-C302-8D5F-3F90-6AE2849E8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Reducing the dimensionality essentially compress the data (we can have the same information with fewer storage requirements).</a:t>
            </a:r>
          </a:p>
          <a:p>
            <a:endParaRPr lang="en-US" dirty="0"/>
          </a:p>
          <a:p>
            <a:r>
              <a:rPr lang="en-US" dirty="0"/>
              <a:t>Consider the following points: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each number takes 1 byte, then we need 18 bytes to store all values.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16B8D-FA00-EEE4-9CDD-70664EE43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11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C95629E-EA11-B476-9D55-09192BA01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03546"/>
              </p:ext>
            </p:extLst>
          </p:nvPr>
        </p:nvGraphicFramePr>
        <p:xfrm>
          <a:off x="1429566" y="3613479"/>
          <a:ext cx="605510" cy="19182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5510">
                  <a:extLst>
                    <a:ext uri="{9D8B030D-6E8A-4147-A177-3AD203B41FA5}">
                      <a16:colId xmlns:a16="http://schemas.microsoft.com/office/drawing/2014/main" val="659200209"/>
                    </a:ext>
                  </a:extLst>
                </a:gridCol>
              </a:tblGrid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4346920"/>
                  </a:ext>
                </a:extLst>
              </a:tr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171984"/>
                  </a:ext>
                </a:extLst>
              </a:tr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644743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BD4882-292D-A1CD-5137-64609FF519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473997"/>
              </p:ext>
            </p:extLst>
          </p:nvPr>
        </p:nvGraphicFramePr>
        <p:xfrm>
          <a:off x="3077766" y="3613479"/>
          <a:ext cx="605510" cy="19182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5510">
                  <a:extLst>
                    <a:ext uri="{9D8B030D-6E8A-4147-A177-3AD203B41FA5}">
                      <a16:colId xmlns:a16="http://schemas.microsoft.com/office/drawing/2014/main" val="659200209"/>
                    </a:ext>
                  </a:extLst>
                </a:gridCol>
              </a:tblGrid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4346920"/>
                  </a:ext>
                </a:extLst>
              </a:tr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171984"/>
                  </a:ext>
                </a:extLst>
              </a:tr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644743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162AA22-A94F-A6ED-A923-E346093DE8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433170"/>
              </p:ext>
            </p:extLst>
          </p:nvPr>
        </p:nvGraphicFramePr>
        <p:xfrm>
          <a:off x="4725966" y="3613479"/>
          <a:ext cx="605510" cy="19182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5510">
                  <a:extLst>
                    <a:ext uri="{9D8B030D-6E8A-4147-A177-3AD203B41FA5}">
                      <a16:colId xmlns:a16="http://schemas.microsoft.com/office/drawing/2014/main" val="659200209"/>
                    </a:ext>
                  </a:extLst>
                </a:gridCol>
              </a:tblGrid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4346920"/>
                  </a:ext>
                </a:extLst>
              </a:tr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171984"/>
                  </a:ext>
                </a:extLst>
              </a:tr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644743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AD12D71-A143-E5CE-D38E-07FAFE0B9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390020"/>
              </p:ext>
            </p:extLst>
          </p:nvPr>
        </p:nvGraphicFramePr>
        <p:xfrm>
          <a:off x="6374166" y="3613479"/>
          <a:ext cx="605510" cy="19182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5510">
                  <a:extLst>
                    <a:ext uri="{9D8B030D-6E8A-4147-A177-3AD203B41FA5}">
                      <a16:colId xmlns:a16="http://schemas.microsoft.com/office/drawing/2014/main" val="659200209"/>
                    </a:ext>
                  </a:extLst>
                </a:gridCol>
              </a:tblGrid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4346920"/>
                  </a:ext>
                </a:extLst>
              </a:tr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171984"/>
                  </a:ext>
                </a:extLst>
              </a:tr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644743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DD20251-4736-E89B-71E0-1A4356775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224901"/>
              </p:ext>
            </p:extLst>
          </p:nvPr>
        </p:nvGraphicFramePr>
        <p:xfrm>
          <a:off x="8022366" y="3613479"/>
          <a:ext cx="605510" cy="19182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5510">
                  <a:extLst>
                    <a:ext uri="{9D8B030D-6E8A-4147-A177-3AD203B41FA5}">
                      <a16:colId xmlns:a16="http://schemas.microsoft.com/office/drawing/2014/main" val="659200209"/>
                    </a:ext>
                  </a:extLst>
                </a:gridCol>
              </a:tblGrid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4346920"/>
                  </a:ext>
                </a:extLst>
              </a:tr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171984"/>
                  </a:ext>
                </a:extLst>
              </a:tr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644743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C8AC304-BF9B-0887-F7CA-29640445CF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8758406"/>
              </p:ext>
            </p:extLst>
          </p:nvPr>
        </p:nvGraphicFramePr>
        <p:xfrm>
          <a:off x="9670567" y="3604869"/>
          <a:ext cx="605510" cy="19182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5510">
                  <a:extLst>
                    <a:ext uri="{9D8B030D-6E8A-4147-A177-3AD203B41FA5}">
                      <a16:colId xmlns:a16="http://schemas.microsoft.com/office/drawing/2014/main" val="659200209"/>
                    </a:ext>
                  </a:extLst>
                </a:gridCol>
              </a:tblGrid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4346920"/>
                  </a:ext>
                </a:extLst>
              </a:tr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171984"/>
                  </a:ext>
                </a:extLst>
              </a:tr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6447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3103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EA932-2FFF-3C0A-6ABE-BD8DA174E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2715F-5154-A553-8D9E-5E5738470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Dimensionality Reduction as Data Compression: An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64A3F-16C3-3C10-E426-2A9178C2A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However, the points are related to one another geometrically</a:t>
            </a:r>
          </a:p>
          <a:p>
            <a:pPr lvl="1"/>
            <a:r>
              <a:rPr lang="en-US" dirty="0"/>
              <a:t>Each point is scaling of the first value by some factor.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2		  4		      3			5		   6</a:t>
            </a:r>
          </a:p>
          <a:p>
            <a:r>
              <a:rPr lang="en-US" dirty="0"/>
              <a:t>Store one direction and the multiplying factors.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E0CC6-1184-2872-0336-EF0C37A3A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12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03E1866-0BBB-8025-641D-E609A7CC7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799447"/>
              </p:ext>
            </p:extLst>
          </p:nvPr>
        </p:nvGraphicFramePr>
        <p:xfrm>
          <a:off x="1049718" y="3042173"/>
          <a:ext cx="605510" cy="19182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5510">
                  <a:extLst>
                    <a:ext uri="{9D8B030D-6E8A-4147-A177-3AD203B41FA5}">
                      <a16:colId xmlns:a16="http://schemas.microsoft.com/office/drawing/2014/main" val="659200209"/>
                    </a:ext>
                  </a:extLst>
                </a:gridCol>
              </a:tblGrid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4346920"/>
                  </a:ext>
                </a:extLst>
              </a:tr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171984"/>
                  </a:ext>
                </a:extLst>
              </a:tr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644743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F42A3B-1B5E-9872-34BE-B7C13029FF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475844"/>
              </p:ext>
            </p:extLst>
          </p:nvPr>
        </p:nvGraphicFramePr>
        <p:xfrm>
          <a:off x="2103835" y="3042173"/>
          <a:ext cx="605510" cy="19182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5510">
                  <a:extLst>
                    <a:ext uri="{9D8B030D-6E8A-4147-A177-3AD203B41FA5}">
                      <a16:colId xmlns:a16="http://schemas.microsoft.com/office/drawing/2014/main" val="659200209"/>
                    </a:ext>
                  </a:extLst>
                </a:gridCol>
              </a:tblGrid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4346920"/>
                  </a:ext>
                </a:extLst>
              </a:tr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171984"/>
                  </a:ext>
                </a:extLst>
              </a:tr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644743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4739DE7-7A9D-9EC8-A477-7F896DB7D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539253"/>
              </p:ext>
            </p:extLst>
          </p:nvPr>
        </p:nvGraphicFramePr>
        <p:xfrm>
          <a:off x="4212069" y="3042173"/>
          <a:ext cx="605510" cy="19182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5510">
                  <a:extLst>
                    <a:ext uri="{9D8B030D-6E8A-4147-A177-3AD203B41FA5}">
                      <a16:colId xmlns:a16="http://schemas.microsoft.com/office/drawing/2014/main" val="659200209"/>
                    </a:ext>
                  </a:extLst>
                </a:gridCol>
              </a:tblGrid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4346920"/>
                  </a:ext>
                </a:extLst>
              </a:tr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171984"/>
                  </a:ext>
                </a:extLst>
              </a:tr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644743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606F49C-F036-00BD-5C4A-F163C1AD7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454484"/>
              </p:ext>
            </p:extLst>
          </p:nvPr>
        </p:nvGraphicFramePr>
        <p:xfrm>
          <a:off x="6320303" y="3042173"/>
          <a:ext cx="605510" cy="19182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5510">
                  <a:extLst>
                    <a:ext uri="{9D8B030D-6E8A-4147-A177-3AD203B41FA5}">
                      <a16:colId xmlns:a16="http://schemas.microsoft.com/office/drawing/2014/main" val="659200209"/>
                    </a:ext>
                  </a:extLst>
                </a:gridCol>
              </a:tblGrid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4346920"/>
                  </a:ext>
                </a:extLst>
              </a:tr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171984"/>
                  </a:ext>
                </a:extLst>
              </a:tr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6447437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9129E48-7830-617A-B9B7-3262531F67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4472707"/>
              </p:ext>
            </p:extLst>
          </p:nvPr>
        </p:nvGraphicFramePr>
        <p:xfrm>
          <a:off x="8428537" y="3042173"/>
          <a:ext cx="605510" cy="19182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5510">
                  <a:extLst>
                    <a:ext uri="{9D8B030D-6E8A-4147-A177-3AD203B41FA5}">
                      <a16:colId xmlns:a16="http://schemas.microsoft.com/office/drawing/2014/main" val="659200209"/>
                    </a:ext>
                  </a:extLst>
                </a:gridCol>
              </a:tblGrid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4346920"/>
                  </a:ext>
                </a:extLst>
              </a:tr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171984"/>
                  </a:ext>
                </a:extLst>
              </a:tr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644743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D7A180F-B8E7-3892-DA95-2EEE67D81F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14238"/>
              </p:ext>
            </p:extLst>
          </p:nvPr>
        </p:nvGraphicFramePr>
        <p:xfrm>
          <a:off x="10536772" y="3042173"/>
          <a:ext cx="605510" cy="19182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5510">
                  <a:extLst>
                    <a:ext uri="{9D8B030D-6E8A-4147-A177-3AD203B41FA5}">
                      <a16:colId xmlns:a16="http://schemas.microsoft.com/office/drawing/2014/main" val="659200209"/>
                    </a:ext>
                  </a:extLst>
                </a:gridCol>
              </a:tblGrid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4346920"/>
                  </a:ext>
                </a:extLst>
              </a:tr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171984"/>
                  </a:ext>
                </a:extLst>
              </a:tr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644743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18628E4-4F77-17E4-C1C0-36367E1A1D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483050"/>
              </p:ext>
            </p:extLst>
          </p:nvPr>
        </p:nvGraphicFramePr>
        <p:xfrm>
          <a:off x="3157952" y="3042173"/>
          <a:ext cx="605510" cy="19182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5510">
                  <a:extLst>
                    <a:ext uri="{9D8B030D-6E8A-4147-A177-3AD203B41FA5}">
                      <a16:colId xmlns:a16="http://schemas.microsoft.com/office/drawing/2014/main" val="659200209"/>
                    </a:ext>
                  </a:extLst>
                </a:gridCol>
              </a:tblGrid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4346920"/>
                  </a:ext>
                </a:extLst>
              </a:tr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171984"/>
                  </a:ext>
                </a:extLst>
              </a:tr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6447437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ADE9C0A-D456-518A-7B4A-D83C5A07AC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406181"/>
              </p:ext>
            </p:extLst>
          </p:nvPr>
        </p:nvGraphicFramePr>
        <p:xfrm>
          <a:off x="5266186" y="3042173"/>
          <a:ext cx="605510" cy="19182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5510">
                  <a:extLst>
                    <a:ext uri="{9D8B030D-6E8A-4147-A177-3AD203B41FA5}">
                      <a16:colId xmlns:a16="http://schemas.microsoft.com/office/drawing/2014/main" val="659200209"/>
                    </a:ext>
                  </a:extLst>
                </a:gridCol>
              </a:tblGrid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4346920"/>
                  </a:ext>
                </a:extLst>
              </a:tr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171984"/>
                  </a:ext>
                </a:extLst>
              </a:tr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644743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C0E8594-CA6C-28E4-5748-2A0161039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608926"/>
              </p:ext>
            </p:extLst>
          </p:nvPr>
        </p:nvGraphicFramePr>
        <p:xfrm>
          <a:off x="7374420" y="3042173"/>
          <a:ext cx="605510" cy="19182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5510">
                  <a:extLst>
                    <a:ext uri="{9D8B030D-6E8A-4147-A177-3AD203B41FA5}">
                      <a16:colId xmlns:a16="http://schemas.microsoft.com/office/drawing/2014/main" val="659200209"/>
                    </a:ext>
                  </a:extLst>
                </a:gridCol>
              </a:tblGrid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4346920"/>
                  </a:ext>
                </a:extLst>
              </a:tr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171984"/>
                  </a:ext>
                </a:extLst>
              </a:tr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644743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9F77C78-0522-E6DE-AA54-C00AAEB8A0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257101"/>
              </p:ext>
            </p:extLst>
          </p:nvPr>
        </p:nvGraphicFramePr>
        <p:xfrm>
          <a:off x="9482654" y="3042173"/>
          <a:ext cx="605510" cy="19182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5510">
                  <a:extLst>
                    <a:ext uri="{9D8B030D-6E8A-4147-A177-3AD203B41FA5}">
                      <a16:colId xmlns:a16="http://schemas.microsoft.com/office/drawing/2014/main" val="659200209"/>
                    </a:ext>
                  </a:extLst>
                </a:gridCol>
              </a:tblGrid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4346920"/>
                  </a:ext>
                </a:extLst>
              </a:tr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7171984"/>
                  </a:ext>
                </a:extLst>
              </a:tr>
              <a:tr h="63941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6447437"/>
                  </a:ext>
                </a:extLst>
              </a:tr>
            </a:tbl>
          </a:graphicData>
        </a:graphic>
      </p:graphicFrame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BF0A154-9098-77BE-F974-68434AC28DC2}"/>
              </a:ext>
            </a:extLst>
          </p:cNvPr>
          <p:cNvSpPr/>
          <p:nvPr/>
        </p:nvSpPr>
        <p:spPr>
          <a:xfrm>
            <a:off x="923278" y="2840854"/>
            <a:ext cx="1953087" cy="226380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FC386E5-D4F1-182D-7049-7CE764B9AE24}"/>
              </a:ext>
            </a:extLst>
          </p:cNvPr>
          <p:cNvSpPr/>
          <p:nvPr/>
        </p:nvSpPr>
        <p:spPr>
          <a:xfrm>
            <a:off x="3002805" y="2850919"/>
            <a:ext cx="1953087" cy="226380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73E674-853F-C0A4-0E05-7FBB11A46EBC}"/>
              </a:ext>
            </a:extLst>
          </p:cNvPr>
          <p:cNvSpPr/>
          <p:nvPr/>
        </p:nvSpPr>
        <p:spPr>
          <a:xfrm>
            <a:off x="5082332" y="2840854"/>
            <a:ext cx="1953087" cy="226380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DF55462-090F-9156-B249-2C830B8BEB87}"/>
              </a:ext>
            </a:extLst>
          </p:cNvPr>
          <p:cNvSpPr/>
          <p:nvPr/>
        </p:nvSpPr>
        <p:spPr>
          <a:xfrm>
            <a:off x="7221425" y="2840854"/>
            <a:ext cx="1953087" cy="226380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5D87FA7-E7A9-17CA-DC25-35DFE0842C0D}"/>
              </a:ext>
            </a:extLst>
          </p:cNvPr>
          <p:cNvSpPr/>
          <p:nvPr/>
        </p:nvSpPr>
        <p:spPr>
          <a:xfrm>
            <a:off x="9315635" y="2850919"/>
            <a:ext cx="1953087" cy="226380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002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CE0D8-14D0-3BD2-6F80-DF15C662E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5D15FBF3-5118-C05D-7F0B-93F1CD226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5877" y="2036640"/>
            <a:ext cx="4200149" cy="32487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9DF08F-66DC-3E17-A711-391110268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Geometrical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61FDE-5329-307A-61B9-F5CA1CAF3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22432" cy="4351338"/>
          </a:xfrm>
        </p:spPr>
        <p:txBody>
          <a:bodyPr>
            <a:normAutofit/>
          </a:bodyPr>
          <a:lstStyle/>
          <a:p>
            <a:r>
              <a:rPr lang="en-US" dirty="0"/>
              <a:t>As the point has 3 dimensions, it can be plotted in 3-dimensional space.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For this simple example, all the points lie on one line</a:t>
            </a:r>
          </a:p>
          <a:p>
            <a:pPr lvl="1"/>
            <a:r>
              <a:rPr lang="en-US" dirty="0"/>
              <a:t>That line can be viewed as a 1D subspace of the original 3D space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4ABB99-5811-11CB-3EF7-ECD7EC134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180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6E109-C247-3F65-14E5-EE5F0A5D3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64F80-9875-7EBD-8E53-F3EB40157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Geometrical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6C014-0F17-71A7-5298-A63959F19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22432" cy="4351338"/>
          </a:xfrm>
        </p:spPr>
        <p:txBody>
          <a:bodyPr>
            <a:normAutofit/>
          </a:bodyPr>
          <a:lstStyle/>
          <a:p>
            <a:r>
              <a:rPr lang="en-US" dirty="0"/>
              <a:t>Consider a new coordinate system where the first axis is the direction of the red line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this new coordinate system, every point has only one non-zero coordinate</a:t>
            </a:r>
          </a:p>
          <a:p>
            <a:pPr lvl="1"/>
            <a:r>
              <a:rPr lang="en-US" dirty="0"/>
              <a:t>The direction of the line needs to be stored</a:t>
            </a:r>
          </a:p>
          <a:p>
            <a:pPr lvl="1"/>
            <a:r>
              <a:rPr lang="en-US" dirty="0"/>
              <a:t>And the non-zero coordinate for each point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9BE6E8-B47D-25C2-8EB8-0FC2CFF9F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14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60E0AD-3586-107D-0152-E93644423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699" y="2321169"/>
            <a:ext cx="4238278" cy="280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894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ED42E-1813-017C-6E32-724B57244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“Compression” Using PCA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8F53A-FD35-DDD9-15B4-D256C936C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set of points in d dimensions, how can we know if they can be “compressed” as seen in the previous example?</a:t>
            </a:r>
          </a:p>
          <a:p>
            <a:endParaRPr lang="en-US" dirty="0"/>
          </a:p>
          <a:p>
            <a:r>
              <a:rPr lang="en-US" dirty="0"/>
              <a:t>We can use PCA to find out which directions to “compress” the data into.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80C9F-DD1D-1509-D140-F4D2786A2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15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00D0D5-CF0D-0E56-2874-0A563484C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441" y="3753660"/>
            <a:ext cx="6828438" cy="296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820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5C6BB-1323-C77E-E6EC-3BD7D4821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exactly is PCA doing?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CCC90-0B85-FE88-6113-D3808081C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 the previous example, PCA rebuilds the coordinate system of the input data by selecting:</a:t>
            </a:r>
          </a:p>
          <a:p>
            <a:pPr lvl="1"/>
            <a:r>
              <a:rPr lang="en-US" dirty="0"/>
              <a:t>The direction with the largest variance as the first new base direction</a:t>
            </a:r>
          </a:p>
          <a:p>
            <a:pPr lvl="1"/>
            <a:r>
              <a:rPr lang="en-US" dirty="0"/>
              <a:t>The direction with the second largest variance as the second new base direction </a:t>
            </a:r>
          </a:p>
          <a:p>
            <a:pPr lvl="1"/>
            <a:r>
              <a:rPr lang="en-US" dirty="0"/>
              <a:t>And so on…</a:t>
            </a:r>
          </a:p>
          <a:p>
            <a:pPr lvl="1"/>
            <a:endParaRPr lang="en-US" dirty="0"/>
          </a:p>
          <a:p>
            <a:r>
              <a:rPr lang="en-US" dirty="0"/>
              <a:t>The goal, then, becomes to find the direction with the largest variance.</a:t>
            </a:r>
          </a:p>
          <a:p>
            <a:endParaRPr lang="en-US" dirty="0"/>
          </a:p>
          <a:p>
            <a:r>
              <a:rPr lang="en-US" dirty="0"/>
              <a:t>This can be accomplished by calculating eigen vectors for the covariance matrix of the data.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6D4F3-FC88-8BF3-9980-EAB241997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070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B22A1-5623-98A0-81E6-562A1841E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93CBC-7A71-5695-6991-08BAE8BA5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Review – 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9E2C8-7238-CEE2-A29F-D69FDEE79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Simply put, variance describes the spread of the data i.e., how far a set of random data point is spread out from their average.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39D68-6931-E87B-65E2-5599AFC22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17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56B5BF-A642-6D75-6D93-D89DBED67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074" y="2926954"/>
            <a:ext cx="5473178" cy="34293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D4F951-2FF8-9B41-B7C6-C6321C89F3D2}"/>
                  </a:ext>
                </a:extLst>
              </p:cNvPr>
              <p:cNvSpPr txBox="1"/>
              <p:nvPr/>
            </p:nvSpPr>
            <p:spPr>
              <a:xfrm>
                <a:off x="1351547" y="4220190"/>
                <a:ext cx="4744453" cy="8429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smtClean="0"/>
                        <m:t>Variance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−1 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D4F951-2FF8-9B41-B7C6-C6321C89F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547" y="4220190"/>
                <a:ext cx="4744453" cy="8429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6528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3B25A-F279-C0F8-378D-2475CFB88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926D7-0195-9894-F009-986CDFDF2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Covariance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AC3BA-3CDC-CCA3-3612-19A94AD37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Covariance is a measure of the joint variability of two random variables</a:t>
            </a:r>
          </a:p>
          <a:p>
            <a:pPr lvl="1"/>
            <a:r>
              <a:rPr lang="en-US" dirty="0"/>
              <a:t>If the greater values of one variable mainly correspond with the greater values of the other variable, and the same holds true for lesser values (similar behavior), the covariance is positive</a:t>
            </a:r>
          </a:p>
          <a:p>
            <a:pPr lvl="1"/>
            <a:r>
              <a:rPr lang="en-US" dirty="0"/>
              <a:t>In the opposite case, when the greater values of one variable mainly correspond to the lesser values of the other (opposite behavior), the covariance is negative.</a:t>
            </a:r>
          </a:p>
          <a:p>
            <a:pPr lvl="1"/>
            <a:r>
              <a:rPr lang="en-US" dirty="0"/>
              <a:t>The sign of the covariance shows the linear relationship between the variables.</a:t>
            </a:r>
          </a:p>
          <a:p>
            <a:pPr lvl="1"/>
            <a:r>
              <a:rPr lang="en-US" dirty="0"/>
              <a:t>The magnitude of the covariance is not normalized and depends on the  magnitude of the variables (as opposed to correlation).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2FBAD3-3E59-5143-7751-37E8D7E9E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501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CD6A3-87F7-7932-BEB9-76D0B3CC2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128B7-50AB-4726-4908-52950C691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Covariance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20C24-E10C-82F9-FACA-0B712A7A9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40705" cy="4351338"/>
          </a:xfrm>
        </p:spPr>
        <p:txBody>
          <a:bodyPr>
            <a:normAutofit/>
          </a:bodyPr>
          <a:lstStyle/>
          <a:p>
            <a:r>
              <a:rPr lang="en-US" dirty="0"/>
              <a:t>Covariance is always between two dimensions (</a:t>
            </a:r>
            <a:r>
              <a:rPr lang="en-US" dirty="0" err="1"/>
              <a:t>x,y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/>
              <a:t>For a dataset that has 3 dimensions (</a:t>
            </a:r>
            <a:r>
              <a:rPr lang="en-US" dirty="0" err="1"/>
              <a:t>x,y,z</a:t>
            </a:r>
            <a:r>
              <a:rPr lang="en-US" dirty="0"/>
              <a:t>) the covariance would be calculated between:</a:t>
            </a:r>
          </a:p>
          <a:p>
            <a:pPr lvl="1"/>
            <a:r>
              <a:rPr lang="en-US" dirty="0"/>
              <a:t>x and y</a:t>
            </a:r>
          </a:p>
          <a:p>
            <a:pPr lvl="1"/>
            <a:r>
              <a:rPr lang="en-US" dirty="0"/>
              <a:t>x and z</a:t>
            </a:r>
          </a:p>
          <a:p>
            <a:pPr lvl="1"/>
            <a:r>
              <a:rPr lang="en-US" dirty="0"/>
              <a:t>y and z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3BD31-1AAF-CC9C-C96B-5F5868BC8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19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199FB3-1CC8-58A1-4232-D92BDE3E3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905" y="271138"/>
            <a:ext cx="6408468" cy="31089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503B73-8CE5-FDF8-E379-F41F60120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5945" y="3523341"/>
            <a:ext cx="6729310" cy="283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47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4D583-88CB-87B9-1973-7D730D734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DC6C6-66A3-B06B-1974-B35F397F5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Covariance vs Correlation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8DEC4-359B-14F2-734A-D563C9973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02E16-1877-5401-066F-BC7C988F0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20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ACF71B5-C129-4EED-E2D1-AA74DD28EA13}"/>
                  </a:ext>
                </a:extLst>
              </p:cNvPr>
              <p:cNvSpPr txBox="1"/>
              <p:nvPr/>
            </p:nvSpPr>
            <p:spPr>
              <a:xfrm>
                <a:off x="0" y="4025382"/>
                <a:ext cx="6368716" cy="1251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𝑐𝑜𝑣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−1)</m:t>
                          </m:r>
                        </m:den>
                      </m:f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ACF71B5-C129-4EED-E2D1-AA74DD28E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025382"/>
                <a:ext cx="6368716" cy="12514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8D20872-19CC-627D-D8B0-B0247DD7A5FC}"/>
                  </a:ext>
                </a:extLst>
              </p:cNvPr>
              <p:cNvSpPr txBox="1"/>
              <p:nvPr/>
            </p:nvSpPr>
            <p:spPr>
              <a:xfrm>
                <a:off x="5823284" y="1564932"/>
                <a:ext cx="6368716" cy="1341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𝑐𝑜𝑟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4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4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24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4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4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8D20872-19CC-627D-D8B0-B0247DD7A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284" y="1564932"/>
                <a:ext cx="6368716" cy="13410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155CE05-B8E6-0740-C7F1-E959342EEBF7}"/>
                  </a:ext>
                </a:extLst>
              </p:cNvPr>
              <p:cNvSpPr txBox="1"/>
              <p:nvPr/>
            </p:nvSpPr>
            <p:spPr>
              <a:xfrm>
                <a:off x="5823284" y="3813389"/>
                <a:ext cx="6368716" cy="16355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𝐶𝑂𝑉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𝑂𝑉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𝐶𝑂𝑉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𝐶𝑂𝑉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𝐶𝑂𝑉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𝐶𝑂𝑉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𝐶𝑂𝑉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𝐶𝑂𝑉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𝐶𝑂𝑉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𝐶𝑂𝑉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𝑍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155CE05-B8E6-0740-C7F1-E959342EE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284" y="3813389"/>
                <a:ext cx="6368716" cy="16355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0A786C9-313A-E9B2-83FE-936CF405766A}"/>
                  </a:ext>
                </a:extLst>
              </p:cNvPr>
              <p:cNvSpPr txBox="1"/>
              <p:nvPr/>
            </p:nvSpPr>
            <p:spPr>
              <a:xfrm>
                <a:off x="361194" y="1680572"/>
                <a:ext cx="5209953" cy="920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kern="1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𝑐𝑜𝑟</m:t>
                      </m:r>
                      <m:r>
                        <a:rPr lang="en-US" sz="2400" i="1" kern="1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i="1" kern="1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2400" i="1" kern="1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400" i="1" kern="1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2400" i="1" kern="1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−1) </m:t>
                          </m:r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b="0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0A786C9-313A-E9B2-83FE-936CF4057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194" y="1680572"/>
                <a:ext cx="5209953" cy="9203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4B3E49-7087-54F7-E849-1FBA6200FA70}"/>
                  </a:ext>
                </a:extLst>
              </p:cNvPr>
              <p:cNvSpPr txBox="1"/>
              <p:nvPr/>
            </p:nvSpPr>
            <p:spPr>
              <a:xfrm>
                <a:off x="2911642" y="5572610"/>
                <a:ext cx="636871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𝑐𝑜𝑣</m:t>
                      </m:r>
                      <m:d>
                        <m:dPr>
                          <m:ctrlP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𝑐𝑜𝑣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4B3E49-7087-54F7-E849-1FBA6200F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1642" y="5572610"/>
                <a:ext cx="6368716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6623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A232D-5D28-72F8-5FE3-79CEFF63C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exactly is PCA doing?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BD4EF-3E7E-76A9-0B11-EB44BAF4A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PCA tries to identify the subspace in which the data approximately lies in.</a:t>
            </a:r>
          </a:p>
          <a:p>
            <a:endParaRPr lang="en-US" dirty="0"/>
          </a:p>
          <a:p>
            <a:r>
              <a:rPr lang="en-US" dirty="0"/>
              <a:t>PCA uses an orthogonal transformation on the coordinate system to convert a set of observations of possibly correlated variables into a set of values of linearly uncorrelated variables.</a:t>
            </a:r>
          </a:p>
          <a:p>
            <a:pPr lvl="1"/>
            <a:r>
              <a:rPr lang="en-US" dirty="0"/>
              <a:t>The number of these new components is less than or equal to min{d, N} thus reducing the dimensions.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FB723-A340-9198-0CF0-B71058A1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2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73B5A-1336-92EE-C426-A1AD4A685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for Applying PCA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6FF85-D05C-EC43-EEC6-37723D43F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Perform standardization on the data by centering the mean on 0.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the covariance matrix of </a:t>
            </a:r>
            <a:r>
              <a:rPr lang="en-US" i="1" dirty="0" err="1"/>
              <a:t>nxn</a:t>
            </a:r>
            <a:r>
              <a:rPr lang="en-US" i="1" dirty="0"/>
              <a:t> </a:t>
            </a:r>
            <a:r>
              <a:rPr lang="en-US" dirty="0"/>
              <a:t>dimensions.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the Eigenvectors and Eigenvalues of the covariance matrix to identify the Principal Components.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Order the Eigenvectors based on their Eigenvalues and select the top K values.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Using these top K values, transform the original data to the new axis by matrix multiplication.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FA903-61FF-786D-E9F5-620B8BE71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986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71ECB-B231-A4A4-FB8E-976F5C309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87EBD-34A4-9AF6-6FC1-BFEB8067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23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4A3C37-F8FC-5573-EAAD-235BB87E4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087" y="1839927"/>
            <a:ext cx="3517484" cy="3914361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57D2283-E80C-2CF6-CFA5-413EC615B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137497"/>
              </p:ext>
            </p:extLst>
          </p:nvPr>
        </p:nvGraphicFramePr>
        <p:xfrm>
          <a:off x="580797" y="1523323"/>
          <a:ext cx="4745182" cy="472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2591">
                  <a:extLst>
                    <a:ext uri="{9D8B030D-6E8A-4147-A177-3AD203B41FA5}">
                      <a16:colId xmlns:a16="http://schemas.microsoft.com/office/drawing/2014/main" val="2276031802"/>
                    </a:ext>
                  </a:extLst>
                </a:gridCol>
                <a:gridCol w="2372591">
                  <a:extLst>
                    <a:ext uri="{9D8B030D-6E8A-4147-A177-3AD203B41FA5}">
                      <a16:colId xmlns:a16="http://schemas.microsoft.com/office/drawing/2014/main" val="38455151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4823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137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9070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4086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2131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4417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713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997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8097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7655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4118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Mean:  1.81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Mean:  1.91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806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7508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DCA79-90EF-8A4F-D93E-D55B73B06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8BD9A-F17B-4BA5-1EBC-CEFEAA1A1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5A8A5-AC0F-C705-0DD3-AC69EDE77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24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1D6F478-A9AD-A073-EEC3-E3E4C8524E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596162"/>
              </p:ext>
            </p:extLst>
          </p:nvPr>
        </p:nvGraphicFramePr>
        <p:xfrm>
          <a:off x="580797" y="1523323"/>
          <a:ext cx="4745182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2591">
                  <a:extLst>
                    <a:ext uri="{9D8B030D-6E8A-4147-A177-3AD203B41FA5}">
                      <a16:colId xmlns:a16="http://schemas.microsoft.com/office/drawing/2014/main" val="2276031802"/>
                    </a:ext>
                  </a:extLst>
                </a:gridCol>
                <a:gridCol w="2372591">
                  <a:extLst>
                    <a:ext uri="{9D8B030D-6E8A-4147-A177-3AD203B41FA5}">
                      <a16:colId xmlns:a16="http://schemas.microsoft.com/office/drawing/2014/main" val="38455151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 – Mean of 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Y – Mean of 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4823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137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-1.31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-1.21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9070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4086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0.29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2131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1.09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4417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0.79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713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-0.31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997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-0.81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-0.81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8097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-0.31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-0.31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7655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-0.71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-1.01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411825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0CACE3B-7265-0F6F-0C4A-FD1531352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771" y="2153679"/>
            <a:ext cx="3393657" cy="332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434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9FF3F-2363-71C3-4FA0-A556028A5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4A5C4-4B28-B404-E55E-095305740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0FE3F-D596-58F8-0DDE-8D58DE88D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25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B249B25-D7EA-C51C-F759-DF077A3EC0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335587"/>
              </p:ext>
            </p:extLst>
          </p:nvPr>
        </p:nvGraphicFramePr>
        <p:xfrm>
          <a:off x="26433" y="1452132"/>
          <a:ext cx="7705862" cy="5374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778">
                  <a:extLst>
                    <a:ext uri="{9D8B030D-6E8A-4147-A177-3AD203B41FA5}">
                      <a16:colId xmlns:a16="http://schemas.microsoft.com/office/drawing/2014/main" val="2276031802"/>
                    </a:ext>
                  </a:extLst>
                </a:gridCol>
                <a:gridCol w="926210">
                  <a:extLst>
                    <a:ext uri="{9D8B030D-6E8A-4147-A177-3AD203B41FA5}">
                      <a16:colId xmlns:a16="http://schemas.microsoft.com/office/drawing/2014/main" val="3845515123"/>
                    </a:ext>
                  </a:extLst>
                </a:gridCol>
                <a:gridCol w="2316600">
                  <a:extLst>
                    <a:ext uri="{9D8B030D-6E8A-4147-A177-3AD203B41FA5}">
                      <a16:colId xmlns:a16="http://schemas.microsoft.com/office/drawing/2014/main" val="1927671714"/>
                    </a:ext>
                  </a:extLst>
                </a:gridCol>
                <a:gridCol w="1837137">
                  <a:extLst>
                    <a:ext uri="{9D8B030D-6E8A-4147-A177-3AD203B41FA5}">
                      <a16:colId xmlns:a16="http://schemas.microsoft.com/office/drawing/2014/main" val="3035159362"/>
                    </a:ext>
                  </a:extLst>
                </a:gridCol>
                <a:gridCol w="1837137">
                  <a:extLst>
                    <a:ext uri="{9D8B030D-6E8A-4147-A177-3AD203B41FA5}">
                      <a16:colId xmlns:a16="http://schemas.microsoft.com/office/drawing/2014/main" val="1790902669"/>
                    </a:ext>
                  </a:extLst>
                </a:gridCol>
              </a:tblGrid>
              <a:tr h="109208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 – Mean of 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Y – Mean of 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(X – Mean of X)*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(Y – Mean of 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(X – Mean of X)*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(X – Mean of X)</a:t>
                      </a:r>
                    </a:p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(Y – Mean of Y)*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(Y – Mean of Y)</a:t>
                      </a:r>
                    </a:p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4823521"/>
                  </a:ext>
                </a:extLst>
              </a:tr>
              <a:tr h="36946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0.3381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0.4761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0.2401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51137861"/>
                  </a:ext>
                </a:extLst>
              </a:tr>
              <a:tr h="36946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-1.21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1.5851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1.7161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1.4641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2789070442"/>
                  </a:ext>
                </a:extLst>
              </a:tr>
              <a:tr h="36946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0.3861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0.1521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0.9801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1974086188"/>
                  </a:ext>
                </a:extLst>
              </a:tr>
              <a:tr h="36946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0.0261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0.0081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0.0841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3612131868"/>
                  </a:ext>
                </a:extLst>
              </a:tr>
              <a:tr h="36946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1.4061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1.6641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1.1881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1244417300"/>
                  </a:ext>
                </a:extLst>
              </a:tr>
              <a:tr h="36946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0.3871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0.2401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0.6241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3298713918"/>
                  </a:ext>
                </a:extLst>
              </a:tr>
              <a:tr h="36946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-0.31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-0.0589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0.0361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0.0961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188997581"/>
                  </a:ext>
                </a:extLst>
              </a:tr>
              <a:tr h="36946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-0.81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-0.81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0.6561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0.6561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0.6561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2108097545"/>
                  </a:ext>
                </a:extLst>
              </a:tr>
              <a:tr h="36946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-0.31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-0.31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0.0961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0.0961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0.0961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1687655490"/>
                  </a:ext>
                </a:extLst>
              </a:tr>
              <a:tr h="36946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-0.71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-1.01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0.7171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0.5041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1.0201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1364118256"/>
                  </a:ext>
                </a:extLst>
              </a:tr>
              <a:tr h="369468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Summation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0.61544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0.616556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0.716556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348630112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AA3DF3-075F-2D02-9F73-7F382891C0FA}"/>
                  </a:ext>
                </a:extLst>
              </p:cNvPr>
              <p:cNvSpPr txBox="1"/>
              <p:nvPr/>
            </p:nvSpPr>
            <p:spPr>
              <a:xfrm>
                <a:off x="6797842" y="154701"/>
                <a:ext cx="6368716" cy="1251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𝑐𝑜𝑣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−1)</m:t>
                          </m:r>
                        </m:den>
                      </m:f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AA3DF3-075F-2D02-9F73-7F382891C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842" y="154701"/>
                <a:ext cx="6368716" cy="12514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A99F08-59E0-2EE9-DAA8-B5A16EE8A623}"/>
                  </a:ext>
                </a:extLst>
              </p:cNvPr>
              <p:cNvSpPr txBox="1"/>
              <p:nvPr/>
            </p:nvSpPr>
            <p:spPr>
              <a:xfrm>
                <a:off x="6786267" y="1233577"/>
                <a:ext cx="6368716" cy="11972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𝐶𝑂𝑉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𝑂𝑉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𝐶𝑂𝑉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𝐶𝑂𝑉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𝐶𝑂𝑉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A99F08-59E0-2EE9-DAA8-B5A16EE8A6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267" y="1233577"/>
                <a:ext cx="6368716" cy="11972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4F8E41-7C96-1CEA-3E3A-F966990720E6}"/>
                  </a:ext>
                </a:extLst>
              </p:cNvPr>
              <p:cNvSpPr txBox="1"/>
              <p:nvPr/>
            </p:nvSpPr>
            <p:spPr>
              <a:xfrm>
                <a:off x="6797842" y="3817361"/>
                <a:ext cx="6368716" cy="1188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𝐶𝑂𝑉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.6165</m:t>
                                </m:r>
                              </m:e>
                              <m:e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0.6154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0.6154</m:t>
                                </m:r>
                              </m:e>
                              <m:e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0.7165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4F8E41-7C96-1CEA-3E3A-F96699072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842" y="3817361"/>
                <a:ext cx="6368716" cy="11889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3652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7FE4B-2C5E-4483-8029-BA1DCA2E3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3BE93-5D70-B1BD-499E-87AE2CFBC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8DE49-E9CF-2E33-4193-0BA8D6BAE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26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8C3B39-BD52-42D4-F247-E43D41186D09}"/>
                  </a:ext>
                </a:extLst>
              </p:cNvPr>
              <p:cNvSpPr txBox="1"/>
              <p:nvPr/>
            </p:nvSpPr>
            <p:spPr>
              <a:xfrm>
                <a:off x="513347" y="3544167"/>
                <a:ext cx="5101390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𝐴𝑋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𝑋</m:t>
                      </m:r>
                    </m:oMath>
                  </m:oMathPara>
                </a14:m>
                <a:endParaRPr lang="en-US" sz="2800" b="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b="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2400" b="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𝐸𝑖𝑔𝑒𝑛𝑣𝑒𝑐𝑡𝑜𝑟</m:t>
                    </m:r>
                    <m:r>
                      <a:rPr lang="en-US" sz="2400" b="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𝑜𝑓</m:t>
                    </m:r>
                    <m:r>
                      <a:rPr lang="en-US" sz="2400" b="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𝑀𝑎𝑡𝑟𝑖𝑥</m:t>
                    </m:r>
                    <m:r>
                      <a:rPr lang="en-US" sz="2400" b="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endParaRPr lang="en-US" sz="2400" b="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𝐸𝑖𝑔𝑛𝑒𝑣𝑎𝑙𝑢𝑒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𝑜𝑓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𝑀𝑎𝑡𝑟𝑖𝑥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8C3B39-BD52-42D4-F247-E43D41186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347" y="3544167"/>
                <a:ext cx="5101390" cy="1631216"/>
              </a:xfrm>
              <a:prstGeom prst="rect">
                <a:avLst/>
              </a:prstGeom>
              <a:blipFill>
                <a:blip r:embed="rId3"/>
                <a:stretch>
                  <a:fillRect l="-17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DEC7D5-3DB8-8399-3650-EFAFB93E41A1}"/>
                  </a:ext>
                </a:extLst>
              </p:cNvPr>
              <p:cNvSpPr txBox="1"/>
              <p:nvPr/>
            </p:nvSpPr>
            <p:spPr>
              <a:xfrm>
                <a:off x="-268705" y="2124919"/>
                <a:ext cx="6368716" cy="1188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𝐶𝑂𝑉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l-GR" sz="2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.6165</m:t>
                                </m:r>
                              </m:e>
                              <m:e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0.6154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0.6154</m:t>
                                </m:r>
                              </m:e>
                              <m:e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0.7165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DEC7D5-3DB8-8399-3650-EFAFB93E4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8705" y="2124919"/>
                <a:ext cx="6368716" cy="11889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8C74CD4-600F-C39E-B1DB-3EBCC7E1A285}"/>
              </a:ext>
            </a:extLst>
          </p:cNvPr>
          <p:cNvSpPr txBox="1"/>
          <p:nvPr/>
        </p:nvSpPr>
        <p:spPr>
          <a:xfrm>
            <a:off x="513347" y="5081100"/>
            <a:ext cx="51013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Eigenvalues are the zeros of the characteristic equation.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60C4656-85BB-80B2-56B3-F35D5FFCEDD2}"/>
                  </a:ext>
                </a:extLst>
              </p:cNvPr>
              <p:cNvSpPr txBox="1"/>
              <p:nvPr/>
            </p:nvSpPr>
            <p:spPr>
              <a:xfrm>
                <a:off x="6252410" y="2218465"/>
                <a:ext cx="510139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800" i="1" kern="1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m:oMathPara>
                </a14:m>
                <a:endParaRPr lang="en-US" sz="2800" b="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60C4656-85BB-80B2-56B3-F35D5FFCE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410" y="2218465"/>
                <a:ext cx="510139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03DEF0-7FCD-C113-57DF-4E0F52FB2260}"/>
                  </a:ext>
                </a:extLst>
              </p:cNvPr>
              <p:cNvSpPr txBox="1"/>
              <p:nvPr/>
            </p:nvSpPr>
            <p:spPr>
              <a:xfrm>
                <a:off x="6252410" y="3593096"/>
                <a:ext cx="510139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8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l-GR" sz="28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8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8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800" i="1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−</m:t>
                          </m:r>
                          <m:r>
                            <a:rPr lang="en-US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</m:d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2800" b="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03DEF0-7FCD-C113-57DF-4E0F52FB2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410" y="3593096"/>
                <a:ext cx="510139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6D1195-FC5E-2036-C5CA-34715E4C9E77}"/>
                  </a:ext>
                </a:extLst>
              </p:cNvPr>
              <p:cNvSpPr txBox="1"/>
              <p:nvPr/>
            </p:nvSpPr>
            <p:spPr>
              <a:xfrm>
                <a:off x="6334471" y="4988078"/>
                <a:ext cx="5101390" cy="10143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8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sz="28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US" sz="2800" i="1" kern="1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2800" i="1" kern="10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kern="10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800" i="1" kern="10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 kern="1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−4</m:t>
                              </m:r>
                              <m:r>
                                <a:rPr lang="en-US" sz="2800" i="1" kern="1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n-US" sz="28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28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US" sz="2800" b="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6D1195-FC5E-2036-C5CA-34715E4C9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471" y="4988078"/>
                <a:ext cx="5101390" cy="10143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77AF552-DC41-EBEB-BD1E-EE33BBA05652}"/>
              </a:ext>
            </a:extLst>
          </p:cNvPr>
          <p:cNvCxnSpPr/>
          <p:nvPr/>
        </p:nvCxnSpPr>
        <p:spPr>
          <a:xfrm>
            <a:off x="6638192" y="1529862"/>
            <a:ext cx="0" cy="509953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801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4345E-159A-7116-61E5-C02725E58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CD062-0F80-D7C5-A058-BBE41AEA7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17992-83F0-6E8F-9002-E3D84ACDD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27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DF7A77E-C0DC-D3CC-9703-71FABB1028C1}"/>
                  </a:ext>
                </a:extLst>
              </p:cNvPr>
              <p:cNvSpPr txBox="1"/>
              <p:nvPr/>
            </p:nvSpPr>
            <p:spPr>
              <a:xfrm>
                <a:off x="523285" y="1551567"/>
                <a:ext cx="220288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24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=[</m:t>
                      </m:r>
                      <m:sSub>
                        <m:sSubPr>
                          <m:ctrlPr>
                            <a:rPr lang="en-US" sz="24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DF7A77E-C0DC-D3CC-9703-71FABB102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285" y="1551567"/>
                <a:ext cx="2202881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132EE79-7A95-F25F-CDB8-6BDD199DC00E}"/>
                  </a:ext>
                </a:extLst>
              </p:cNvPr>
              <p:cNvSpPr txBox="1"/>
              <p:nvPr/>
            </p:nvSpPr>
            <p:spPr>
              <a:xfrm>
                <a:off x="404761" y="2416400"/>
                <a:ext cx="510139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800" i="1" kern="1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m:oMathPara>
                </a14:m>
                <a:endParaRPr lang="en-US" sz="2800" b="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132EE79-7A95-F25F-CDB8-6BDD199DC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61" y="2416400"/>
                <a:ext cx="510139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6C145BE-0375-9D05-1C96-9015EB0FF49C}"/>
              </a:ext>
            </a:extLst>
          </p:cNvPr>
          <p:cNvCxnSpPr/>
          <p:nvPr/>
        </p:nvCxnSpPr>
        <p:spPr>
          <a:xfrm>
            <a:off x="6638192" y="1529862"/>
            <a:ext cx="0" cy="509953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461DC8-6B13-8A6A-28B6-46367A57C15A}"/>
                  </a:ext>
                </a:extLst>
              </p:cNvPr>
              <p:cNvSpPr txBox="1"/>
              <p:nvPr/>
            </p:nvSpPr>
            <p:spPr>
              <a:xfrm>
                <a:off x="404761" y="3237544"/>
                <a:ext cx="5101390" cy="819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.6165</m:t>
                                </m:r>
                              </m:e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0.6154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0.6154</m:t>
                                </m:r>
                              </m:e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0.7165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m:oMathPara>
                </a14:m>
                <a:endParaRPr lang="en-US" sz="2800" b="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461DC8-6B13-8A6A-28B6-46367A57C1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61" y="3237544"/>
                <a:ext cx="5101390" cy="8195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A17B57D-FC99-B422-8755-0B498A3E1AD3}"/>
                  </a:ext>
                </a:extLst>
              </p:cNvPr>
              <p:cNvSpPr txBox="1"/>
              <p:nvPr/>
            </p:nvSpPr>
            <p:spPr>
              <a:xfrm>
                <a:off x="174189" y="4410112"/>
                <a:ext cx="5731041" cy="884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.6165</m:t>
                                </m:r>
                              </m:e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0.6154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0.6154</m:t>
                                </m:r>
                              </m:e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0.7165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b="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A17B57D-FC99-B422-8755-0B498A3E1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89" y="4410112"/>
                <a:ext cx="5731041" cy="8845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C82092-52F1-0E9E-D974-D9C492912E76}"/>
                  </a:ext>
                </a:extLst>
              </p:cNvPr>
              <p:cNvSpPr txBox="1"/>
              <p:nvPr/>
            </p:nvSpPr>
            <p:spPr>
              <a:xfrm>
                <a:off x="-49275" y="5568310"/>
                <a:ext cx="6203739" cy="9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.6165</m:t>
                                </m:r>
                              </m:e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0.6154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0.6154</m:t>
                                </m:r>
                              </m:e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0.7165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b="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C82092-52F1-0E9E-D974-D9C492912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9275" y="5568310"/>
                <a:ext cx="6203739" cy="90774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51AFDF0-1659-57B3-B380-DAEF12855046}"/>
                  </a:ext>
                </a:extLst>
              </p:cNvPr>
              <p:cNvSpPr txBox="1"/>
              <p:nvPr/>
            </p:nvSpPr>
            <p:spPr>
              <a:xfrm>
                <a:off x="6340333" y="1416047"/>
                <a:ext cx="6203739" cy="9184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.6165</m:t>
                                </m:r>
                              </m:e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0.6154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0.6154</m:t>
                                </m:r>
                              </m:e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0.7165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sz="28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sz="2800" b="0" i="1" kern="10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b="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51AFDF0-1659-57B3-B380-DAEF12855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0333" y="1416047"/>
                <a:ext cx="6203739" cy="9184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4A8D133-07B2-FCCE-D95C-9BB0243DC86B}"/>
                  </a:ext>
                </a:extLst>
              </p:cNvPr>
              <p:cNvSpPr txBox="1"/>
              <p:nvPr/>
            </p:nvSpPr>
            <p:spPr>
              <a:xfrm>
                <a:off x="6340333" y="2445804"/>
                <a:ext cx="6203739" cy="9184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.6165</m:t>
                                </m:r>
                              </m:e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0.6154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0.6154</m:t>
                                </m:r>
                              </m:e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0.7165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sz="28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sz="2800" b="0" i="1" kern="10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b="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4A8D133-07B2-FCCE-D95C-9BB0243DC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0333" y="2445804"/>
                <a:ext cx="6203739" cy="91845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E931014-515E-3FFA-0ACB-3FA34D4C81F5}"/>
                  </a:ext>
                </a:extLst>
              </p:cNvPr>
              <p:cNvSpPr txBox="1"/>
              <p:nvPr/>
            </p:nvSpPr>
            <p:spPr>
              <a:xfrm>
                <a:off x="7084981" y="3836718"/>
                <a:ext cx="4810471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To solve the above set of equations, we can assume the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US" sz="2000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of to 1 and use that value.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en-US" sz="2000" b="0" kern="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can then be calculated.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Both values are normalized to make it them unit length.</a:t>
                </a:r>
                <a:endParaRPr lang="en-US" sz="2000" b="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E931014-515E-3FFA-0ACB-3FA34D4C8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4981" y="3836718"/>
                <a:ext cx="4810471" cy="1938992"/>
              </a:xfrm>
              <a:prstGeom prst="rect">
                <a:avLst/>
              </a:prstGeom>
              <a:blipFill>
                <a:blip r:embed="rId10"/>
                <a:stretch>
                  <a:fillRect l="-1141" t="-1572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FC187F4-6CF9-70F1-73FE-6969F26B3478}"/>
                  </a:ext>
                </a:extLst>
              </p:cNvPr>
              <p:cNvSpPr txBox="1"/>
              <p:nvPr/>
            </p:nvSpPr>
            <p:spPr>
              <a:xfrm>
                <a:off x="3006172" y="1614807"/>
                <a:ext cx="330577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24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=[0.0490,1.2840]</m:t>
                      </m:r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FC187F4-6CF9-70F1-73FE-6969F26B3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172" y="1614807"/>
                <a:ext cx="3305779" cy="8309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490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0D834-7208-0652-F67C-723B08ED4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0C8C5-23EB-E5B1-5563-096E5455C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EA140-FD62-9ABE-B269-E78EB21AC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28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EC1F0A9-BDF1-E50A-979E-B700E3B4CA71}"/>
              </a:ext>
            </a:extLst>
          </p:cNvPr>
          <p:cNvCxnSpPr/>
          <p:nvPr/>
        </p:nvCxnSpPr>
        <p:spPr>
          <a:xfrm>
            <a:off x="5130234" y="1652276"/>
            <a:ext cx="0" cy="509953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CF2BFD-757C-03AA-E954-42E4DF2E186C}"/>
                  </a:ext>
                </a:extLst>
              </p:cNvPr>
              <p:cNvSpPr txBox="1"/>
              <p:nvPr/>
            </p:nvSpPr>
            <p:spPr>
              <a:xfrm>
                <a:off x="174189" y="1821025"/>
                <a:ext cx="510139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28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0.7351</m:t>
                                </m:r>
                              </m:e>
                              <m:e>
                                <m:r>
                                  <a:rPr lang="en-US" sz="28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−0.6778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sz="2800" b="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CF2BFD-757C-03AA-E954-42E4DF2E1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89" y="1821025"/>
                <a:ext cx="510139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A95E2BD-4A26-BF7A-0E9F-B818470B0720}"/>
                  </a:ext>
                </a:extLst>
              </p:cNvPr>
              <p:cNvSpPr txBox="1"/>
              <p:nvPr/>
            </p:nvSpPr>
            <p:spPr>
              <a:xfrm>
                <a:off x="174189" y="2791573"/>
                <a:ext cx="510139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a:rPr lang="en-US" sz="28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.6778</m:t>
                                </m:r>
                              </m:e>
                              <m:e>
                                <m:r>
                                  <a:rPr lang="en-US" sz="28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−0.7351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sz="2800" b="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A95E2BD-4A26-BF7A-0E9F-B818470B0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89" y="2791573"/>
                <a:ext cx="510139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9F511B6-35DD-1D09-B398-C8E80019F7B0}"/>
              </a:ext>
            </a:extLst>
          </p:cNvPr>
          <p:cNvSpPr txBox="1"/>
          <p:nvPr/>
        </p:nvSpPr>
        <p:spPr>
          <a:xfrm>
            <a:off x="5352974" y="1652276"/>
            <a:ext cx="640588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kern="1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The sign of Eigenvector does not really matter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kern="100" dirty="0">
                <a:ea typeface="Times New Roman" panose="02020603050405020304" pitchFamily="18" charset="0"/>
                <a:cs typeface="Times New Roman" panose="02020603050405020304" pitchFamily="18" charset="0"/>
              </a:rPr>
              <a:t>Vectors in opposite direction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b="0" kern="1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kern="100" dirty="0">
                <a:ea typeface="Times New Roman" panose="02020603050405020304" pitchFamily="18" charset="0"/>
                <a:cs typeface="Times New Roman" panose="02020603050405020304" pitchFamily="18" charset="0"/>
              </a:rPr>
              <a:t>They are to be sorted according to the Eigne Value.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0" kern="1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kern="100" dirty="0">
                <a:ea typeface="Times New Roman" panose="02020603050405020304" pitchFamily="18" charset="0"/>
                <a:cs typeface="Times New Roman" panose="02020603050405020304" pitchFamily="18" charset="0"/>
              </a:rPr>
              <a:t>The Eigenvectors are perpendicular to each other.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0" kern="1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kern="1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One of the</a:t>
            </a:r>
            <a:r>
              <a:rPr lang="en-US" sz="2400" kern="100" dirty="0">
                <a:ea typeface="Times New Roman" panose="02020603050405020304" pitchFamily="18" charset="0"/>
                <a:cs typeface="Times New Roman" panose="02020603050405020304" pitchFamily="18" charset="0"/>
              </a:rPr>
              <a:t> Eigenvectors goes through the middle of the points, like drawing a line with the best fit.</a:t>
            </a:r>
            <a:endParaRPr lang="en-US" sz="2400" b="0" kern="1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729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F9E57-71FA-662B-D4F1-45608318C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F6E4F-81AB-C1A9-8927-CDD77C23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F9B46-705E-DF67-E3EF-A3FE56F35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Once the Eigenvectors have been sorted based on the Eigenvalues, the components with the lesser significance can be ignored.</a:t>
            </a:r>
          </a:p>
          <a:p>
            <a:endParaRPr lang="en-US" dirty="0"/>
          </a:p>
          <a:p>
            <a:r>
              <a:rPr lang="en-US" dirty="0"/>
              <a:t>Ignoring these components would result in losing some information, however, that information would be small.</a:t>
            </a:r>
          </a:p>
          <a:p>
            <a:endParaRPr lang="en-US" dirty="0"/>
          </a:p>
          <a:p>
            <a:r>
              <a:rPr lang="en-US" dirty="0"/>
              <a:t>We choose </a:t>
            </a:r>
            <a:r>
              <a:rPr lang="en-US" i="1" dirty="0"/>
              <a:t>k </a:t>
            </a:r>
            <a:r>
              <a:rPr lang="en-US" dirty="0"/>
              <a:t>eigenvectors where </a:t>
            </a:r>
            <a:r>
              <a:rPr lang="en-US" i="1" dirty="0"/>
              <a:t>k </a:t>
            </a:r>
            <a:r>
              <a:rPr lang="en-US" dirty="0"/>
              <a:t>is less than </a:t>
            </a:r>
            <a:r>
              <a:rPr lang="en-US" i="1" dirty="0"/>
              <a:t>n</a:t>
            </a:r>
          </a:p>
          <a:p>
            <a:endParaRPr lang="en-US" i="1" dirty="0"/>
          </a:p>
          <a:p>
            <a:r>
              <a:rPr lang="en-US" dirty="0"/>
              <a:t>In our example, we can choose either both the Eigenvectors or just one.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92E857-9152-F83B-8527-827D36CA1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875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BDC27-9D6C-ED42-CCAC-0EFD43A42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C6C7F-4088-4D8C-8126-328FC01F3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3933EE-B23A-524D-4310-D06BA03F2D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The final step is to transform the data using the calculated Eigenvectors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𝑇𝑟𝑎𝑛𝑠𝑓𝑜𝑟𝑚𝑒𝑑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𝐷𝑎𝑡𝑎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𝑅𝑜𝑤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𝐸𝑖𝑔𝑒𝑛𝑣𝑒𝑐𝑡𝑜𝑟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𝑅𝑜𝑤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𝑍𝑒𝑟𝑜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𝑀𝑒𝑎𝑛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𝐷𝑎𝑡𝑎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Row Eigenvector is the matrix with the Eigenvectors in the columns transposed such that the most significant eigenvector is at top.</a:t>
                </a:r>
              </a:p>
              <a:p>
                <a:endParaRPr lang="en-US" dirty="0"/>
              </a:p>
              <a:p>
                <a:r>
                  <a:rPr lang="en-US" dirty="0"/>
                  <a:t>Row Zero Mean Data is the mean-adjusted data transposed i.e. the data items are in each columns with each row holding a separate dimension.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3933EE-B23A-524D-4310-D06BA03F2D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61A74-5867-99E0-3554-93A6A5C1E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591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9A0EC-0380-80A4-DB93-F7DB9EB79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14BC4-C924-A30C-0009-C043501F3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716D4-77FF-1F70-6A31-79B2D64BA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31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4A53112-418D-54F4-8D67-A50B814C1F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660605"/>
              </p:ext>
            </p:extLst>
          </p:nvPr>
        </p:nvGraphicFramePr>
        <p:xfrm>
          <a:off x="580797" y="1523323"/>
          <a:ext cx="4745182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2591">
                  <a:extLst>
                    <a:ext uri="{9D8B030D-6E8A-4147-A177-3AD203B41FA5}">
                      <a16:colId xmlns:a16="http://schemas.microsoft.com/office/drawing/2014/main" val="2276031802"/>
                    </a:ext>
                  </a:extLst>
                </a:gridCol>
                <a:gridCol w="2372591">
                  <a:extLst>
                    <a:ext uri="{9D8B030D-6E8A-4147-A177-3AD203B41FA5}">
                      <a16:colId xmlns:a16="http://schemas.microsoft.com/office/drawing/2014/main" val="38455151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Y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4823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-0.82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-0.175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137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0.142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9070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-0.992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0.384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4086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-0.274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0.130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2131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-1.675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-.209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4417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-0.912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0.175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713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0.099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-0.349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997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1.144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0.046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8097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0.438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0.017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7655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1.223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-0.162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411825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E767207-1446-BDC7-E553-6AA6391441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978"/>
          <a:stretch/>
        </p:blipFill>
        <p:spPr>
          <a:xfrm>
            <a:off x="5444267" y="2401555"/>
            <a:ext cx="6592764" cy="232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133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A6DB3-EBDD-D3DC-2BFE-052562D44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– Another Solved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68442-6E3D-3FA1-27DA-D4D2B2F83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32</a:t>
            </a:fld>
            <a:endParaRPr lang="en-US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9720ED05-C80A-7C6F-D0C8-212C7015DA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17" t="18889" r="15833" b="9259"/>
          <a:stretch>
            <a:fillRect/>
          </a:stretch>
        </p:blipFill>
        <p:spPr bwMode="auto">
          <a:xfrm>
            <a:off x="1395663" y="1447800"/>
            <a:ext cx="91440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7304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0BA87-EB7A-E657-6754-D17C0F79D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Reconstruction of the Original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206645-9F04-783D-982F-4BCFBBDE18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After dimensionality reduction, reconstructing the data would lose those dimensions that we chose to discard.</a:t>
                </a:r>
              </a:p>
              <a:p>
                <a:endParaRPr lang="en-US" dirty="0"/>
              </a:p>
              <a:p>
                <a:r>
                  <a:rPr lang="en-US" dirty="0"/>
                  <a:t>Let’s assume that we used only one Eigenvector when reducing the dimensions. </a:t>
                </a:r>
              </a:p>
              <a:p>
                <a:endParaRPr lang="en-US" dirty="0"/>
              </a:p>
              <a:p>
                <a:r>
                  <a:rPr lang="en-US" dirty="0"/>
                  <a:t>We know: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𝑂𝑟𝑖𝑔𝑖𝑛𝑎𝑙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𝑀𝑒𝑎𝑛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206645-9F04-783D-982F-4BCFBBDE18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BAB42-F2DB-FA50-CAE0-3ABAB2519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08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C614C-6E9D-3883-FDAA-D5D67705A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FBCB6-8CBB-61B5-F440-F423DEF06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Reconstruction of the Original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E91D0-D1DE-320F-FD3C-016D581C8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34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B670A07-30D1-0FE9-2C6B-DB200EDCF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583602"/>
              </p:ext>
            </p:extLst>
          </p:nvPr>
        </p:nvGraphicFramePr>
        <p:xfrm>
          <a:off x="1258080" y="1510071"/>
          <a:ext cx="2372591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2591">
                  <a:extLst>
                    <a:ext uri="{9D8B030D-6E8A-4147-A177-3AD203B41FA5}">
                      <a16:colId xmlns:a16="http://schemas.microsoft.com/office/drawing/2014/main" val="22760318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4823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-0.82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137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9070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-0.992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4086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-0.274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2131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-1.675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4417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-0.912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713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0.099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997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1.144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8097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0.438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7655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1.223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411825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34E4832-4615-FFA4-F6EA-3AED5F196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6491" y="1510071"/>
            <a:ext cx="4521133" cy="43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739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49B6E-F9FA-EE3D-A7DA-3572E5291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K Principal Components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87B081-C706-323A-5A3D-EC30588715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The first Principal Component retains the greatest amount of variation in the sample.</a:t>
                </a:r>
              </a:p>
              <a:p>
                <a:endParaRPr lang="en-US" dirty="0"/>
              </a:p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/>
                  <a:t> Principal Component retains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/>
                  <a:t> greatest fraction of the variation in the sample.</a:t>
                </a:r>
              </a:p>
              <a:p>
                <a:endParaRPr lang="en-US" dirty="0"/>
              </a:p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/>
                  <a:t> largest Eigenvalue of the correlation matrix C is the variance in the sample along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/>
                  <a:t> Principal Component</a:t>
                </a:r>
              </a:p>
              <a:p>
                <a:endParaRPr lang="en-US" dirty="0"/>
              </a:p>
              <a:p>
                <a:r>
                  <a:rPr lang="en-US" dirty="0"/>
                  <a:t>The least squares view: Principal components are a series of linear least squares fits to a sample, each orthogonal to all the previous ones.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87B081-C706-323A-5A3D-EC30588715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80DEA-0A53-D86D-94A8-0B8D589D5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994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81BBA-E655-9A09-498A-95EE327E5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FC665-A17B-C937-9BEC-416988FF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K Principal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4E6D3-C3A9-8105-DFE8-E939E6209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ignore the components of lesser significance.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20AA4-89DF-BC1D-7F41-CB99D38FA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36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0694D4-A00A-2AED-CA68-51DE8AA50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923" y="2544021"/>
            <a:ext cx="7301178" cy="3483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691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F941C-EF96-B296-B16A-47968E4EC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PCA Shortcomings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5770A-5926-C362-058C-937545F49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Notice that when using PCA we do not concern ourselves with the different classes in the data.</a:t>
            </a:r>
          </a:p>
          <a:p>
            <a:endParaRPr lang="en-US" dirty="0"/>
          </a:p>
          <a:p>
            <a:r>
              <a:rPr lang="en-US" dirty="0"/>
              <a:t>Each sample is used as is without the information of the classification label.</a:t>
            </a:r>
          </a:p>
          <a:p>
            <a:endParaRPr lang="en-US" dirty="0"/>
          </a:p>
          <a:p>
            <a:r>
              <a:rPr lang="en-US" dirty="0"/>
              <a:t>If the classes are separable in with the original features, using PCA will keep them separable.</a:t>
            </a:r>
          </a:p>
          <a:p>
            <a:endParaRPr lang="en-US" dirty="0"/>
          </a:p>
          <a:p>
            <a:r>
              <a:rPr lang="en-US" dirty="0"/>
              <a:t>However, the above may not hold true in every case.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E2CF0-E426-08E7-4387-0602F117F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614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>
            <a:extLst>
              <a:ext uri="{FF2B5EF4-FFF2-40B4-BE49-F238E27FC236}">
                <a16:creationId xmlns:a16="http://schemas.microsoft.com/office/drawing/2014/main" id="{D049C9CC-AC85-B378-4B83-0E2A0BB14D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Linear Discriminant Analysis (LDA)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A2F95B-8C1B-9605-F1AB-B694C0052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</a:pPr>
            <a:r>
              <a:rPr lang="en-US" altLang="en-US" sz="3200" dirty="0">
                <a:latin typeface="Arial" panose="020B0604020202020204" pitchFamily="34" charset="0"/>
              </a:rPr>
              <a:t>Perform dimensionality reduction “while preserving as much of the class discriminatory information as possible”.</a:t>
            </a:r>
          </a:p>
          <a:p>
            <a:pPr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</a:pPr>
            <a:r>
              <a:rPr lang="en-US" altLang="en-US" sz="3200" dirty="0">
                <a:latin typeface="Arial" panose="020B0604020202020204" pitchFamily="34" charset="0"/>
              </a:rPr>
              <a:t>Seeks to find directions along which the classes are best separated.</a:t>
            </a:r>
          </a:p>
          <a:p>
            <a:pPr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</a:pPr>
            <a:r>
              <a:rPr lang="en-US" altLang="en-US" sz="3200" dirty="0">
                <a:latin typeface="Arial" panose="020B0604020202020204" pitchFamily="34" charset="0"/>
              </a:rPr>
              <a:t>Takes into consideration the scatter within-classes</a:t>
            </a:r>
            <a:r>
              <a:rPr lang="en-US" altLang="en-US" sz="3200" i="1" dirty="0">
                <a:latin typeface="Arial" panose="020B0604020202020204" pitchFamily="34" charset="0"/>
              </a:rPr>
              <a:t> </a:t>
            </a:r>
            <a:r>
              <a:rPr lang="en-US" altLang="en-US" sz="3200" dirty="0">
                <a:latin typeface="Arial" panose="020B0604020202020204" pitchFamily="34" charset="0"/>
              </a:rPr>
              <a:t>but also the scatter between-classes.</a:t>
            </a:r>
          </a:p>
          <a:p>
            <a:endParaRPr lang="en-US" dirty="0"/>
          </a:p>
        </p:txBody>
      </p:sp>
      <p:sp>
        <p:nvSpPr>
          <p:cNvPr id="18434" name="Slide Number Placeholder 5">
            <a:extLst>
              <a:ext uri="{FF2B5EF4-FFF2-40B4-BE49-F238E27FC236}">
                <a16:creationId xmlns:a16="http://schemas.microsoft.com/office/drawing/2014/main" id="{2145E140-1E98-7380-2538-8E63D4C2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F308E8D8-5053-41E4-856F-F9959EFA6BCE}" type="slidenum">
              <a:rPr lang="en-US" altLang="en-US" sz="1200">
                <a:latin typeface="Times New Roman" panose="0202060305040502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8F511C92-B2B6-DA9D-4443-AB9DB626A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8B3E3D0A-F6C7-41C6-B219-13ADF02D3627}" type="slidenum">
              <a:rPr lang="en-US" altLang="en-US" sz="1200">
                <a:solidFill>
                  <a:srgbClr val="898989"/>
                </a:solidFill>
                <a:latin typeface="Times New Roman" panose="0202060305040502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20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6D11FE49-B84F-63F6-D7E3-C0D348737B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Linear Discriminant Analysis (LDA)</a:t>
            </a:r>
          </a:p>
        </p:txBody>
      </p:sp>
      <p:pic>
        <p:nvPicPr>
          <p:cNvPr id="19460" name="Picture 7" descr="dudafigs03_Page_06">
            <a:extLst>
              <a:ext uri="{FF2B5EF4-FFF2-40B4-BE49-F238E27FC236}">
                <a16:creationId xmlns:a16="http://schemas.microsoft.com/office/drawing/2014/main" id="{A76720AC-66D2-B31E-9A65-2C35D38EBA1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02" t="31885" r="16853" b="31883"/>
          <a:stretch>
            <a:fillRect/>
          </a:stretch>
        </p:blipFill>
        <p:spPr>
          <a:xfrm>
            <a:off x="2611734" y="1690688"/>
            <a:ext cx="6248400" cy="4594225"/>
          </a:xfr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1023BBDE-0998-77E4-B65F-6F10759111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Fisher’s linear discriminant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1713765B-DDBA-F538-DFC8-ADBF7E0C28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 dirty="0"/>
              <a:t>A simple linear discriminant function is a projection of the data down to 1-D.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So choose the projection that gives the best separation of the classes. </a:t>
            </a:r>
            <a:r>
              <a:rPr lang="en-US" altLang="en-US" dirty="0">
                <a:solidFill>
                  <a:srgbClr val="0000CC"/>
                </a:solidFill>
              </a:rPr>
              <a:t>What do we mean by “best separation”?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An obvious direction to choose is the direction of the line joining the class means.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But if the main direction of variance in each class is not orthogonal to this line, this will not give good separation (see the next figure).</a:t>
            </a:r>
          </a:p>
          <a:p>
            <a:pPr>
              <a:lnSpc>
                <a:spcPct val="80000"/>
              </a:lnSpc>
            </a:pPr>
            <a:r>
              <a:rPr lang="en-US" altLang="en-US" sz="2400" dirty="0"/>
              <a:t>Fisher’s method chooses the direction that maximizes the ratio of </a:t>
            </a:r>
            <a:r>
              <a:rPr lang="en-US" altLang="en-US" sz="2400" dirty="0">
                <a:solidFill>
                  <a:srgbClr val="0000CC"/>
                </a:solidFill>
              </a:rPr>
              <a:t>between</a:t>
            </a:r>
            <a:r>
              <a:rPr lang="en-US" altLang="en-US" sz="2400" dirty="0"/>
              <a:t> class variance to </a:t>
            </a:r>
            <a:r>
              <a:rPr lang="en-US" altLang="en-US" sz="2400" dirty="0">
                <a:solidFill>
                  <a:srgbClr val="0000CC"/>
                </a:solidFill>
              </a:rPr>
              <a:t>within</a:t>
            </a:r>
            <a:r>
              <a:rPr lang="en-US" altLang="en-US" sz="2400" dirty="0"/>
              <a:t> class variance.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This is the direction in which the projected points contain the most information about class membership (under Gaussian assumptions)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>
            <a:extLst>
              <a:ext uri="{FF2B5EF4-FFF2-40B4-BE49-F238E27FC236}">
                <a16:creationId xmlns:a16="http://schemas.microsoft.com/office/drawing/2014/main" id="{31B93450-98D6-549C-9625-650F149407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A picture showing the advantage of Fisher’s linear discriminant.</a:t>
            </a:r>
          </a:p>
        </p:txBody>
      </p:sp>
      <p:pic>
        <p:nvPicPr>
          <p:cNvPr id="21507" name="Picture 4" descr="Figure4">
            <a:extLst>
              <a:ext uri="{FF2B5EF4-FFF2-40B4-BE49-F238E27FC236}">
                <a16:creationId xmlns:a16="http://schemas.microsoft.com/office/drawing/2014/main" id="{CA9689A5-3F86-9828-7CDB-D807566DB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800" y="1628775"/>
            <a:ext cx="3746500" cy="283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Picture 5" descr="Figure4">
            <a:extLst>
              <a:ext uri="{FF2B5EF4-FFF2-40B4-BE49-F238E27FC236}">
                <a16:creationId xmlns:a16="http://schemas.microsoft.com/office/drawing/2014/main" id="{67052302-B3F1-01AA-477B-41DD020A5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1" y="1628775"/>
            <a:ext cx="3743325" cy="283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Text Box 7">
            <a:extLst>
              <a:ext uri="{FF2B5EF4-FFF2-40B4-BE49-F238E27FC236}">
                <a16:creationId xmlns:a16="http://schemas.microsoft.com/office/drawing/2014/main" id="{89C9EC13-4B58-1B1F-87C5-8FFAC2234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8" y="4941889"/>
            <a:ext cx="338455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000">
                <a:solidFill>
                  <a:srgbClr val="0066FF"/>
                </a:solidFill>
                <a:latin typeface="Times New Roman" panose="02020603050405020304" pitchFamily="18" charset="0"/>
              </a:rPr>
              <a:t>When projected onto the line joining the class means, the classes are not well separated.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1510" name="Text Box 8">
            <a:extLst>
              <a:ext uri="{FF2B5EF4-FFF2-40B4-BE49-F238E27FC236}">
                <a16:creationId xmlns:a16="http://schemas.microsoft.com/office/drawing/2014/main" id="{DB2E0A69-7411-E35B-798B-AE21FFC9B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6363" y="4941889"/>
            <a:ext cx="424815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000">
                <a:solidFill>
                  <a:srgbClr val="0066FF"/>
                </a:solidFill>
                <a:latin typeface="Times New Roman" panose="02020603050405020304" pitchFamily="18" charset="0"/>
              </a:rPr>
              <a:t>Fisher chooses a direction that makes the projected classes much tighter, even though their projected means are less far apart.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F59907E4-08ED-C6F6-BEF7-A6FB485B0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PCA vs LDA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3716A4-D1A0-C371-1DD5-03DAEAD92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BB7C37B-3F24-4C55-A483-54CF1B18E853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/>
              <a:t>42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22532" name="Picture 2" descr="Linear Discriminant Analysis">
            <a:extLst>
              <a:ext uri="{FF2B5EF4-FFF2-40B4-BE49-F238E27FC236}">
                <a16:creationId xmlns:a16="http://schemas.microsoft.com/office/drawing/2014/main" id="{2CA6EBC7-ECE2-E2A0-C541-9EFDEA020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354" y="1735138"/>
            <a:ext cx="8988425" cy="457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4A00F-FA03-34BE-C662-5585BD1BB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BD262-F262-9ADB-AA5A-0A0BD0AE6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for Applying LFDA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84D78-7E01-C6A0-9B06-34C296F89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Compute the mean of both the classes in </a:t>
            </a:r>
            <a:r>
              <a:rPr lang="en-US" i="1" dirty="0"/>
              <a:t>n </a:t>
            </a:r>
            <a:r>
              <a:rPr lang="en-US" dirty="0"/>
              <a:t>dimensional space.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Calculate the scatter matrices for both the classes.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Calculate the matrices for within- and between-classes scatter.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Calculate Eigenvalues and Eigenvectors for product of within- and between classes scatter matrix (where inverse of the within class matrix is taken).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Using the Eigenvector, transform the original data to the new axis by matrix multiplication.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E2F056-6A54-25C7-2013-877624FA6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658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C00B3-8AC3-66E5-7BE7-2C91C6B45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ED7EB-3E8F-26B6-0B2E-631939385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15362-7326-D421-29A3-AF9660099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44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5CEC35B-55F9-26F1-4FBF-9EC0CADFD5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86961"/>
              </p:ext>
            </p:extLst>
          </p:nvPr>
        </p:nvGraphicFramePr>
        <p:xfrm>
          <a:off x="580796" y="1523323"/>
          <a:ext cx="5626964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6741">
                  <a:extLst>
                    <a:ext uri="{9D8B030D-6E8A-4147-A177-3AD203B41FA5}">
                      <a16:colId xmlns:a16="http://schemas.microsoft.com/office/drawing/2014/main" val="2276031802"/>
                    </a:ext>
                  </a:extLst>
                </a:gridCol>
                <a:gridCol w="1406741">
                  <a:extLst>
                    <a:ext uri="{9D8B030D-6E8A-4147-A177-3AD203B41FA5}">
                      <a16:colId xmlns:a16="http://schemas.microsoft.com/office/drawing/2014/main" val="3845515123"/>
                    </a:ext>
                  </a:extLst>
                </a:gridCol>
                <a:gridCol w="1406741">
                  <a:extLst>
                    <a:ext uri="{9D8B030D-6E8A-4147-A177-3AD203B41FA5}">
                      <a16:colId xmlns:a16="http://schemas.microsoft.com/office/drawing/2014/main" val="3366577154"/>
                    </a:ext>
                  </a:extLst>
                </a:gridCol>
                <a:gridCol w="1406741">
                  <a:extLst>
                    <a:ext uri="{9D8B030D-6E8A-4147-A177-3AD203B41FA5}">
                      <a16:colId xmlns:a16="http://schemas.microsoft.com/office/drawing/2014/main" val="16890889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Label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Means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4823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[2.04, 2.24]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137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9070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4086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2131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4417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/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[1.58, 1.58]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713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997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8097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7655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411825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E42A99E-C888-F8C4-BC09-9C330D84C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6411" y="1404696"/>
            <a:ext cx="4546548" cy="447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697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B9CEC-B19E-B9F2-E910-B764C5AB1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E1833-977F-EB4C-E47B-E6EA33F55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FE97B-115F-4051-25C6-2219F688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45</a:t>
            </a:fld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0AF2CAA-B478-2506-4810-FB1D0BE5D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350802"/>
              </p:ext>
            </p:extLst>
          </p:nvPr>
        </p:nvGraphicFramePr>
        <p:xfrm>
          <a:off x="64533" y="1340411"/>
          <a:ext cx="7705862" cy="55175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778">
                  <a:extLst>
                    <a:ext uri="{9D8B030D-6E8A-4147-A177-3AD203B41FA5}">
                      <a16:colId xmlns:a16="http://schemas.microsoft.com/office/drawing/2014/main" val="2276031802"/>
                    </a:ext>
                  </a:extLst>
                </a:gridCol>
                <a:gridCol w="926210">
                  <a:extLst>
                    <a:ext uri="{9D8B030D-6E8A-4147-A177-3AD203B41FA5}">
                      <a16:colId xmlns:a16="http://schemas.microsoft.com/office/drawing/2014/main" val="3845515123"/>
                    </a:ext>
                  </a:extLst>
                </a:gridCol>
                <a:gridCol w="2316600">
                  <a:extLst>
                    <a:ext uri="{9D8B030D-6E8A-4147-A177-3AD203B41FA5}">
                      <a16:colId xmlns:a16="http://schemas.microsoft.com/office/drawing/2014/main" val="1927671714"/>
                    </a:ext>
                  </a:extLst>
                </a:gridCol>
                <a:gridCol w="1837137">
                  <a:extLst>
                    <a:ext uri="{9D8B030D-6E8A-4147-A177-3AD203B41FA5}">
                      <a16:colId xmlns:a16="http://schemas.microsoft.com/office/drawing/2014/main" val="3035159362"/>
                    </a:ext>
                  </a:extLst>
                </a:gridCol>
                <a:gridCol w="1837137">
                  <a:extLst>
                    <a:ext uri="{9D8B030D-6E8A-4147-A177-3AD203B41FA5}">
                      <a16:colId xmlns:a16="http://schemas.microsoft.com/office/drawing/2014/main" val="1790902669"/>
                    </a:ext>
                  </a:extLst>
                </a:gridCol>
              </a:tblGrid>
              <a:tr h="12387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 – Mean of 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Y – Mean of 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(X – Mean of X)*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(Y – Mean of 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(X – Mean of X)*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(X – Mean of X)</a:t>
                      </a:r>
                    </a:p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(Y – Mean of Y)*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(Y – Mean of Y)</a:t>
                      </a:r>
                    </a:p>
                    <a:p>
                      <a:pPr algn="ctr"/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4823521"/>
                  </a:ext>
                </a:extLst>
              </a:tr>
              <a:tr h="3491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0.46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0.16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0.0736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0.2116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0.0256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51137861"/>
                  </a:ext>
                </a:extLst>
              </a:tr>
              <a:tr h="3491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-1.54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-1.54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2.3716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2.3716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2.3716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2789070442"/>
                  </a:ext>
                </a:extLst>
              </a:tr>
              <a:tr h="3491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0.16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0.66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0.1056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0.0256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0.4356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1974086188"/>
                  </a:ext>
                </a:extLst>
              </a:tr>
              <a:tr h="3491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-0.14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-0.04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0.0056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0.0196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0.0016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3612131868"/>
                  </a:ext>
                </a:extLst>
              </a:tr>
              <a:tr h="3491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1.06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0.76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0.8056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1.1236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0.5776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1244417300"/>
                  </a:ext>
                </a:extLst>
              </a:tr>
              <a:tr h="34919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Summation</a:t>
                      </a:r>
                    </a:p>
                  </a:txBody>
                  <a:tcPr marL="8626" marR="8626" marT="8626" marB="0" anchor="b"/>
                </a:tc>
                <a:tc h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3.362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3.752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3.412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3840140588"/>
                  </a:ext>
                </a:extLst>
              </a:tr>
              <a:tr h="3491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0.72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1.12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0.8064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0.5184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1.2544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3298713918"/>
                  </a:ext>
                </a:extLst>
              </a:tr>
              <a:tr h="3491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0.42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0.02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0.0084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0.1764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0.0004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188997581"/>
                  </a:ext>
                </a:extLst>
              </a:tr>
              <a:tr h="3491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-0.58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-0.48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0.2784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0.3364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0.2304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2108097545"/>
                  </a:ext>
                </a:extLst>
              </a:tr>
              <a:tr h="3491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-0.08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0.02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-0.0016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0.0064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0.0004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1687655490"/>
                  </a:ext>
                </a:extLst>
              </a:tr>
              <a:tr h="34919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-0.48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-0.68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0.3264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0.2304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0.4624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1364118256"/>
                  </a:ext>
                </a:extLst>
              </a:tr>
              <a:tr h="34919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Summation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1.418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1.268</a:t>
                      </a:r>
                    </a:p>
                  </a:txBody>
                  <a:tcPr marL="8626" marR="8626" marT="8626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1.948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348630112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6E1B9B3-F551-1362-FA46-81AC0E3A5F1B}"/>
                  </a:ext>
                </a:extLst>
              </p:cNvPr>
              <p:cNvSpPr txBox="1"/>
              <p:nvPr/>
            </p:nvSpPr>
            <p:spPr>
              <a:xfrm>
                <a:off x="6797842" y="154701"/>
                <a:ext cx="6368716" cy="1251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𝑐𝑜𝑣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−1)</m:t>
                          </m:r>
                        </m:den>
                      </m:f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AA3DF3-075F-2D02-9F73-7F382891C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842" y="154701"/>
                <a:ext cx="6368716" cy="12514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40288B0-F9E7-5B50-B2A7-CB4F5A8DFB86}"/>
                  </a:ext>
                </a:extLst>
              </p:cNvPr>
              <p:cNvSpPr txBox="1"/>
              <p:nvPr/>
            </p:nvSpPr>
            <p:spPr>
              <a:xfrm>
                <a:off x="6797842" y="1233577"/>
                <a:ext cx="6368716" cy="11972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𝐶𝑂𝑉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𝐶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𝑂𝑉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𝐶𝑂𝑉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𝐶𝑂𝑉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𝐶𝑂𝑉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  <m:r>
                                  <a:rPr lang="en-US" sz="24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A99F08-59E0-2EE9-DAA8-B5A16EE8A6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7842" y="1233577"/>
                <a:ext cx="6368716" cy="11972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8CEB7D-202D-B672-2125-28AC6D7CF73D}"/>
                  </a:ext>
                </a:extLst>
              </p:cNvPr>
              <p:cNvSpPr txBox="1"/>
              <p:nvPr/>
            </p:nvSpPr>
            <p:spPr>
              <a:xfrm>
                <a:off x="8346234" y="3100097"/>
                <a:ext cx="3909590" cy="1188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0" kern="1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S1</a:t>
                </a:r>
                <a14:m>
                  <m:oMath xmlns:m="http://schemas.openxmlformats.org/officeDocument/2006/math">
                    <m:r>
                      <a:rPr lang="en-US" sz="28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= 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8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0.938</m:t>
                              </m:r>
                            </m:e>
                            <m:e>
                              <m:r>
                                <a:rPr lang="en-US" sz="28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0.840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0.840</m:t>
                              </m:r>
                            </m:e>
                            <m:e>
                              <m:r>
                                <a:rPr lang="en-US" sz="28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0.853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8CEB7D-202D-B672-2125-28AC6D7CF7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6234" y="3100097"/>
                <a:ext cx="3909590" cy="1188915"/>
              </a:xfrm>
              <a:prstGeom prst="rect">
                <a:avLst/>
              </a:prstGeom>
              <a:blipFill>
                <a:blip r:embed="rId5"/>
                <a:stretch>
                  <a:fillRect l="-3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63FA18-B1CB-125B-CE07-17A62A157A2C}"/>
                  </a:ext>
                </a:extLst>
              </p:cNvPr>
              <p:cNvSpPr txBox="1"/>
              <p:nvPr/>
            </p:nvSpPr>
            <p:spPr>
              <a:xfrm>
                <a:off x="8346234" y="4581820"/>
                <a:ext cx="3909590" cy="1180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0" kern="1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S2</a:t>
                </a:r>
                <a14:m>
                  <m:oMath xmlns:m="http://schemas.openxmlformats.org/officeDocument/2006/math">
                    <m:r>
                      <a:rPr lang="en-US" sz="28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= 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kern="100" smtClean="0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b="0" i="1" kern="100" smtClean="0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8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0.317</m:t>
                              </m:r>
                            </m:e>
                            <m:e>
                              <m:r>
                                <a:rPr lang="en-US" sz="28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0.354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0.354</m:t>
                              </m:r>
                            </m:e>
                            <m:e>
                              <m:r>
                                <a:rPr lang="en-US" sz="28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0.487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63FA18-B1CB-125B-CE07-17A62A157A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6234" y="4581820"/>
                <a:ext cx="3909590" cy="1180131"/>
              </a:xfrm>
              <a:prstGeom prst="rect">
                <a:avLst/>
              </a:prstGeom>
              <a:blipFill>
                <a:blip r:embed="rId6"/>
                <a:stretch>
                  <a:fillRect l="-3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2360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B6FD7-636F-FF5F-E5BC-147E805A5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69E4B-203C-30C1-5D34-0CF90DD1D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8824A-F9A7-C834-3215-2DD5E65A2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46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89886DB-1564-FE63-9B87-EC912850C2E4}"/>
                  </a:ext>
                </a:extLst>
              </p:cNvPr>
              <p:cNvSpPr txBox="1"/>
              <p:nvPr/>
            </p:nvSpPr>
            <p:spPr>
              <a:xfrm>
                <a:off x="117616" y="3504807"/>
                <a:ext cx="6368716" cy="1188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1.255</m:t>
                                </m:r>
                              </m:e>
                              <m:e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1.194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1.194</m:t>
                                </m:r>
                              </m:e>
                              <m:e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1.34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89886DB-1564-FE63-9B87-EC912850C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16" y="3504807"/>
                <a:ext cx="6368716" cy="11889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EFCB133-2064-755E-7A07-2AD47FB10444}"/>
              </a:ext>
            </a:extLst>
          </p:cNvPr>
          <p:cNvCxnSpPr/>
          <p:nvPr/>
        </p:nvCxnSpPr>
        <p:spPr>
          <a:xfrm>
            <a:off x="6638192" y="1529862"/>
            <a:ext cx="0" cy="509953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2925D0E-B899-E450-3543-C42D343AE6D0}"/>
                  </a:ext>
                </a:extLst>
              </p:cNvPr>
              <p:cNvSpPr txBox="1"/>
              <p:nvPr/>
            </p:nvSpPr>
            <p:spPr>
              <a:xfrm>
                <a:off x="193546" y="2494407"/>
                <a:ext cx="6368716" cy="892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𝑆𝑢𝑚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𝑜𝑓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𝑆𝑐𝑎𝑡𝑡𝑒𝑟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𝑀𝑎𝑡𝑟𝑖𝑐𝑒𝑠</m:t>
                      </m:r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2925D0E-B899-E450-3543-C42D343AE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46" y="2494407"/>
                <a:ext cx="6368716" cy="8925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8E03ED-8613-C31B-AE80-BE81C487BB1F}"/>
                  </a:ext>
                </a:extLst>
              </p:cNvPr>
              <p:cNvSpPr txBox="1"/>
              <p:nvPr/>
            </p:nvSpPr>
            <p:spPr>
              <a:xfrm>
                <a:off x="6368716" y="1907005"/>
                <a:ext cx="6368716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0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𝐷𝑜𝑡</m:t>
                      </m:r>
                      <m:r>
                        <a:rPr lang="en-US" sz="20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𝑃𝑟𝑜𝑑𝑢𝑐𝑡</m:t>
                      </m:r>
                      <m:r>
                        <a:rPr lang="en-US" sz="20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𝑜𝑓</m:t>
                      </m:r>
                      <m:r>
                        <a:rPr lang="en-US" sz="20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𝐷𝑖𝑓𝑓𝑒𝑟𝑒𝑛𝑐𝑒𝑠</m:t>
                      </m:r>
                      <m:r>
                        <a:rPr lang="en-US" sz="20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𝑜𝑓</m:t>
                      </m:r>
                      <m:r>
                        <a:rPr lang="en-US" sz="20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𝑀𝑒𝑎𝑛𝑠</m:t>
                      </m:r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8E03ED-8613-C31B-AE80-BE81C487B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716" y="1907005"/>
                <a:ext cx="6368716" cy="769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BEBD753-3441-6453-DBE5-12045E43576A}"/>
                  </a:ext>
                </a:extLst>
              </p:cNvPr>
              <p:cNvSpPr txBox="1"/>
              <p:nvPr/>
            </p:nvSpPr>
            <p:spPr>
              <a:xfrm>
                <a:off x="6368716" y="1135983"/>
                <a:ext cx="6368716" cy="892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𝐵𝑒𝑡𝑤𝑒𝑒𝑛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𝐶𝑙𝑎𝑠𝑠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𝑆𝑐𝑎𝑡𝑡𝑒𝑟</m:t>
                      </m:r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BEBD753-3441-6453-DBE5-12045E435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716" y="1135983"/>
                <a:ext cx="6368716" cy="8925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5747A4C-E948-37A0-8C6D-56224E3C7B67}"/>
                  </a:ext>
                </a:extLst>
              </p:cNvPr>
              <p:cNvSpPr txBox="1"/>
              <p:nvPr/>
            </p:nvSpPr>
            <p:spPr>
              <a:xfrm>
                <a:off x="0" y="1598695"/>
                <a:ext cx="6368716" cy="892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𝑊𝑖𝑡h𝑖𝑛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𝐶𝑙𝑎𝑠𝑠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𝑆𝑐𝑎𝑡𝑡𝑒𝑟</m:t>
                      </m:r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5747A4C-E948-37A0-8C6D-56224E3C7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98695"/>
                <a:ext cx="6368716" cy="8925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47126BB-18B0-05F5-3988-40F3E7688987}"/>
                  </a:ext>
                </a:extLst>
              </p:cNvPr>
              <p:cNvSpPr txBox="1"/>
              <p:nvPr/>
            </p:nvSpPr>
            <p:spPr>
              <a:xfrm>
                <a:off x="7330292" y="2847799"/>
                <a:ext cx="18102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.04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2.24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47126BB-18B0-05F5-3988-40F3E7688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0292" y="2847799"/>
                <a:ext cx="1810239" cy="276999"/>
              </a:xfrm>
              <a:prstGeom prst="rect">
                <a:avLst/>
              </a:prstGeom>
              <a:blipFill>
                <a:blip r:embed="rId8"/>
                <a:stretch>
                  <a:fillRect l="-1347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EB6B557-779B-B8C5-1ABE-B5FDC7F7F280}"/>
                  </a:ext>
                </a:extLst>
              </p:cNvPr>
              <p:cNvSpPr txBox="1"/>
              <p:nvPr/>
            </p:nvSpPr>
            <p:spPr>
              <a:xfrm>
                <a:off x="10189338" y="2847799"/>
                <a:ext cx="17493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1.58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1.58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EB6B557-779B-B8C5-1ABE-B5FDC7F7F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9338" y="2847799"/>
                <a:ext cx="1749325" cy="276999"/>
              </a:xfrm>
              <a:prstGeom prst="rect">
                <a:avLst/>
              </a:prstGeom>
              <a:blipFill>
                <a:blip r:embed="rId9"/>
                <a:stretch>
                  <a:fillRect l="-1394"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DED1E88-ADDD-C36A-02D8-0693995EAA25}"/>
                  </a:ext>
                </a:extLst>
              </p:cNvPr>
              <p:cNvSpPr txBox="1"/>
              <p:nvPr/>
            </p:nvSpPr>
            <p:spPr>
              <a:xfrm>
                <a:off x="9322353" y="4391219"/>
                <a:ext cx="13109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0.46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0.66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DED1E88-ADDD-C36A-02D8-0693995EA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2353" y="4391219"/>
                <a:ext cx="1310936" cy="276999"/>
              </a:xfrm>
              <a:prstGeom prst="rect">
                <a:avLst/>
              </a:prstGeom>
              <a:blipFill>
                <a:blip r:embed="rId10"/>
                <a:stretch>
                  <a:fillRect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67ABDC5-2804-B409-1EEE-61D57F1FCC75}"/>
                  </a:ext>
                </a:extLst>
              </p:cNvPr>
              <p:cNvSpPr txBox="1"/>
              <p:nvPr/>
            </p:nvSpPr>
            <p:spPr>
              <a:xfrm>
                <a:off x="8610600" y="4328545"/>
                <a:ext cx="654346" cy="4601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0.46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0.66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67ABDC5-2804-B409-1EEE-61D57F1FC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600" y="4328545"/>
                <a:ext cx="654346" cy="46012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D03A9AE-650F-E0AE-5DB7-7E114F70A80D}"/>
                  </a:ext>
                </a:extLst>
              </p:cNvPr>
              <p:cNvSpPr txBox="1"/>
              <p:nvPr/>
            </p:nvSpPr>
            <p:spPr>
              <a:xfrm>
                <a:off x="6096000" y="5464606"/>
                <a:ext cx="6368716" cy="1188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.211</m:t>
                                </m:r>
                              </m:e>
                              <m:e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0.303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0.303</m:t>
                                </m:r>
                              </m:e>
                              <m:e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0.435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D03A9AE-650F-E0AE-5DB7-7E114F70A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464606"/>
                <a:ext cx="6368716" cy="118891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28E4D0B-F3E2-7F69-4005-5509EB2F04B7}"/>
                  </a:ext>
                </a:extLst>
              </p:cNvPr>
              <p:cNvSpPr txBox="1"/>
              <p:nvPr/>
            </p:nvSpPr>
            <p:spPr>
              <a:xfrm>
                <a:off x="8441583" y="3583312"/>
                <a:ext cx="22229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0.46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0.66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28E4D0B-F3E2-7F69-4005-5509EB2F0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1583" y="3583312"/>
                <a:ext cx="2222981" cy="276999"/>
              </a:xfrm>
              <a:prstGeom prst="rect">
                <a:avLst/>
              </a:prstGeom>
              <a:blipFill>
                <a:blip r:embed="rId13"/>
                <a:stretch>
                  <a:fillRect l="-1099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002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733B9-E4D5-099F-3086-F317ED1CB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B0C6-9034-D048-50A0-2674A72B1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1A282-479D-04A9-3442-9D4C12F41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47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381B948-0E43-9D8B-070A-1E62208AFFB2}"/>
                  </a:ext>
                </a:extLst>
              </p:cNvPr>
              <p:cNvSpPr txBox="1"/>
              <p:nvPr/>
            </p:nvSpPr>
            <p:spPr>
              <a:xfrm>
                <a:off x="489014" y="1750986"/>
                <a:ext cx="510139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800" i="1" kern="1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m:oMathPara>
                </a14:m>
                <a:endParaRPr lang="en-US" sz="2800" b="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381B948-0E43-9D8B-070A-1E62208AF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14" y="1750986"/>
                <a:ext cx="510139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D2D4BD9-7E13-75D4-DBE9-00E8ABA57CC6}"/>
              </a:ext>
            </a:extLst>
          </p:cNvPr>
          <p:cNvCxnSpPr/>
          <p:nvPr/>
        </p:nvCxnSpPr>
        <p:spPr>
          <a:xfrm>
            <a:off x="5704083" y="1590608"/>
            <a:ext cx="0" cy="509953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47C563C-AF8A-07B2-C772-AEF544CEA67F}"/>
                  </a:ext>
                </a:extLst>
              </p:cNvPr>
              <p:cNvSpPr txBox="1"/>
              <p:nvPr/>
            </p:nvSpPr>
            <p:spPr>
              <a:xfrm>
                <a:off x="452419" y="2440664"/>
                <a:ext cx="510139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bSup>
                      <m:sSub>
                        <m:sSubPr>
                          <m:ctrlPr>
                            <a:rPr lang="en-US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m:oMathPara>
                </a14:m>
                <a:endParaRPr lang="en-US" sz="2800" b="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47C563C-AF8A-07B2-C772-AEF544CEA6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19" y="2440664"/>
                <a:ext cx="510139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D3397D-8632-59A6-2691-18BFFC0A57AB}"/>
                  </a:ext>
                </a:extLst>
              </p:cNvPr>
              <p:cNvSpPr txBox="1"/>
              <p:nvPr/>
            </p:nvSpPr>
            <p:spPr>
              <a:xfrm>
                <a:off x="1064871" y="3130342"/>
                <a:ext cx="3483980" cy="1188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1.255</m:t>
                                </m:r>
                              </m:e>
                              <m:e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1.194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1.194</m:t>
                                </m:r>
                              </m:e>
                              <m:e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1.34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D3397D-8632-59A6-2691-18BFFC0A5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871" y="3130342"/>
                <a:ext cx="3483980" cy="11889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4F2F90E-B9DB-C69F-29C1-4F5BA9B6F76A}"/>
                  </a:ext>
                </a:extLst>
              </p:cNvPr>
              <p:cNvSpPr txBox="1"/>
              <p:nvPr/>
            </p:nvSpPr>
            <p:spPr>
              <a:xfrm>
                <a:off x="296548" y="4319257"/>
                <a:ext cx="5675989" cy="12711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US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0.256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8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1.34</m:t>
                                </m:r>
                              </m:e>
                              <m:e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−1.194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−1.194</m:t>
                                </m:r>
                              </m:e>
                              <m:e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1.255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4F2F90E-B9DB-C69F-29C1-4F5BA9B6F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48" y="4319257"/>
                <a:ext cx="5675989" cy="127111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A200FB-8945-60D4-E9AE-354B6E98DC34}"/>
                  </a:ext>
                </a:extLst>
              </p:cNvPr>
              <p:cNvSpPr txBox="1"/>
              <p:nvPr/>
            </p:nvSpPr>
            <p:spPr>
              <a:xfrm>
                <a:off x="201714" y="5483215"/>
                <a:ext cx="5675989" cy="1228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US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5.233</m:t>
                                </m:r>
                              </m:e>
                              <m:e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−4.66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−4.66</m:t>
                                </m:r>
                              </m:e>
                              <m:e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4.901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A200FB-8945-60D4-E9AE-354B6E98D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14" y="5483215"/>
                <a:ext cx="5675989" cy="12285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94014A7-5284-5549-C364-C66B6514CB19}"/>
                  </a:ext>
                </a:extLst>
              </p:cNvPr>
              <p:cNvSpPr txBox="1"/>
              <p:nvPr/>
            </p:nvSpPr>
            <p:spPr>
              <a:xfrm>
                <a:off x="5854357" y="1311046"/>
                <a:ext cx="6484255" cy="819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5.233</m:t>
                                </m:r>
                              </m:e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−4.66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−4.66</m:t>
                                </m:r>
                              </m:e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4.901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.211</m:t>
                                </m:r>
                              </m:e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0.303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0.303</m:t>
                                </m:r>
                              </m:e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0.435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m:oMathPara>
                </a14:m>
                <a:endParaRPr lang="en-US" sz="2800" b="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94014A7-5284-5549-C364-C66B6514C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4357" y="1311046"/>
                <a:ext cx="6484255" cy="8195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73CFC5F-DAF4-FFD4-A95E-2B31DCC1DD1F}"/>
                  </a:ext>
                </a:extLst>
              </p:cNvPr>
              <p:cNvSpPr txBox="1"/>
              <p:nvPr/>
            </p:nvSpPr>
            <p:spPr>
              <a:xfrm>
                <a:off x="6487918" y="3340772"/>
                <a:ext cx="5101390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𝐴𝑋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𝑋</m:t>
                      </m:r>
                    </m:oMath>
                  </m:oMathPara>
                </a14:m>
                <a:endParaRPr lang="en-US" sz="2800" b="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4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b="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2400" b="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𝐸𝑖𝑔𝑒𝑛𝑣𝑒𝑐𝑡𝑜𝑟</m:t>
                    </m:r>
                    <m:r>
                      <a:rPr lang="en-US" sz="2400" b="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𝑜𝑓</m:t>
                    </m:r>
                    <m:r>
                      <a:rPr lang="en-US" sz="2400" b="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𝑀𝑎𝑡𝑟𝑖𝑥</m:t>
                    </m:r>
                    <m:r>
                      <a:rPr lang="en-US" sz="2400" b="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endParaRPr lang="en-US" sz="2400" b="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𝐸𝑖𝑔𝑛𝑒𝑣𝑎𝑙𝑢𝑒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𝑜𝑓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𝑀𝑎𝑡𝑟𝑖𝑥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4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73CFC5F-DAF4-FFD4-A95E-2B31DCC1D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7918" y="3340772"/>
                <a:ext cx="5101390" cy="1631216"/>
              </a:xfrm>
              <a:prstGeom prst="rect">
                <a:avLst/>
              </a:prstGeom>
              <a:blipFill>
                <a:blip r:embed="rId9"/>
                <a:stretch>
                  <a:fillRect l="-17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15DC8DC-FEC3-5AD4-3BCB-01BBCED5C290}"/>
                  </a:ext>
                </a:extLst>
              </p:cNvPr>
              <p:cNvSpPr txBox="1"/>
              <p:nvPr/>
            </p:nvSpPr>
            <p:spPr>
              <a:xfrm>
                <a:off x="6278682" y="5005544"/>
                <a:ext cx="510139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8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l-GR" sz="28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8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8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800" i="1" kern="1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−</m:t>
                          </m:r>
                          <m:r>
                            <a:rPr lang="en-US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</m:d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2800" b="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15DC8DC-FEC3-5AD4-3BCB-01BBCED5C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682" y="5005544"/>
                <a:ext cx="5101390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E956A40-4459-3636-B7CA-C9752FF16485}"/>
                  </a:ext>
                </a:extLst>
              </p:cNvPr>
              <p:cNvSpPr txBox="1"/>
              <p:nvPr/>
            </p:nvSpPr>
            <p:spPr>
              <a:xfrm>
                <a:off x="6314299" y="5707095"/>
                <a:ext cx="5101390" cy="10143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8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8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sz="28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US" sz="2800" i="1" kern="1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2800" i="1" kern="10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 kern="10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800" i="1" kern="10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i="1" kern="1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−4</m:t>
                              </m:r>
                              <m:r>
                                <a:rPr lang="en-US" sz="2800" i="1" kern="10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n-US" sz="28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28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US" sz="2800" b="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E956A40-4459-3636-B7CA-C9752FF16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4299" y="5707095"/>
                <a:ext cx="5101390" cy="101438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F3D803B-C5A2-E671-2747-88A81E2B01FB}"/>
                  </a:ext>
                </a:extLst>
              </p:cNvPr>
              <p:cNvSpPr txBox="1"/>
              <p:nvPr/>
            </p:nvSpPr>
            <p:spPr>
              <a:xfrm>
                <a:off x="5887171" y="2328216"/>
                <a:ext cx="6484255" cy="819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−0.307</m:t>
                                </m:r>
                              </m:e>
                              <m:e>
                                <m:r>
                                  <a:rPr lang="en-US" sz="28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−0.441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0.501</m:t>
                                </m:r>
                              </m:e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</m:t>
                                </m:r>
                                <m:r>
                                  <a:rPr lang="en-US" sz="28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719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m:oMathPara>
                </a14:m>
                <a:endParaRPr lang="en-US" sz="2800" b="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F3D803B-C5A2-E671-2747-88A81E2B0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7171" y="2328216"/>
                <a:ext cx="6484255" cy="8195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6581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DE7C6-9654-6927-A2EE-844E7D431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14E0C-7155-4488-9C4A-A8F91187C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9D932-B453-993F-FB2F-64F5EBB80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48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F1CA8C-D15E-DC0D-40D1-7B2523B45B7F}"/>
                  </a:ext>
                </a:extLst>
              </p:cNvPr>
              <p:cNvSpPr txBox="1"/>
              <p:nvPr/>
            </p:nvSpPr>
            <p:spPr>
              <a:xfrm>
                <a:off x="174189" y="1503507"/>
                <a:ext cx="254586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24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=[</m:t>
                      </m:r>
                      <m:sSub>
                        <m:sSubPr>
                          <m:ctrlPr>
                            <a:rPr lang="en-US" sz="24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F1CA8C-D15E-DC0D-40D1-7B2523B45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89" y="1503507"/>
                <a:ext cx="2545860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DE92E9-5630-8658-F3D5-1583890FC535}"/>
                  </a:ext>
                </a:extLst>
              </p:cNvPr>
              <p:cNvSpPr txBox="1"/>
              <p:nvPr/>
            </p:nvSpPr>
            <p:spPr>
              <a:xfrm>
                <a:off x="404761" y="3167390"/>
                <a:ext cx="510139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80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800" i="1" kern="100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m:oMathPara>
                </a14:m>
                <a:endParaRPr lang="en-US" sz="2800" b="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DE92E9-5630-8658-F3D5-1583890FC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61" y="3167390"/>
                <a:ext cx="510139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2BA600F-9EA0-A12B-43BC-D43DC16867C6}"/>
              </a:ext>
            </a:extLst>
          </p:cNvPr>
          <p:cNvCxnSpPr/>
          <p:nvPr/>
        </p:nvCxnSpPr>
        <p:spPr>
          <a:xfrm>
            <a:off x="6051843" y="1621937"/>
            <a:ext cx="0" cy="509953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A008D3-08DD-F469-8FB5-8E920AF79AA1}"/>
                  </a:ext>
                </a:extLst>
              </p:cNvPr>
              <p:cNvSpPr txBox="1"/>
              <p:nvPr/>
            </p:nvSpPr>
            <p:spPr>
              <a:xfrm>
                <a:off x="404761" y="4122080"/>
                <a:ext cx="5101390" cy="819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−0.307</m:t>
                                </m:r>
                              </m:e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−0.441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0.501</m:t>
                                </m:r>
                              </m:e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0.719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m:oMathPara>
                </a14:m>
                <a:endParaRPr lang="en-US" sz="2800" b="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4A008D3-08DD-F469-8FB5-8E920AF79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61" y="4122080"/>
                <a:ext cx="5101390" cy="8195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7E250B4-9747-461B-A0F7-32319437FF97}"/>
                  </a:ext>
                </a:extLst>
              </p:cNvPr>
              <p:cNvSpPr txBox="1"/>
              <p:nvPr/>
            </p:nvSpPr>
            <p:spPr>
              <a:xfrm>
                <a:off x="174189" y="5269279"/>
                <a:ext cx="5731041" cy="884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−0.307</m:t>
                                </m:r>
                              </m:e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−0.441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0.501</m:t>
                                </m:r>
                              </m:e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0.719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b="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7E250B4-9747-461B-A0F7-32319437F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89" y="5269279"/>
                <a:ext cx="5731041" cy="8845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77F5A1-337E-BB75-DEC1-B2AAF52108A7}"/>
                  </a:ext>
                </a:extLst>
              </p:cNvPr>
              <p:cNvSpPr txBox="1"/>
              <p:nvPr/>
            </p:nvSpPr>
            <p:spPr>
              <a:xfrm>
                <a:off x="5894126" y="1414292"/>
                <a:ext cx="6203739" cy="9184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−0.307</m:t>
                                </m:r>
                              </m:e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−0.441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0.501</m:t>
                                </m:r>
                              </m:e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0.719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sz="28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US" sz="2800" b="0" i="1" kern="100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 </m:t>
                                        </m:r>
                                      </m:sub>
                                    </m:sSub>
                                    <m: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b="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77F5A1-337E-BB75-DEC1-B2AAF52108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4126" y="1414292"/>
                <a:ext cx="6203739" cy="91845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582E9B4-7F8D-B44B-C4A5-1532A7A98ADB}"/>
                  </a:ext>
                </a:extLst>
              </p:cNvPr>
              <p:cNvSpPr txBox="1"/>
              <p:nvPr/>
            </p:nvSpPr>
            <p:spPr>
              <a:xfrm>
                <a:off x="6609319" y="4067256"/>
                <a:ext cx="4810471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To solve the above set of equations, we can assume the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of to 1 and use that value.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kern="1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Both values are normalized to make it them unit length.</a:t>
                </a:r>
                <a:endParaRPr lang="en-US" sz="2000" b="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582E9B4-7F8D-B44B-C4A5-1532A7A98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9319" y="4067256"/>
                <a:ext cx="4810471" cy="1631216"/>
              </a:xfrm>
              <a:prstGeom prst="rect">
                <a:avLst/>
              </a:prstGeom>
              <a:blipFill>
                <a:blip r:embed="rId8"/>
                <a:stretch>
                  <a:fillRect l="-1141" t="-1866"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689A21-2DDE-991E-90D3-EB53ED07F2EA}"/>
                  </a:ext>
                </a:extLst>
              </p:cNvPr>
              <p:cNvSpPr txBox="1"/>
              <p:nvPr/>
            </p:nvSpPr>
            <p:spPr>
              <a:xfrm>
                <a:off x="2965932" y="1597098"/>
                <a:ext cx="330577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24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=[0.718,−0.306]</m:t>
                      </m:r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689A21-2DDE-991E-90D3-EB53ED07F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932" y="1597098"/>
                <a:ext cx="3305779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B75A37-41ED-3F49-6B43-C14B30E453E2}"/>
                  </a:ext>
                </a:extLst>
              </p:cNvPr>
              <p:cNvSpPr txBox="1"/>
              <p:nvPr/>
            </p:nvSpPr>
            <p:spPr>
              <a:xfrm>
                <a:off x="1447119" y="2444066"/>
                <a:ext cx="330577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en-US" sz="24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=0.718</m:t>
                      </m:r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2B75A37-41ED-3F49-6B43-C14B30E45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119" y="2444066"/>
                <a:ext cx="3305779" cy="83099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8006855-64FD-51C7-0E0C-00DE3C24AA61}"/>
                  </a:ext>
                </a:extLst>
              </p:cNvPr>
              <p:cNvSpPr txBox="1"/>
              <p:nvPr/>
            </p:nvSpPr>
            <p:spPr>
              <a:xfrm>
                <a:off x="6271711" y="2715872"/>
                <a:ext cx="5920290" cy="8903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−0.307</m:t>
                                </m:r>
                              </m:e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−0.441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0.501</m:t>
                                </m:r>
                              </m:e>
                              <m:e>
                                <m:r>
                                  <a:rPr lang="en-US" sz="2800" i="1" kern="1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0.719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80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kern="10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0.718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−0.306</m:t>
                                    </m:r>
                                    <m:r>
                                      <a:rPr lang="en-US" sz="2800" i="1" kern="10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sz="2800" b="0" i="1" kern="10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b="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8006855-64FD-51C7-0E0C-00DE3C24A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1711" y="2715872"/>
                <a:ext cx="5920290" cy="89030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3627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D3D96-5AC5-C061-77FC-BD8DC966D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E2AFF-9EEC-4E4E-86B6-63CEA3736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C6C18-242B-A310-44CF-C6A7CC370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49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D5E1A06-703B-CD51-F2F7-2F859F9E9905}"/>
              </a:ext>
            </a:extLst>
          </p:cNvPr>
          <p:cNvCxnSpPr/>
          <p:nvPr/>
        </p:nvCxnSpPr>
        <p:spPr>
          <a:xfrm>
            <a:off x="4412604" y="1621937"/>
            <a:ext cx="0" cy="509953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D7485D-B712-127C-62A3-3749309B946A}"/>
                  </a:ext>
                </a:extLst>
              </p:cNvPr>
              <p:cNvSpPr txBox="1"/>
              <p:nvPr/>
            </p:nvSpPr>
            <p:spPr>
              <a:xfrm>
                <a:off x="-450844" y="1832477"/>
                <a:ext cx="510139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a:rPr lang="en-US" sz="28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.409</m:t>
                                </m:r>
                              </m:e>
                              <m:e>
                                <m:r>
                                  <a:rPr lang="en-US" sz="28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−0.955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sz="2800" b="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D7485D-B712-127C-62A3-3749309B9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50844" y="1832477"/>
                <a:ext cx="510139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8C1E46-4B5D-90B1-8E92-8D30E190A11A}"/>
                  </a:ext>
                </a:extLst>
              </p:cNvPr>
              <p:cNvSpPr txBox="1"/>
              <p:nvPr/>
            </p:nvSpPr>
            <p:spPr>
              <a:xfrm>
                <a:off x="5228702" y="1690688"/>
                <a:ext cx="510139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𝑒𝑖𝑔𝑒𝑛𝑣𝑒𝑐𝑡𝑜𝑟</m:t>
                          </m:r>
                          <m:r>
                            <a:rPr lang="en-US" sz="2800" b="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 </m:t>
                          </m:r>
                          <m:r>
                            <a:rPr lang="en-US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US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sz="28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8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 sz="28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sz="28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n-US" sz="2800" b="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800" b="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8C1E46-4B5D-90B1-8E92-8D30E190A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702" y="1690688"/>
                <a:ext cx="510139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D3C85C-304D-0955-5764-2658DD9AA776}"/>
                  </a:ext>
                </a:extLst>
              </p:cNvPr>
              <p:cNvSpPr txBox="1"/>
              <p:nvPr/>
            </p:nvSpPr>
            <p:spPr>
              <a:xfrm>
                <a:off x="3639395" y="2474582"/>
                <a:ext cx="5675989" cy="1228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US" sz="28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sz="2800" b="0" i="1" kern="100" smtClean="0"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kern="100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kern="100" smtClean="0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5.233</m:t>
                                </m:r>
                              </m:e>
                              <m:e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−4.66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−4.66</m:t>
                                </m:r>
                              </m:e>
                              <m:e>
                                <m:r>
                                  <a:rPr lang="en-US" sz="2800" b="0" i="1" kern="100" smtClean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4.901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D3C85C-304D-0955-5764-2658DD9AA7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9395" y="2474582"/>
                <a:ext cx="5675989" cy="12285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F73C8CA-258C-065A-7ACB-2105F7F4375B}"/>
                  </a:ext>
                </a:extLst>
              </p:cNvPr>
              <p:cNvSpPr txBox="1"/>
              <p:nvPr/>
            </p:nvSpPr>
            <p:spPr>
              <a:xfrm>
                <a:off x="8606415" y="2657965"/>
                <a:ext cx="344735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0.46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0.66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F73C8CA-258C-065A-7ACB-2105F7F43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6415" y="2657965"/>
                <a:ext cx="344735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C9C5EA0-096A-A747-1027-02B399909997}"/>
                  </a:ext>
                </a:extLst>
              </p:cNvPr>
              <p:cNvSpPr txBox="1"/>
              <p:nvPr/>
            </p:nvSpPr>
            <p:spPr>
              <a:xfrm>
                <a:off x="6882738" y="3740819"/>
                <a:ext cx="269766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0.668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1.091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C9C5EA0-096A-A747-1027-02B399909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738" y="3740819"/>
                <a:ext cx="2697662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C6D7E4D-199A-9089-3B67-2158A75F5493}"/>
                  </a:ext>
                </a:extLst>
              </p:cNvPr>
              <p:cNvSpPr txBox="1"/>
              <p:nvPr/>
            </p:nvSpPr>
            <p:spPr>
              <a:xfrm>
                <a:off x="6882738" y="4905984"/>
                <a:ext cx="269766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0.522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0.855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C6D7E4D-199A-9089-3B67-2158A75F5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738" y="4905984"/>
                <a:ext cx="2697662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5098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A92E9-E440-27CC-484F-E0619BC26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A6E92-1822-246B-DAAF-E98BC4B6C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7E737-A9D6-A3FA-A054-57AD3E5E1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50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73C31DD-BD36-17CB-034B-6EEBD2C52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969585"/>
              </p:ext>
            </p:extLst>
          </p:nvPr>
        </p:nvGraphicFramePr>
        <p:xfrm>
          <a:off x="580796" y="1523323"/>
          <a:ext cx="422022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056">
                  <a:extLst>
                    <a:ext uri="{9D8B030D-6E8A-4147-A177-3AD203B41FA5}">
                      <a16:colId xmlns:a16="http://schemas.microsoft.com/office/drawing/2014/main" val="2276031802"/>
                    </a:ext>
                  </a:extLst>
                </a:gridCol>
                <a:gridCol w="1055056">
                  <a:extLst>
                    <a:ext uri="{9D8B030D-6E8A-4147-A177-3AD203B41FA5}">
                      <a16:colId xmlns:a16="http://schemas.microsoft.com/office/drawing/2014/main" val="3845515123"/>
                    </a:ext>
                  </a:extLst>
                </a:gridCol>
                <a:gridCol w="1055056">
                  <a:extLst>
                    <a:ext uri="{9D8B030D-6E8A-4147-A177-3AD203B41FA5}">
                      <a16:colId xmlns:a16="http://schemas.microsoft.com/office/drawing/2014/main" val="3366577154"/>
                    </a:ext>
                  </a:extLst>
                </a:gridCol>
                <a:gridCol w="1055056">
                  <a:extLst>
                    <a:ext uri="{9D8B030D-6E8A-4147-A177-3AD203B41FA5}">
                      <a16:colId xmlns:a16="http://schemas.microsoft.com/office/drawing/2014/main" val="38931112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Label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Transformed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4823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-1.2695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51137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-0.464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2789070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-1.8697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1974086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-1.3239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3612131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3.0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-1.5971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1244417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-1.6378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3298713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-0.71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188997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-0.6415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2108097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-0.9145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1687655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-0.4096</a:t>
                      </a:r>
                    </a:p>
                  </a:txBody>
                  <a:tcPr marL="8626" marR="8626" marT="8626" marB="0" anchor="b"/>
                </a:tc>
                <a:extLst>
                  <a:ext uri="{0D108BD9-81ED-4DB2-BD59-A6C34878D82A}">
                    <a16:rowId xmlns:a16="http://schemas.microsoft.com/office/drawing/2014/main" val="136411825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FE98EA3-9F21-D261-141A-2A2532DF72AA}"/>
                  </a:ext>
                </a:extLst>
              </p:cNvPr>
              <p:cNvSpPr txBox="1"/>
              <p:nvPr/>
            </p:nvSpPr>
            <p:spPr>
              <a:xfrm>
                <a:off x="7090610" y="365125"/>
                <a:ext cx="510139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kern="1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kern="10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  <m:r>
                                  <a:rPr lang="en-US" sz="28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.409</m:t>
                                </m:r>
                              </m:e>
                              <m:e>
                                <m:r>
                                  <a:rPr lang="en-US" sz="2800" b="0" i="1" kern="10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−0.955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8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sz="2800" b="0" kern="1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FE98EA3-9F21-D261-141A-2A2532DF7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0610" y="365125"/>
                <a:ext cx="510139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8C610009-38BC-4ED8-09AA-84C9FAE5F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318" y="2655620"/>
            <a:ext cx="7096928" cy="239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2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AD88E-5EEC-CCFE-F131-F1D7B76E8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0B445-7389-CA6C-BCE5-D1B60537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LFDA –Solved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5C450-C0F2-742E-10FF-6DA3C02B4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51</a:t>
            </a:fld>
            <a:endParaRPr lang="en-US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3CD65BA0-BC3F-0ABF-46DF-C97860749C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50" t="19630" r="18333" b="9259"/>
          <a:stretch>
            <a:fillRect/>
          </a:stretch>
        </p:blipFill>
        <p:spPr bwMode="auto">
          <a:xfrm>
            <a:off x="1524000" y="1447800"/>
            <a:ext cx="91440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6792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A942B-1011-A230-74B2-8DD784973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>
            <a:extLst>
              <a:ext uri="{FF2B5EF4-FFF2-40B4-BE49-F238E27FC236}">
                <a16:creationId xmlns:a16="http://schemas.microsoft.com/office/drawing/2014/main" id="{1376300F-79AC-1CC8-A257-E1EDB1BC1F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How Many Classes?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917284-8E34-A8A2-DB19-562F1849D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</a:pPr>
            <a:r>
              <a:rPr lang="en-US" dirty="0"/>
              <a:t>PCA does not consider the different classes in the data, so the number of classes can be infinite.</a:t>
            </a:r>
          </a:p>
          <a:p>
            <a:pPr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</a:pPr>
            <a:endParaRPr lang="en-US" dirty="0"/>
          </a:p>
          <a:p>
            <a:pPr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</a:pPr>
            <a:r>
              <a:rPr lang="en-US" dirty="0"/>
              <a:t>LDA works for 2 classes only.</a:t>
            </a:r>
          </a:p>
          <a:p>
            <a:pPr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</a:pPr>
            <a:endParaRPr lang="en-US" dirty="0"/>
          </a:p>
          <a:p>
            <a:pPr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</a:pPr>
            <a:r>
              <a:rPr lang="en-US" dirty="0"/>
              <a:t>So how can we apply LDA on more than 2 classes?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</a:pPr>
            <a:r>
              <a:rPr lang="en-US" dirty="0"/>
              <a:t>We group </a:t>
            </a:r>
            <a:r>
              <a:rPr lang="en-US" i="1" dirty="0"/>
              <a:t>n-1 classes </a:t>
            </a:r>
            <a:r>
              <a:rPr lang="en-US" dirty="0"/>
              <a:t>as a single class and the remaining class.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</a:pPr>
            <a:r>
              <a:rPr lang="en-US" dirty="0"/>
              <a:t>In this way, we again end up with two classes. </a:t>
            </a:r>
          </a:p>
        </p:txBody>
      </p:sp>
      <p:sp>
        <p:nvSpPr>
          <p:cNvPr id="18434" name="Slide Number Placeholder 5">
            <a:extLst>
              <a:ext uri="{FF2B5EF4-FFF2-40B4-BE49-F238E27FC236}">
                <a16:creationId xmlns:a16="http://schemas.microsoft.com/office/drawing/2014/main" id="{B6E3C400-3360-F200-331E-BBBF15A53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F308E8D8-5053-41E4-856F-F9959EFA6BCE}" type="slidenum">
              <a:rPr lang="en-US" altLang="en-US" sz="1200">
                <a:latin typeface="Times New Roman" panose="0202060305040502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52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050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B00A0D-6067-1570-1D57-0F4D3C2E5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53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F0861B-F49A-3216-8287-8730D6BAECBF}"/>
              </a:ext>
            </a:extLst>
          </p:cNvPr>
          <p:cNvSpPr txBox="1"/>
          <p:nvPr/>
        </p:nvSpPr>
        <p:spPr>
          <a:xfrm>
            <a:off x="492369" y="61721"/>
            <a:ext cx="11078307" cy="1120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Aft>
                <a:spcPts val="800"/>
              </a:spcAft>
            </a:pPr>
            <a:r>
              <a:rPr lang="en-US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Pearson Correlation Coefficient is a measure of how two variables are related to one another and is calculated using the formula: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BB9E37-DB44-2C28-BD06-4FC1546F7E21}"/>
                  </a:ext>
                </a:extLst>
              </p:cNvPr>
              <p:cNvSpPr txBox="1"/>
              <p:nvPr/>
            </p:nvSpPr>
            <p:spPr>
              <a:xfrm>
                <a:off x="2661138" y="1214413"/>
                <a:ext cx="6869723" cy="1449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200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sz="32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sz="32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32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sz="32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sz="32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32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sz="32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2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sz="32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3200" i="1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3200" i="1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32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3200" i="1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3200" i="1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en-US" sz="32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3200" i="1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3200" i="1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32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3200" i="1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3200" i="1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32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US" sz="32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32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32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32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3200" i="1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3200" i="1" kern="10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3200" i="1" kern="10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200" i="1" kern="10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 kern="10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3200" i="1" kern="10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sz="3200" i="1" kern="10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 kern="10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3200" i="1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US" sz="3200" i="1" kern="10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US" sz="32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32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sz="32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3200" i="1" kern="10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3200" i="1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3200" i="1" kern="10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3200" i="1" kern="10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200" i="1" kern="10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200" i="1" kern="10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3200" i="1" kern="100"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sz="3200" i="1" kern="10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Calibri" panose="020F0502020204030204" pitchFamily="34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200" i="1" kern="100"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3200" i="1" kern="100"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en-US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BB9E37-DB44-2C28-BD06-4FC1546F7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1138" y="1214413"/>
                <a:ext cx="6869723" cy="14496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4637232-EBBE-0F75-950C-A43360EC4F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062974"/>
              </p:ext>
            </p:extLst>
          </p:nvPr>
        </p:nvGraphicFramePr>
        <p:xfrm>
          <a:off x="2804746" y="2947328"/>
          <a:ext cx="6259878" cy="13713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43090">
                  <a:extLst>
                    <a:ext uri="{9D8B030D-6E8A-4147-A177-3AD203B41FA5}">
                      <a16:colId xmlns:a16="http://schemas.microsoft.com/office/drawing/2014/main" val="2172282663"/>
                    </a:ext>
                  </a:extLst>
                </a:gridCol>
                <a:gridCol w="1043090">
                  <a:extLst>
                    <a:ext uri="{9D8B030D-6E8A-4147-A177-3AD203B41FA5}">
                      <a16:colId xmlns:a16="http://schemas.microsoft.com/office/drawing/2014/main" val="3335903474"/>
                    </a:ext>
                  </a:extLst>
                </a:gridCol>
                <a:gridCol w="1043090">
                  <a:extLst>
                    <a:ext uri="{9D8B030D-6E8A-4147-A177-3AD203B41FA5}">
                      <a16:colId xmlns:a16="http://schemas.microsoft.com/office/drawing/2014/main" val="673092413"/>
                    </a:ext>
                  </a:extLst>
                </a:gridCol>
                <a:gridCol w="1043090">
                  <a:extLst>
                    <a:ext uri="{9D8B030D-6E8A-4147-A177-3AD203B41FA5}">
                      <a16:colId xmlns:a16="http://schemas.microsoft.com/office/drawing/2014/main" val="4225892256"/>
                    </a:ext>
                  </a:extLst>
                </a:gridCol>
                <a:gridCol w="1043759">
                  <a:extLst>
                    <a:ext uri="{9D8B030D-6E8A-4147-A177-3AD203B41FA5}">
                      <a16:colId xmlns:a16="http://schemas.microsoft.com/office/drawing/2014/main" val="3111907099"/>
                    </a:ext>
                  </a:extLst>
                </a:gridCol>
                <a:gridCol w="1043759">
                  <a:extLst>
                    <a:ext uri="{9D8B030D-6E8A-4147-A177-3AD203B41FA5}">
                      <a16:colId xmlns:a16="http://schemas.microsoft.com/office/drawing/2014/main" val="23289231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4400" kern="100" dirty="0">
                          <a:effectLst/>
                        </a:rPr>
                        <a:t>X_1</a:t>
                      </a:r>
                      <a:endParaRPr lang="en-US" sz="4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4400" kern="100" dirty="0">
                          <a:effectLst/>
                        </a:rPr>
                        <a:t>3</a:t>
                      </a:r>
                      <a:endParaRPr lang="en-US" sz="4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4400" kern="100">
                          <a:effectLst/>
                        </a:rPr>
                        <a:t>4</a:t>
                      </a:r>
                      <a:endParaRPr lang="en-US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4400" kern="100" dirty="0">
                          <a:effectLst/>
                        </a:rPr>
                        <a:t>5</a:t>
                      </a:r>
                      <a:endParaRPr lang="en-US" sz="4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4400" kern="100">
                          <a:effectLst/>
                        </a:rPr>
                        <a:t>6</a:t>
                      </a:r>
                      <a:endParaRPr lang="en-US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4400" kern="100">
                          <a:effectLst/>
                        </a:rPr>
                        <a:t>7</a:t>
                      </a:r>
                      <a:endParaRPr lang="en-US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45948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4400" kern="100" dirty="0">
                          <a:effectLst/>
                        </a:rPr>
                        <a:t>X_2</a:t>
                      </a:r>
                      <a:endParaRPr lang="en-US" sz="4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4400" kern="100" dirty="0">
                          <a:effectLst/>
                        </a:rPr>
                        <a:t>9</a:t>
                      </a:r>
                      <a:endParaRPr lang="en-US" sz="4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4400" kern="100" dirty="0">
                          <a:effectLst/>
                        </a:rPr>
                        <a:t>8</a:t>
                      </a:r>
                      <a:endParaRPr lang="en-US" sz="4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4400" kern="100" dirty="0">
                          <a:effectLst/>
                        </a:rPr>
                        <a:t>7</a:t>
                      </a:r>
                      <a:endParaRPr lang="en-US" sz="4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4400" kern="100" dirty="0">
                          <a:effectLst/>
                        </a:rPr>
                        <a:t>6</a:t>
                      </a:r>
                      <a:endParaRPr lang="en-US" sz="4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4400" kern="100" dirty="0">
                          <a:effectLst/>
                        </a:rPr>
                        <a:t>5</a:t>
                      </a:r>
                      <a:endParaRPr lang="en-US" sz="4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2653308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05F346C-514D-1716-D575-3EC394802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250909"/>
              </p:ext>
            </p:extLst>
          </p:nvPr>
        </p:nvGraphicFramePr>
        <p:xfrm>
          <a:off x="2804746" y="4985004"/>
          <a:ext cx="6259878" cy="13713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43090">
                  <a:extLst>
                    <a:ext uri="{9D8B030D-6E8A-4147-A177-3AD203B41FA5}">
                      <a16:colId xmlns:a16="http://schemas.microsoft.com/office/drawing/2014/main" val="4037872394"/>
                    </a:ext>
                  </a:extLst>
                </a:gridCol>
                <a:gridCol w="1043090">
                  <a:extLst>
                    <a:ext uri="{9D8B030D-6E8A-4147-A177-3AD203B41FA5}">
                      <a16:colId xmlns:a16="http://schemas.microsoft.com/office/drawing/2014/main" val="981928344"/>
                    </a:ext>
                  </a:extLst>
                </a:gridCol>
                <a:gridCol w="1043090">
                  <a:extLst>
                    <a:ext uri="{9D8B030D-6E8A-4147-A177-3AD203B41FA5}">
                      <a16:colId xmlns:a16="http://schemas.microsoft.com/office/drawing/2014/main" val="1218978179"/>
                    </a:ext>
                  </a:extLst>
                </a:gridCol>
                <a:gridCol w="1043090">
                  <a:extLst>
                    <a:ext uri="{9D8B030D-6E8A-4147-A177-3AD203B41FA5}">
                      <a16:colId xmlns:a16="http://schemas.microsoft.com/office/drawing/2014/main" val="1931518291"/>
                    </a:ext>
                  </a:extLst>
                </a:gridCol>
                <a:gridCol w="1043759">
                  <a:extLst>
                    <a:ext uri="{9D8B030D-6E8A-4147-A177-3AD203B41FA5}">
                      <a16:colId xmlns:a16="http://schemas.microsoft.com/office/drawing/2014/main" val="474371022"/>
                    </a:ext>
                  </a:extLst>
                </a:gridCol>
                <a:gridCol w="1043759">
                  <a:extLst>
                    <a:ext uri="{9D8B030D-6E8A-4147-A177-3AD203B41FA5}">
                      <a16:colId xmlns:a16="http://schemas.microsoft.com/office/drawing/2014/main" val="23086439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4400" kern="100" dirty="0">
                          <a:effectLst/>
                        </a:rPr>
                        <a:t>X_1</a:t>
                      </a:r>
                      <a:endParaRPr lang="en-US" sz="4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4400" kern="100" dirty="0">
                          <a:effectLst/>
                        </a:rPr>
                        <a:t>3</a:t>
                      </a:r>
                      <a:endParaRPr lang="en-US" sz="4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4400" kern="100">
                          <a:effectLst/>
                        </a:rPr>
                        <a:t>4</a:t>
                      </a:r>
                      <a:endParaRPr lang="en-US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4400" kern="100">
                          <a:effectLst/>
                        </a:rPr>
                        <a:t>5</a:t>
                      </a:r>
                      <a:endParaRPr lang="en-US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4400" kern="100">
                          <a:effectLst/>
                        </a:rPr>
                        <a:t>6</a:t>
                      </a:r>
                      <a:endParaRPr lang="en-US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4400" kern="100">
                          <a:effectLst/>
                        </a:rPr>
                        <a:t>7</a:t>
                      </a:r>
                      <a:endParaRPr lang="en-US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330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4400" kern="100">
                          <a:effectLst/>
                        </a:rPr>
                        <a:t>X_2</a:t>
                      </a:r>
                      <a:endParaRPr lang="en-US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4400" kern="100">
                          <a:effectLst/>
                        </a:rPr>
                        <a:t>5</a:t>
                      </a:r>
                      <a:endParaRPr lang="en-US" sz="4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4400" kern="100" dirty="0">
                          <a:effectLst/>
                        </a:rPr>
                        <a:t>6</a:t>
                      </a:r>
                      <a:endParaRPr lang="en-US" sz="4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4400" kern="100" dirty="0">
                          <a:effectLst/>
                        </a:rPr>
                        <a:t>7</a:t>
                      </a:r>
                      <a:endParaRPr lang="en-US" sz="4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4400" kern="100" dirty="0">
                          <a:effectLst/>
                        </a:rPr>
                        <a:t>8</a:t>
                      </a:r>
                      <a:endParaRPr lang="en-US" sz="4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4400" kern="100" dirty="0">
                          <a:effectLst/>
                        </a:rPr>
                        <a:t>9</a:t>
                      </a:r>
                      <a:endParaRPr lang="en-US" sz="4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94875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EA800B3-12AE-D021-81C4-4F6509440DB6}"/>
              </a:ext>
            </a:extLst>
          </p:cNvPr>
          <p:cNvSpPr txBox="1"/>
          <p:nvPr/>
        </p:nvSpPr>
        <p:spPr>
          <a:xfrm>
            <a:off x="9196753" y="3283978"/>
            <a:ext cx="2259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EVEN ROW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1618CF-3B25-669A-DE90-60DCA8CA5761}"/>
              </a:ext>
            </a:extLst>
          </p:cNvPr>
          <p:cNvSpPr txBox="1"/>
          <p:nvPr/>
        </p:nvSpPr>
        <p:spPr>
          <a:xfrm>
            <a:off x="9390185" y="5453298"/>
            <a:ext cx="2180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ODD ROW</a:t>
            </a:r>
          </a:p>
        </p:txBody>
      </p:sp>
    </p:spTree>
    <p:extLst>
      <p:ext uri="{BB962C8B-B14F-4D97-AF65-F5344CB8AC3E}">
        <p14:creationId xmlns:p14="http://schemas.microsoft.com/office/powerpoint/2010/main" val="2093369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8B322-D9A4-18A8-9AD2-580CC93B1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DB5CCA-CD13-94C6-7E63-7730DD143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B034E-4E10-4021-B996-06D2A0F54590}" type="slidenum">
              <a:rPr lang="en-US" smtClean="0"/>
              <a:t>54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AB1B6F-B33A-B289-0789-164FE4540DEE}"/>
              </a:ext>
            </a:extLst>
          </p:cNvPr>
          <p:cNvSpPr txBox="1"/>
          <p:nvPr/>
        </p:nvSpPr>
        <p:spPr>
          <a:xfrm>
            <a:off x="261258" y="182615"/>
            <a:ext cx="11460144" cy="2526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US" sz="4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point in 3D space is given as: [1, 2, 3]</a:t>
            </a:r>
          </a:p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US" sz="4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the following Eigen Vectors to transform it to 3 PCA dimensions.</a:t>
            </a:r>
            <a:endParaRPr lang="en-US" sz="4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06C8D7-A5B4-0C6D-1B8D-5366619C301F}"/>
              </a:ext>
            </a:extLst>
          </p:cNvPr>
          <p:cNvSpPr txBox="1"/>
          <p:nvPr/>
        </p:nvSpPr>
        <p:spPr>
          <a:xfrm>
            <a:off x="1137974" y="2922237"/>
            <a:ext cx="2259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EVEN ROW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6969E8-20EA-354A-ADBB-40701F060CFB}"/>
              </a:ext>
            </a:extLst>
          </p:cNvPr>
          <p:cNvSpPr txBox="1"/>
          <p:nvPr/>
        </p:nvSpPr>
        <p:spPr>
          <a:xfrm>
            <a:off x="8439778" y="2922237"/>
            <a:ext cx="2180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ODD ROW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D8AD9C-60C6-EF59-1808-02E9CD4C6075}"/>
              </a:ext>
            </a:extLst>
          </p:cNvPr>
          <p:cNvSpPr txBox="1"/>
          <p:nvPr/>
        </p:nvSpPr>
        <p:spPr>
          <a:xfrm>
            <a:off x="418888" y="3781216"/>
            <a:ext cx="3697793" cy="2504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US" sz="4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[-0.3, </a:t>
            </a:r>
            <a:r>
              <a:rPr lang="en-US" sz="4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0.3</a:t>
            </a:r>
            <a:r>
              <a:rPr lang="en-US" sz="4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4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2.3</a:t>
            </a:r>
            <a:r>
              <a:rPr lang="en-US" sz="4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</a:p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US" sz="4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[0.6, </a:t>
            </a:r>
            <a:r>
              <a:rPr lang="en-US" sz="4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0.3</a:t>
            </a:r>
            <a:r>
              <a:rPr lang="en-US" sz="4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0.4]</a:t>
            </a:r>
            <a:endParaRPr lang="en-US" sz="48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US" sz="4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[0.4, 0.7, 0.3]</a:t>
            </a:r>
            <a:endParaRPr lang="en-US" sz="4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6BB6B1-3622-EB39-A3E1-852419295BF4}"/>
              </a:ext>
            </a:extLst>
          </p:cNvPr>
          <p:cNvSpPr txBox="1"/>
          <p:nvPr/>
        </p:nvSpPr>
        <p:spPr>
          <a:xfrm>
            <a:off x="7656007" y="3710096"/>
            <a:ext cx="3697793" cy="2504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US" sz="4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[1.5, 2, </a:t>
            </a:r>
            <a:r>
              <a:rPr lang="en-US" sz="4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0.3</a:t>
            </a:r>
            <a:r>
              <a:rPr lang="en-US" sz="4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</a:p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US" sz="4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[0.7, </a:t>
            </a:r>
            <a:r>
              <a:rPr lang="en-US" sz="4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0.2</a:t>
            </a:r>
            <a:r>
              <a:rPr lang="en-US" sz="4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0.</a:t>
            </a:r>
            <a:r>
              <a:rPr lang="en-US" sz="4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n-US" sz="4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]</a:t>
            </a:r>
            <a:endParaRPr lang="en-US" sz="48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US" sz="4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[1, 0.5, 3.5]</a:t>
            </a:r>
            <a:endParaRPr lang="en-US" sz="4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380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8EF29-2496-B908-97C9-3688DB13E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/>
              <a:t>Best of Luck!!!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6A050-6218-1C76-89F2-630BF30C0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 algn="ctr">
              <a:buNone/>
            </a:pPr>
            <a:r>
              <a:rPr lang="en-US" sz="5400" i="1" dirty="0"/>
              <a:t>Take the risk of thinking for yourself, much more happiness, truth, beauty and wisdom will come to you that way.</a:t>
            </a:r>
            <a:endParaRPr lang="en-US" sz="4800" i="1" dirty="0"/>
          </a:p>
          <a:p>
            <a:pPr marL="45720" indent="0" algn="r">
              <a:buNone/>
            </a:pPr>
            <a:r>
              <a:rPr lang="en-US" sz="4800" i="1" dirty="0"/>
              <a:t>--Christopher Hitchens</a:t>
            </a:r>
          </a:p>
        </p:txBody>
      </p:sp>
    </p:spTree>
    <p:extLst>
      <p:ext uri="{BB962C8B-B14F-4D97-AF65-F5344CB8AC3E}">
        <p14:creationId xmlns:p14="http://schemas.microsoft.com/office/powerpoint/2010/main" val="1314907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16789</TotalTime>
  <Words>3090</Words>
  <Application>Microsoft Office PowerPoint</Application>
  <PresentationFormat>Widescreen</PresentationFormat>
  <Paragraphs>748</Paragraphs>
  <Slides>55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3" baseType="lpstr">
      <vt:lpstr>Arial</vt:lpstr>
      <vt:lpstr>Calibri</vt:lpstr>
      <vt:lpstr>Calibri Light</vt:lpstr>
      <vt:lpstr>Cambria Math</vt:lpstr>
      <vt:lpstr>NimbusSanL-Regu</vt:lpstr>
      <vt:lpstr>NimbusSanL-ReguItal</vt:lpstr>
      <vt:lpstr>Times New Roman</vt:lpstr>
      <vt:lpstr>Office Theme</vt:lpstr>
      <vt:lpstr>Mathematical Models for Artificial Intelligence</vt:lpstr>
      <vt:lpstr>A Typical AI System Pipeline</vt:lpstr>
      <vt:lpstr>Data: Many Shapes and Forms</vt:lpstr>
      <vt:lpstr>Data: Many Shapes and Forms</vt:lpstr>
      <vt:lpstr>Data: Many Shapes and Forms</vt:lpstr>
      <vt:lpstr>Dimensionality Reduction: The Need</vt:lpstr>
      <vt:lpstr>Dimensionality Reduction: The Need</vt:lpstr>
      <vt:lpstr>Dimensionality Reduction: The Need</vt:lpstr>
      <vt:lpstr>Dimensionality Reduction Techniques</vt:lpstr>
      <vt:lpstr>Principal Component Analysis (PCA)</vt:lpstr>
      <vt:lpstr>Dimensionality Reduction as Data Compression: An Example</vt:lpstr>
      <vt:lpstr>Dimensionality Reduction as Data Compression: An Example</vt:lpstr>
      <vt:lpstr>Geometrical Interpretation</vt:lpstr>
      <vt:lpstr>Geometrical Interpretation</vt:lpstr>
      <vt:lpstr>“Compression” Using PCA</vt:lpstr>
      <vt:lpstr>What exactly is PCA doing?</vt:lpstr>
      <vt:lpstr>Aside: Review – Variance</vt:lpstr>
      <vt:lpstr>Aside: Covariance</vt:lpstr>
      <vt:lpstr>Aside: Covariance</vt:lpstr>
      <vt:lpstr>Aside: Covariance vs Correlation</vt:lpstr>
      <vt:lpstr>What exactly is PCA doing?</vt:lpstr>
      <vt:lpstr>Steps for Applying PCA</vt:lpstr>
      <vt:lpstr>Step 1</vt:lpstr>
      <vt:lpstr>Step 1</vt:lpstr>
      <vt:lpstr>Step 2</vt:lpstr>
      <vt:lpstr>Step 3</vt:lpstr>
      <vt:lpstr>Step 3</vt:lpstr>
      <vt:lpstr>Step 3</vt:lpstr>
      <vt:lpstr>Step 4</vt:lpstr>
      <vt:lpstr>Step 5</vt:lpstr>
      <vt:lpstr>Step 5</vt:lpstr>
      <vt:lpstr>PCA – Another Solved Example</vt:lpstr>
      <vt:lpstr>Reconstruction of the Original Data</vt:lpstr>
      <vt:lpstr>Reconstruction of the Original Data</vt:lpstr>
      <vt:lpstr>Selecting K Principal Components</vt:lpstr>
      <vt:lpstr>Selecting K Principal Components</vt:lpstr>
      <vt:lpstr>PCA Shortcomings</vt:lpstr>
      <vt:lpstr>Linear Discriminant Analysis (LDA)</vt:lpstr>
      <vt:lpstr>Linear Discriminant Analysis (LDA)</vt:lpstr>
      <vt:lpstr>Fisher’s linear discriminant</vt:lpstr>
      <vt:lpstr>A picture showing the advantage of Fisher’s linear discriminant.</vt:lpstr>
      <vt:lpstr>PCA vs LDA</vt:lpstr>
      <vt:lpstr>Steps for Applying LFDA</vt:lpstr>
      <vt:lpstr>Step 1</vt:lpstr>
      <vt:lpstr>Step 2</vt:lpstr>
      <vt:lpstr>Step 3</vt:lpstr>
      <vt:lpstr>Step 4</vt:lpstr>
      <vt:lpstr>Step 4</vt:lpstr>
      <vt:lpstr>Step 4</vt:lpstr>
      <vt:lpstr>Step 5</vt:lpstr>
      <vt:lpstr>LFDA –Solved Example</vt:lpstr>
      <vt:lpstr>How Many Classes?</vt:lpstr>
      <vt:lpstr>PowerPoint Presentation</vt:lpstr>
      <vt:lpstr>PowerPoint Presentation</vt:lpstr>
      <vt:lpstr>Best of Luck!!!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dc:creator>Asad Mansoor Khan</dc:creator>
  <cp:lastModifiedBy>Dr Soyiba</cp:lastModifiedBy>
  <cp:revision>580</cp:revision>
  <dcterms:created xsi:type="dcterms:W3CDTF">2024-02-11T11:15:47Z</dcterms:created>
  <dcterms:modified xsi:type="dcterms:W3CDTF">2025-09-03T10:57:00Z</dcterms:modified>
</cp:coreProperties>
</file>